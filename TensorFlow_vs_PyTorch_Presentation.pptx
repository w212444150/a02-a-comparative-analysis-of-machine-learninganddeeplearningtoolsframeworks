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Today I am comparing TensorFlow and PyTorch, two of the most popular frameworks for deep learning. My goal is not to say one is always better, but to explain which one fits different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TensorFlow is broader as a platform. PyTorch is famous for flexibility and being Pythonic. Both can do deep learning, computer vision, NLP, and other AI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History: TensorFlow was released by Google in 2015. PyTorch came from Facebook AI Research around 2016. This history explains the difference: TensorFlow grew as a production platform, while PyTorch grew as a flexible research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practical difference. TensorFlow gives more ready tools for deployment. PyTorch feels easier when building and testing new ideas. Today both are powerful, but their personalities are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quick demonstration, I can show that TensorFlow with Keras is very compact. PyTorch gives more direct control, especially if we write the training loop ourselves.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real life, TensorFlow is often connected with deployment and Google products. PyTorch is strongly connected with research and model development. These are not strict rules, but they are common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comparison slide. I would explain each row quickly, then say: for a beginner or research project, PyTorch feels simpler. For a production app that must deploy everywhere, TensorFlow has a stronger all-in-one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personal conclusion is balanced. I would use PyTorch for a school demo because it is simpler to explain and debug. I would use TensorFlow if the project needed serious deployment, especially mobile or edge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I would end by saying that both frameworks are successful. The smart choice depends on what matters more: shipping a model into production, or developing and testing ideas quickly. Then I would ask the class the discussion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960120" y="2788920"/>
            <a:ext cx="3657600" cy="530352"/>
          </a:xfrm>
          <a:prstGeom prst="rect">
            <a:avLst/>
          </a:prstGeom>
          <a:noFill/>
          <a:ln/>
        </p:spPr>
        <p:txBody>
          <a:bodyPr wrap="square" lIns="0" tIns="0" rIns="0" bIns="0" rtlCol="0" anchor="ctr"/>
          <a:lstStyle/>
          <a:p>
            <a:pPr indent="0" marL="0">
              <a:buNone/>
            </a:pPr>
            <a:r>
              <a:rPr lang="en-US" sz="3600" b="1" dirty="0">
                <a:solidFill>
                  <a:srgbClr val="FF6F00"/>
                </a:solidFill>
              </a:rPr>
              <a:t>TensorFlow</a:t>
            </a:r>
            <a:endParaRPr lang="en-US" sz="3600" dirty="0"/>
          </a:p>
        </p:txBody>
      </p:sp>
      <p:sp>
        <p:nvSpPr>
          <p:cNvPr id="3" name="Text 1"/>
          <p:cNvSpPr/>
          <p:nvPr/>
        </p:nvSpPr>
        <p:spPr>
          <a:xfrm>
            <a:off x="7543800" y="2788920"/>
            <a:ext cx="3657600" cy="530352"/>
          </a:xfrm>
          <a:prstGeom prst="rect">
            <a:avLst/>
          </a:prstGeom>
          <a:noFill/>
          <a:ln/>
        </p:spPr>
        <p:txBody>
          <a:bodyPr wrap="square" lIns="0" tIns="0" rIns="0" bIns="0" rtlCol="0" anchor="ctr"/>
          <a:lstStyle/>
          <a:p>
            <a:pPr algn="r" indent="0" marL="0">
              <a:buNone/>
            </a:pPr>
            <a:r>
              <a:rPr lang="en-US" sz="3600" b="1" dirty="0">
                <a:solidFill>
                  <a:srgbClr val="EE4C2C"/>
                </a:solidFill>
              </a:rPr>
              <a:t>PyTorch</a:t>
            </a:r>
            <a:endParaRPr lang="en-US" sz="3600" dirty="0"/>
          </a:p>
        </p:txBody>
      </p:sp>
      <p:sp>
        <p:nvSpPr>
          <p:cNvPr id="4" name="Text 2"/>
          <p:cNvSpPr/>
          <p:nvPr/>
        </p:nvSpPr>
        <p:spPr>
          <a:xfrm>
            <a:off x="1874520" y="777240"/>
            <a:ext cx="8412480" cy="914400"/>
          </a:xfrm>
          <a:prstGeom prst="rect">
            <a:avLst/>
          </a:prstGeom>
          <a:noFill/>
          <a:ln/>
        </p:spPr>
        <p:txBody>
          <a:bodyPr wrap="square" lIns="0" tIns="0" rIns="0" bIns="0" rtlCol="0" anchor="ctr"/>
          <a:lstStyle/>
          <a:p>
            <a:pPr algn="ctr" indent="0" marL="0">
              <a:buNone/>
            </a:pPr>
            <a:r>
              <a:rPr lang="en-US" sz="3300" b="1" dirty="0">
                <a:solidFill>
                  <a:srgbClr val="F8FAFC"/>
                </a:solidFill>
                <a:latin typeface="Aptos Display" pitchFamily="34" charset="0"/>
                <a:ea typeface="Aptos Display" pitchFamily="34" charset="-122"/>
                <a:cs typeface="Aptos Display" pitchFamily="34" charset="-120"/>
              </a:rPr>
              <a:t>Which deep learning framework should we choose?</a:t>
            </a:r>
            <a:endParaRPr lang="en-US" sz="3300" dirty="0"/>
          </a:p>
        </p:txBody>
      </p:sp>
      <p:sp>
        <p:nvSpPr>
          <p:cNvPr id="5" name="Text 3"/>
          <p:cNvSpPr/>
          <p:nvPr/>
        </p:nvSpPr>
        <p:spPr>
          <a:xfrm>
            <a:off x="2240280" y="1783080"/>
            <a:ext cx="7680960" cy="301752"/>
          </a:xfrm>
          <a:prstGeom prst="rect">
            <a:avLst/>
          </a:prstGeom>
          <a:noFill/>
          <a:ln/>
        </p:spPr>
        <p:txBody>
          <a:bodyPr wrap="square" lIns="0" tIns="0" rIns="0" bIns="0" rtlCol="0" anchor="ctr"/>
          <a:lstStyle/>
          <a:p>
            <a:pPr algn="ctr" indent="0" marL="0">
              <a:buNone/>
            </a:pPr>
            <a:r>
              <a:rPr lang="en-US" sz="1400" dirty="0">
                <a:solidFill>
                  <a:srgbClr val="CBD5E1"/>
                </a:solidFill>
              </a:rPr>
              <a:t>A student-friendly comparison of background, features, real-world use, and practical tradeoffs</a:t>
            </a:r>
            <a:endParaRPr lang="en-US" sz="1400" dirty="0"/>
          </a:p>
        </p:txBody>
      </p:sp>
      <p:sp>
        <p:nvSpPr>
          <p:cNvPr id="6" name="Shape 4"/>
          <p:cNvSpPr/>
          <p:nvPr/>
        </p:nvSpPr>
        <p:spPr>
          <a:xfrm>
            <a:off x="5586984" y="3090672"/>
            <a:ext cx="1005840" cy="1005840"/>
          </a:xfrm>
          <a:prstGeom prst="ellipse">
            <a:avLst/>
          </a:prstGeom>
          <a:solidFill>
            <a:srgbClr val="FFFFFF">
              <a:alpha val="98000"/>
            </a:srgbClr>
          </a:solidFill>
          <a:ln w="12700">
            <a:solidFill>
              <a:srgbClr val="FFFFFF"/>
            </a:solidFill>
            <a:prstDash val="solid"/>
          </a:ln>
        </p:spPr>
      </p:sp>
      <p:sp>
        <p:nvSpPr>
          <p:cNvPr id="7" name="Text 5"/>
          <p:cNvSpPr/>
          <p:nvPr/>
        </p:nvSpPr>
        <p:spPr>
          <a:xfrm>
            <a:off x="5586984" y="3401568"/>
            <a:ext cx="1005840" cy="219456"/>
          </a:xfrm>
          <a:prstGeom prst="rect">
            <a:avLst/>
          </a:prstGeom>
          <a:noFill/>
          <a:ln/>
        </p:spPr>
        <p:txBody>
          <a:bodyPr wrap="square" lIns="0" tIns="0" rIns="0" bIns="0" rtlCol="0" anchor="ctr"/>
          <a:lstStyle/>
          <a:p>
            <a:pPr algn="ctr" indent="0" marL="0">
              <a:buNone/>
            </a:pPr>
            <a:r>
              <a:rPr lang="en-US" sz="1800" b="1" dirty="0">
                <a:solidFill>
                  <a:srgbClr val="111827"/>
                </a:solidFill>
              </a:rPr>
              <a:t>VS</a:t>
            </a:r>
            <a:endParaRPr lang="en-US" sz="1800" dirty="0"/>
          </a:p>
        </p:txBody>
      </p:sp>
      <p:sp>
        <p:nvSpPr>
          <p:cNvPr id="8" name="Shape 6"/>
          <p:cNvSpPr/>
          <p:nvPr/>
        </p:nvSpPr>
        <p:spPr>
          <a:xfrm>
            <a:off x="4709160" y="5120640"/>
            <a:ext cx="1234440" cy="320040"/>
          </a:xfrm>
          <a:prstGeom prst="roundRect">
            <a:avLst>
              <a:gd name="adj" fmla="val 22857"/>
            </a:avLst>
          </a:prstGeom>
          <a:solidFill>
            <a:srgbClr val="38BDF8"/>
          </a:solidFill>
          <a:ln w="12700">
            <a:solidFill>
              <a:srgbClr val="38BDF8"/>
            </a:solidFill>
            <a:prstDash val="solid"/>
          </a:ln>
        </p:spPr>
      </p:sp>
      <p:sp>
        <p:nvSpPr>
          <p:cNvPr id="9" name="Text 7"/>
          <p:cNvSpPr/>
          <p:nvPr/>
        </p:nvSpPr>
        <p:spPr>
          <a:xfrm>
            <a:off x="4782312" y="5202936"/>
            <a:ext cx="1088136" cy="146304"/>
          </a:xfrm>
          <a:prstGeom prst="rect">
            <a:avLst/>
          </a:prstGeom>
          <a:noFill/>
          <a:ln/>
        </p:spPr>
        <p:txBody>
          <a:bodyPr wrap="square" lIns="0" tIns="0" rIns="0" bIns="0" rtlCol="0" anchor="ctr"/>
          <a:lstStyle/>
          <a:p>
            <a:pPr algn="ctr" indent="0" marL="0">
              <a:buNone/>
            </a:pPr>
            <a:r>
              <a:rPr lang="en-US" sz="800" b="1" dirty="0">
                <a:solidFill>
                  <a:srgbClr val="0B1020"/>
                </a:solidFill>
              </a:rPr>
              <a:t>Presentation Draft</a:t>
            </a:r>
            <a:endParaRPr lang="en-US" sz="800" dirty="0"/>
          </a:p>
        </p:txBody>
      </p:sp>
      <p:sp>
        <p:nvSpPr>
          <p:cNvPr id="10" name="Shape 8"/>
          <p:cNvSpPr/>
          <p:nvPr/>
        </p:nvSpPr>
        <p:spPr>
          <a:xfrm>
            <a:off x="6144768" y="5120640"/>
            <a:ext cx="1508760" cy="320040"/>
          </a:xfrm>
          <a:prstGeom prst="roundRect">
            <a:avLst>
              <a:gd name="adj" fmla="val 22857"/>
            </a:avLst>
          </a:prstGeom>
          <a:solidFill>
            <a:srgbClr val="FBBF24"/>
          </a:solidFill>
          <a:ln w="12700">
            <a:solidFill>
              <a:srgbClr val="FBBF24"/>
            </a:solidFill>
            <a:prstDash val="solid"/>
          </a:ln>
        </p:spPr>
      </p:sp>
      <p:sp>
        <p:nvSpPr>
          <p:cNvPr id="11" name="Text 9"/>
          <p:cNvSpPr/>
          <p:nvPr/>
        </p:nvSpPr>
        <p:spPr>
          <a:xfrm>
            <a:off x="6217920" y="5202936"/>
            <a:ext cx="1362456" cy="146304"/>
          </a:xfrm>
          <a:prstGeom prst="rect">
            <a:avLst/>
          </a:prstGeom>
          <a:noFill/>
          <a:ln/>
        </p:spPr>
        <p:txBody>
          <a:bodyPr wrap="square" lIns="0" tIns="0" rIns="0" bIns="0" rtlCol="0" anchor="ctr"/>
          <a:lstStyle/>
          <a:p>
            <a:pPr algn="ctr" indent="0" marL="0">
              <a:buNone/>
            </a:pPr>
            <a:r>
              <a:rPr lang="en-US" sz="800" b="1" dirty="0">
                <a:solidFill>
                  <a:srgbClr val="0B1020"/>
                </a:solidFill>
              </a:rPr>
              <a:t>AI / ML Frameworks</a:t>
            </a:r>
            <a:endParaRPr lang="en-US" sz="800" dirty="0"/>
          </a:p>
        </p:txBody>
      </p:sp>
      <p:sp>
        <p:nvSpPr>
          <p:cNvPr id="12" name="Text 10"/>
          <p:cNvSpPr/>
          <p:nvPr/>
        </p:nvSpPr>
        <p:spPr>
          <a:xfrm>
            <a:off x="4297680" y="5888736"/>
            <a:ext cx="3657600" cy="237744"/>
          </a:xfrm>
          <a:prstGeom prst="rect">
            <a:avLst/>
          </a:prstGeom>
          <a:noFill/>
          <a:ln/>
        </p:spPr>
        <p:txBody>
          <a:bodyPr wrap="square" lIns="0" tIns="0" rIns="0" bIns="0" rtlCol="0" anchor="ctr"/>
          <a:lstStyle/>
          <a:p>
            <a:pPr algn="ctr" indent="0" marL="0">
              <a:buNone/>
            </a:pPr>
            <a:r>
              <a:rPr lang="en-US" sz="1100" dirty="0">
                <a:solidFill>
                  <a:srgbClr val="94A3B8"/>
                </a:solidFill>
              </a:rPr>
              <a:t>Your Name • Course • Date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1. What are TensorFlow and PyTorch?</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Both help developers build, train, and deploy machine learning models.</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685800" y="1417320"/>
            <a:ext cx="4937760" cy="3886200"/>
          </a:xfrm>
          <a:prstGeom prst="roundRect">
            <a:avLst>
              <a:gd name="adj" fmla="val 2824"/>
            </a:avLst>
          </a:prstGeom>
          <a:solidFill>
            <a:srgbClr val="FFFFFF">
              <a:alpha val="94000"/>
            </a:srgbClr>
          </a:solidFill>
          <a:ln w="12700">
            <a:solidFill>
              <a:srgbClr val="FF6F00">
                <a:alpha val="95000"/>
              </a:srgbClr>
            </a:solidFill>
            <a:prstDash val="solid"/>
          </a:ln>
        </p:spPr>
      </p:sp>
      <p:sp>
        <p:nvSpPr>
          <p:cNvPr id="6" name="Shape 4"/>
          <p:cNvSpPr/>
          <p:nvPr/>
        </p:nvSpPr>
        <p:spPr>
          <a:xfrm rot="-720000">
            <a:off x="1005840" y="1828800"/>
            <a:ext cx="1325880" cy="1325880"/>
          </a:xfrm>
          <a:prstGeom prst="arc">
            <a:avLst/>
          </a:prstGeom>
          <a:noFill/>
          <a:ln w="12700">
            <a:solidFill>
              <a:srgbClr val="FF6F00">
                <a:alpha val="88000"/>
              </a:srgbClr>
            </a:solidFill>
            <a:prstDash val="solid"/>
          </a:ln>
        </p:spPr>
      </p:sp>
      <p:sp>
        <p:nvSpPr>
          <p:cNvPr id="7" name="Text 5"/>
          <p:cNvSpPr/>
          <p:nvPr/>
        </p:nvSpPr>
        <p:spPr>
          <a:xfrm>
            <a:off x="1188720" y="2057400"/>
            <a:ext cx="960120" cy="530352"/>
          </a:xfrm>
          <a:prstGeom prst="rect">
            <a:avLst/>
          </a:prstGeom>
          <a:noFill/>
          <a:ln/>
        </p:spPr>
        <p:txBody>
          <a:bodyPr wrap="square" lIns="0" tIns="0" rIns="0" bIns="0" rtlCol="0" anchor="ctr"/>
          <a:lstStyle/>
          <a:p>
            <a:pPr algn="ctr" indent="0" marL="0">
              <a:buNone/>
            </a:pPr>
            <a:r>
              <a:rPr lang="en-US" sz="2500" b="1" dirty="0">
                <a:solidFill>
                  <a:srgbClr val="FF6F00"/>
                </a:solidFill>
                <a:latin typeface="Aptos Display" pitchFamily="34" charset="0"/>
                <a:ea typeface="Aptos Display" pitchFamily="34" charset="-122"/>
                <a:cs typeface="Aptos Display" pitchFamily="34" charset="-120"/>
              </a:rPr>
              <a:t>TF</a:t>
            </a:r>
            <a:endParaRPr lang="en-US" sz="2500" dirty="0"/>
          </a:p>
        </p:txBody>
      </p:sp>
      <p:sp>
        <p:nvSpPr>
          <p:cNvPr id="8" name="Text 6"/>
          <p:cNvSpPr/>
          <p:nvPr/>
        </p:nvSpPr>
        <p:spPr>
          <a:xfrm>
            <a:off x="2606040" y="1783080"/>
            <a:ext cx="2651760" cy="38404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TensorFlow</a:t>
            </a:r>
            <a:endParaRPr lang="en-US" sz="2800" dirty="0"/>
          </a:p>
        </p:txBody>
      </p:sp>
      <p:sp>
        <p:nvSpPr>
          <p:cNvPr id="9" name="Text 7"/>
          <p:cNvSpPr/>
          <p:nvPr/>
        </p:nvSpPr>
        <p:spPr>
          <a:xfrm>
            <a:off x="2606040" y="2258568"/>
            <a:ext cx="2651760" cy="256032"/>
          </a:xfrm>
          <a:prstGeom prst="rect">
            <a:avLst/>
          </a:prstGeom>
          <a:noFill/>
          <a:ln/>
        </p:spPr>
        <p:txBody>
          <a:bodyPr wrap="square" lIns="0" tIns="0" rIns="0" bIns="0" rtlCol="0" anchor="ctr"/>
          <a:lstStyle/>
          <a:p>
            <a:pPr indent="0" marL="0">
              <a:buNone/>
            </a:pPr>
            <a:r>
              <a:rPr lang="en-US" sz="1100" dirty="0">
                <a:solidFill>
                  <a:srgbClr val="64748B"/>
                </a:solidFill>
              </a:rPr>
              <a:t>End-to-end ML platform from Google</a:t>
            </a:r>
            <a:endParaRPr lang="en-US" sz="1100" dirty="0"/>
          </a:p>
        </p:txBody>
      </p:sp>
      <p:sp>
        <p:nvSpPr>
          <p:cNvPr id="10" name="Shape 8"/>
          <p:cNvSpPr/>
          <p:nvPr/>
        </p:nvSpPr>
        <p:spPr>
          <a:xfrm>
            <a:off x="6583680" y="1417320"/>
            <a:ext cx="4937760" cy="3886200"/>
          </a:xfrm>
          <a:prstGeom prst="roundRect">
            <a:avLst>
              <a:gd name="adj" fmla="val 2824"/>
            </a:avLst>
          </a:prstGeom>
          <a:solidFill>
            <a:srgbClr val="FFFFFF">
              <a:alpha val="94000"/>
            </a:srgbClr>
          </a:solidFill>
          <a:ln w="12700">
            <a:solidFill>
              <a:srgbClr val="EE4C2C">
                <a:alpha val="95000"/>
              </a:srgbClr>
            </a:solidFill>
            <a:prstDash val="solid"/>
          </a:ln>
        </p:spPr>
      </p:sp>
      <p:sp>
        <p:nvSpPr>
          <p:cNvPr id="11" name="Shape 9"/>
          <p:cNvSpPr/>
          <p:nvPr/>
        </p:nvSpPr>
        <p:spPr>
          <a:xfrm rot="1500000">
            <a:off x="6903720" y="1828800"/>
            <a:ext cx="1325880" cy="1325880"/>
          </a:xfrm>
          <a:prstGeom prst="arc">
            <a:avLst/>
          </a:prstGeom>
          <a:noFill/>
          <a:ln w="12700">
            <a:solidFill>
              <a:srgbClr val="EE4C2C">
                <a:alpha val="88000"/>
              </a:srgbClr>
            </a:solidFill>
            <a:prstDash val="solid"/>
          </a:ln>
        </p:spPr>
      </p:sp>
      <p:sp>
        <p:nvSpPr>
          <p:cNvPr id="12" name="Text 10"/>
          <p:cNvSpPr/>
          <p:nvPr/>
        </p:nvSpPr>
        <p:spPr>
          <a:xfrm>
            <a:off x="7086600" y="2057400"/>
            <a:ext cx="960120" cy="530352"/>
          </a:xfrm>
          <a:prstGeom prst="rect">
            <a:avLst/>
          </a:prstGeom>
          <a:noFill/>
          <a:ln/>
        </p:spPr>
        <p:txBody>
          <a:bodyPr wrap="square" lIns="0" tIns="0" rIns="0" bIns="0" rtlCol="0" anchor="ctr"/>
          <a:lstStyle/>
          <a:p>
            <a:pPr algn="ctr" indent="0" marL="0">
              <a:buNone/>
            </a:pPr>
            <a:r>
              <a:rPr lang="en-US" sz="2500" b="1" dirty="0">
                <a:solidFill>
                  <a:srgbClr val="EE4C2C"/>
                </a:solidFill>
                <a:latin typeface="Aptos Display" pitchFamily="34" charset="0"/>
                <a:ea typeface="Aptos Display" pitchFamily="34" charset="-122"/>
                <a:cs typeface="Aptos Display" pitchFamily="34" charset="-120"/>
              </a:rPr>
              <a:t>P</a:t>
            </a:r>
            <a:endParaRPr lang="en-US" sz="2500" dirty="0"/>
          </a:p>
        </p:txBody>
      </p:sp>
      <p:sp>
        <p:nvSpPr>
          <p:cNvPr id="13" name="Text 11"/>
          <p:cNvSpPr/>
          <p:nvPr/>
        </p:nvSpPr>
        <p:spPr>
          <a:xfrm>
            <a:off x="8503920" y="1783080"/>
            <a:ext cx="2651760" cy="384048"/>
          </a:xfrm>
          <a:prstGeom prst="rect">
            <a:avLst/>
          </a:prstGeom>
          <a:noFill/>
          <a:ln/>
        </p:spPr>
        <p:txBody>
          <a:bodyPr wrap="square" lIns="0" tIns="0" rIns="0" bIns="0" rtlCol="0" anchor="ctr"/>
          <a:lstStyle/>
          <a:p>
            <a:pPr indent="0" marL="0">
              <a:buNone/>
            </a:pPr>
            <a:r>
              <a:rPr lang="en-US" sz="2800" b="1" dirty="0">
                <a:solidFill>
                  <a:srgbClr val="111827"/>
                </a:solidFill>
                <a:latin typeface="Aptos Display" pitchFamily="34" charset="0"/>
                <a:ea typeface="Aptos Display" pitchFamily="34" charset="-122"/>
                <a:cs typeface="Aptos Display" pitchFamily="34" charset="-120"/>
              </a:rPr>
              <a:t>PyTorch</a:t>
            </a:r>
            <a:endParaRPr lang="en-US" sz="2800" dirty="0"/>
          </a:p>
        </p:txBody>
      </p:sp>
      <p:sp>
        <p:nvSpPr>
          <p:cNvPr id="14" name="Text 12"/>
          <p:cNvSpPr/>
          <p:nvPr/>
        </p:nvSpPr>
        <p:spPr>
          <a:xfrm>
            <a:off x="8503920" y="2258568"/>
            <a:ext cx="2651760" cy="256032"/>
          </a:xfrm>
          <a:prstGeom prst="rect">
            <a:avLst/>
          </a:prstGeom>
          <a:noFill/>
          <a:ln/>
        </p:spPr>
        <p:txBody>
          <a:bodyPr wrap="square" lIns="0" tIns="0" rIns="0" bIns="0" rtlCol="0" anchor="ctr"/>
          <a:lstStyle/>
          <a:p>
            <a:pPr indent="0" marL="0">
              <a:buNone/>
            </a:pPr>
            <a:r>
              <a:rPr lang="en-US" sz="1100" dirty="0">
                <a:solidFill>
                  <a:srgbClr val="64748B"/>
                </a:solidFill>
              </a:rPr>
              <a:t>Python-first deep learning library from Meta/FAIR</a:t>
            </a:r>
            <a:endParaRPr lang="en-US" sz="1100" dirty="0"/>
          </a:p>
        </p:txBody>
      </p:sp>
      <p:sp>
        <p:nvSpPr>
          <p:cNvPr id="15" name="Text 13"/>
          <p:cNvSpPr/>
          <p:nvPr/>
        </p:nvSpPr>
        <p:spPr>
          <a:xfrm>
            <a:off x="5715000" y="1737360"/>
            <a:ext cx="777240" cy="292608"/>
          </a:xfrm>
          <a:prstGeom prst="rect">
            <a:avLst/>
          </a:prstGeom>
          <a:noFill/>
          <a:ln/>
        </p:spPr>
        <p:txBody>
          <a:bodyPr wrap="square" lIns="0" tIns="0" rIns="0" bIns="0" rtlCol="0" anchor="ctr"/>
          <a:lstStyle/>
          <a:p>
            <a:pPr algn="ctr" indent="0" marL="0">
              <a:buNone/>
            </a:pPr>
            <a:r>
              <a:rPr lang="en-US" sz="1800" b="1" dirty="0">
                <a:solidFill>
                  <a:srgbClr val="CBD5E1"/>
                </a:solidFill>
              </a:rPr>
              <a:t>VS</a:t>
            </a:r>
            <a:endParaRPr lang="en-US" sz="1800" dirty="0"/>
          </a:p>
        </p:txBody>
      </p:sp>
      <p:sp>
        <p:nvSpPr>
          <p:cNvPr id="16" name="Shape 14"/>
          <p:cNvSpPr/>
          <p:nvPr/>
        </p:nvSpPr>
        <p:spPr>
          <a:xfrm>
            <a:off x="1051560" y="3758184"/>
            <a:ext cx="73152" cy="73152"/>
          </a:xfrm>
          <a:prstGeom prst="ellipse">
            <a:avLst/>
          </a:prstGeom>
          <a:solidFill>
            <a:srgbClr val="38BDF8"/>
          </a:solidFill>
          <a:ln w="12700">
            <a:solidFill>
              <a:srgbClr val="38BDF8"/>
            </a:solidFill>
            <a:prstDash val="solid"/>
          </a:ln>
        </p:spPr>
      </p:sp>
      <p:sp>
        <p:nvSpPr>
          <p:cNvPr id="17" name="Text 15"/>
          <p:cNvSpPr/>
          <p:nvPr/>
        </p:nvSpPr>
        <p:spPr>
          <a:xfrm>
            <a:off x="1216152" y="3703320"/>
            <a:ext cx="393192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Strong ecosystem for production: Serving, Lite, TFX, Keras, TensorBoard.</a:t>
            </a:r>
            <a:endParaRPr lang="en-US" sz="1450" dirty="0"/>
          </a:p>
        </p:txBody>
      </p:sp>
      <p:sp>
        <p:nvSpPr>
          <p:cNvPr id="18" name="Shape 16"/>
          <p:cNvSpPr/>
          <p:nvPr/>
        </p:nvSpPr>
        <p:spPr>
          <a:xfrm>
            <a:off x="1051560" y="4215384"/>
            <a:ext cx="73152" cy="73152"/>
          </a:xfrm>
          <a:prstGeom prst="ellipse">
            <a:avLst/>
          </a:prstGeom>
          <a:solidFill>
            <a:srgbClr val="38BDF8"/>
          </a:solidFill>
          <a:ln w="12700">
            <a:solidFill>
              <a:srgbClr val="38BDF8"/>
            </a:solidFill>
            <a:prstDash val="solid"/>
          </a:ln>
        </p:spPr>
      </p:sp>
      <p:sp>
        <p:nvSpPr>
          <p:cNvPr id="19" name="Text 17"/>
          <p:cNvSpPr/>
          <p:nvPr/>
        </p:nvSpPr>
        <p:spPr>
          <a:xfrm>
            <a:off x="1216152" y="4160520"/>
            <a:ext cx="393192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Common choice when deployment across cloud, mobile, web, and edge matters.</a:t>
            </a:r>
            <a:endParaRPr lang="en-US" sz="1450" dirty="0"/>
          </a:p>
        </p:txBody>
      </p:sp>
      <p:sp>
        <p:nvSpPr>
          <p:cNvPr id="20" name="Shape 18"/>
          <p:cNvSpPr/>
          <p:nvPr/>
        </p:nvSpPr>
        <p:spPr>
          <a:xfrm>
            <a:off x="6949440" y="3758184"/>
            <a:ext cx="73152" cy="73152"/>
          </a:xfrm>
          <a:prstGeom prst="ellipse">
            <a:avLst/>
          </a:prstGeom>
          <a:solidFill>
            <a:srgbClr val="38BDF8"/>
          </a:solidFill>
          <a:ln w="12700">
            <a:solidFill>
              <a:srgbClr val="38BDF8"/>
            </a:solidFill>
            <a:prstDash val="solid"/>
          </a:ln>
        </p:spPr>
      </p:sp>
      <p:sp>
        <p:nvSpPr>
          <p:cNvPr id="21" name="Text 19"/>
          <p:cNvSpPr/>
          <p:nvPr/>
        </p:nvSpPr>
        <p:spPr>
          <a:xfrm>
            <a:off x="7114032" y="3703320"/>
            <a:ext cx="388620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Eager, flexible, easy to debug, and very popular in research.</a:t>
            </a:r>
            <a:endParaRPr lang="en-US" sz="1450" dirty="0"/>
          </a:p>
        </p:txBody>
      </p:sp>
      <p:sp>
        <p:nvSpPr>
          <p:cNvPr id="22" name="Shape 20"/>
          <p:cNvSpPr/>
          <p:nvPr/>
        </p:nvSpPr>
        <p:spPr>
          <a:xfrm>
            <a:off x="6949440" y="4215384"/>
            <a:ext cx="73152" cy="73152"/>
          </a:xfrm>
          <a:prstGeom prst="ellipse">
            <a:avLst/>
          </a:prstGeom>
          <a:solidFill>
            <a:srgbClr val="38BDF8"/>
          </a:solidFill>
          <a:ln w="12700">
            <a:solidFill>
              <a:srgbClr val="38BDF8"/>
            </a:solidFill>
            <a:prstDash val="solid"/>
          </a:ln>
        </p:spPr>
      </p:sp>
      <p:sp>
        <p:nvSpPr>
          <p:cNvPr id="23" name="Text 21"/>
          <p:cNvSpPr/>
          <p:nvPr/>
        </p:nvSpPr>
        <p:spPr>
          <a:xfrm>
            <a:off x="7114032" y="4160520"/>
            <a:ext cx="388620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Feels close to normal Python, so experimenting with models is smoother.</a:t>
            </a:r>
            <a:endParaRPr lang="en-US" sz="1450" dirty="0"/>
          </a:p>
        </p:txBody>
      </p:sp>
      <p:sp>
        <p:nvSpPr>
          <p:cNvPr id="24" name="Text 22"/>
          <p:cNvSpPr/>
          <p:nvPr/>
        </p:nvSpPr>
        <p:spPr>
          <a:xfrm>
            <a:off x="502920" y="6565392"/>
            <a:ext cx="10789920" cy="182880"/>
          </a:xfrm>
          <a:prstGeom prst="rect">
            <a:avLst/>
          </a:prstGeom>
          <a:noFill/>
          <a:ln/>
        </p:spPr>
        <p:txBody>
          <a:bodyPr wrap="square" lIns="0" tIns="0" rIns="0" bIns="0" rtlCol="0" anchor="ctr"/>
          <a:lstStyle/>
          <a:p>
            <a:pPr indent="0" marL="0">
              <a:buNone/>
            </a:pPr>
            <a:r>
              <a:rPr lang="en-US" sz="720" dirty="0">
                <a:solidFill>
                  <a:srgbClr val="94A3B8"/>
                </a:solidFill>
              </a:rPr>
              <a:t>Sources: TensorFlow official docs; PyTorch official docs and NeurIPS 2019 PyTorch paper.</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2. Background and Purpose</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Origin, development, and why each framework became important.</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1051560" y="3200400"/>
            <a:ext cx="9966960" cy="0"/>
          </a:xfrm>
          <a:prstGeom prst="line">
            <a:avLst/>
          </a:prstGeom>
          <a:noFill/>
          <a:ln w="12700">
            <a:solidFill>
              <a:srgbClr val="64748B"/>
            </a:solidFill>
            <a:prstDash val="solid"/>
          </a:ln>
        </p:spPr>
      </p:sp>
      <p:sp>
        <p:nvSpPr>
          <p:cNvPr id="6" name="Shape 4"/>
          <p:cNvSpPr/>
          <p:nvPr/>
        </p:nvSpPr>
        <p:spPr>
          <a:xfrm>
            <a:off x="1097280" y="2999232"/>
            <a:ext cx="384048" cy="384048"/>
          </a:xfrm>
          <a:prstGeom prst="ellipse">
            <a:avLst/>
          </a:prstGeom>
          <a:solidFill>
            <a:srgbClr val="FF6F00"/>
          </a:solidFill>
          <a:ln w="12700">
            <a:solidFill>
              <a:srgbClr val="FF6F00"/>
            </a:solidFill>
            <a:prstDash val="solid"/>
          </a:ln>
        </p:spPr>
      </p:sp>
      <p:sp>
        <p:nvSpPr>
          <p:cNvPr id="7" name="Text 5"/>
          <p:cNvSpPr/>
          <p:nvPr/>
        </p:nvSpPr>
        <p:spPr>
          <a:xfrm>
            <a:off x="932688" y="2331720"/>
            <a:ext cx="731520" cy="237744"/>
          </a:xfrm>
          <a:prstGeom prst="rect">
            <a:avLst/>
          </a:prstGeom>
          <a:noFill/>
          <a:ln/>
        </p:spPr>
        <p:txBody>
          <a:bodyPr wrap="square" lIns="0" tIns="0" rIns="0" bIns="0" rtlCol="0" anchor="ctr"/>
          <a:lstStyle/>
          <a:p>
            <a:pPr algn="ctr" indent="0" marL="0">
              <a:buNone/>
            </a:pPr>
            <a:r>
              <a:rPr lang="en-US" sz="1600" b="1" dirty="0">
                <a:solidFill>
                  <a:srgbClr val="FF6F00"/>
                </a:solidFill>
              </a:rPr>
              <a:t>2015</a:t>
            </a:r>
            <a:endParaRPr lang="en-US" sz="1600" dirty="0"/>
          </a:p>
        </p:txBody>
      </p:sp>
      <p:sp>
        <p:nvSpPr>
          <p:cNvPr id="8" name="Text 6"/>
          <p:cNvSpPr/>
          <p:nvPr/>
        </p:nvSpPr>
        <p:spPr>
          <a:xfrm>
            <a:off x="365760" y="3703320"/>
            <a:ext cx="1874520" cy="237744"/>
          </a:xfrm>
          <a:prstGeom prst="rect">
            <a:avLst/>
          </a:prstGeom>
          <a:noFill/>
          <a:ln/>
        </p:spPr>
        <p:txBody>
          <a:bodyPr wrap="square" lIns="0" tIns="0" rIns="0" bIns="0" rtlCol="0" anchor="ctr"/>
          <a:lstStyle/>
          <a:p>
            <a:pPr algn="ctr" indent="0" marL="0">
              <a:buNone/>
            </a:pPr>
            <a:r>
              <a:rPr lang="en-US" sz="1300" b="1" dirty="0">
                <a:solidFill>
                  <a:srgbClr val="F8FAFC"/>
                </a:solidFill>
              </a:rPr>
              <a:t>TensorFlow open-sourced</a:t>
            </a:r>
            <a:endParaRPr lang="en-US" sz="1300" dirty="0"/>
          </a:p>
        </p:txBody>
      </p:sp>
      <p:sp>
        <p:nvSpPr>
          <p:cNvPr id="9" name="Text 7"/>
          <p:cNvSpPr/>
          <p:nvPr/>
        </p:nvSpPr>
        <p:spPr>
          <a:xfrm>
            <a:off x="182880" y="4041648"/>
            <a:ext cx="2240280" cy="676656"/>
          </a:xfrm>
          <a:prstGeom prst="rect">
            <a:avLst/>
          </a:prstGeom>
          <a:noFill/>
          <a:ln/>
        </p:spPr>
        <p:txBody>
          <a:bodyPr wrap="square" lIns="254" tIns="254" rIns="254" bIns="254" rtlCol="0" anchor="ctr">
            <a:normAutofit/>
          </a:bodyPr>
          <a:lstStyle/>
          <a:p>
            <a:pPr algn="ctr" indent="0" marL="0">
              <a:buNone/>
            </a:pPr>
            <a:r>
              <a:rPr lang="en-US" sz="1080" dirty="0">
                <a:solidFill>
                  <a:srgbClr val="CBD5E1"/>
                </a:solidFill>
              </a:rPr>
              <a:t>Google Brain released TensorFlow to share a large-scale ML system with the wider community.</a:t>
            </a:r>
            <a:endParaRPr lang="en-US" sz="1080" dirty="0"/>
          </a:p>
        </p:txBody>
      </p:sp>
      <p:sp>
        <p:nvSpPr>
          <p:cNvPr id="10" name="Shape 8"/>
          <p:cNvSpPr/>
          <p:nvPr/>
        </p:nvSpPr>
        <p:spPr>
          <a:xfrm>
            <a:off x="4069080" y="2999232"/>
            <a:ext cx="384048" cy="384048"/>
          </a:xfrm>
          <a:prstGeom prst="ellipse">
            <a:avLst/>
          </a:prstGeom>
          <a:solidFill>
            <a:srgbClr val="EE4C2C"/>
          </a:solidFill>
          <a:ln w="12700">
            <a:solidFill>
              <a:srgbClr val="EE4C2C"/>
            </a:solidFill>
            <a:prstDash val="solid"/>
          </a:ln>
        </p:spPr>
      </p:sp>
      <p:sp>
        <p:nvSpPr>
          <p:cNvPr id="11" name="Text 9"/>
          <p:cNvSpPr/>
          <p:nvPr/>
        </p:nvSpPr>
        <p:spPr>
          <a:xfrm>
            <a:off x="3904488" y="2331720"/>
            <a:ext cx="731520" cy="237744"/>
          </a:xfrm>
          <a:prstGeom prst="rect">
            <a:avLst/>
          </a:prstGeom>
          <a:noFill/>
          <a:ln/>
        </p:spPr>
        <p:txBody>
          <a:bodyPr wrap="square" lIns="0" tIns="0" rIns="0" bIns="0" rtlCol="0" anchor="ctr"/>
          <a:lstStyle/>
          <a:p>
            <a:pPr algn="ctr" indent="0" marL="0">
              <a:buNone/>
            </a:pPr>
            <a:r>
              <a:rPr lang="en-US" sz="1600" b="1" dirty="0">
                <a:solidFill>
                  <a:srgbClr val="EE4C2C"/>
                </a:solidFill>
              </a:rPr>
              <a:t>2016</a:t>
            </a:r>
            <a:endParaRPr lang="en-US" sz="1600" dirty="0"/>
          </a:p>
        </p:txBody>
      </p:sp>
      <p:sp>
        <p:nvSpPr>
          <p:cNvPr id="12" name="Text 10"/>
          <p:cNvSpPr/>
          <p:nvPr/>
        </p:nvSpPr>
        <p:spPr>
          <a:xfrm>
            <a:off x="3337560" y="3703320"/>
            <a:ext cx="1874520" cy="237744"/>
          </a:xfrm>
          <a:prstGeom prst="rect">
            <a:avLst/>
          </a:prstGeom>
          <a:noFill/>
          <a:ln/>
        </p:spPr>
        <p:txBody>
          <a:bodyPr wrap="square" lIns="0" tIns="0" rIns="0" bIns="0" rtlCol="0" anchor="ctr"/>
          <a:lstStyle/>
          <a:p>
            <a:pPr algn="ctr" indent="0" marL="0">
              <a:buNone/>
            </a:pPr>
            <a:r>
              <a:rPr lang="en-US" sz="1300" b="1" dirty="0">
                <a:solidFill>
                  <a:srgbClr val="F8FAFC"/>
                </a:solidFill>
              </a:rPr>
              <a:t>PyTorch begins</a:t>
            </a:r>
            <a:endParaRPr lang="en-US" sz="1300" dirty="0"/>
          </a:p>
        </p:txBody>
      </p:sp>
      <p:sp>
        <p:nvSpPr>
          <p:cNvPr id="13" name="Text 11"/>
          <p:cNvSpPr/>
          <p:nvPr/>
        </p:nvSpPr>
        <p:spPr>
          <a:xfrm>
            <a:off x="3154680" y="4041648"/>
            <a:ext cx="2240280" cy="676656"/>
          </a:xfrm>
          <a:prstGeom prst="rect">
            <a:avLst/>
          </a:prstGeom>
          <a:noFill/>
          <a:ln/>
        </p:spPr>
        <p:txBody>
          <a:bodyPr wrap="square" lIns="254" tIns="254" rIns="254" bIns="254" rtlCol="0" anchor="ctr">
            <a:normAutofit/>
          </a:bodyPr>
          <a:lstStyle/>
          <a:p>
            <a:pPr algn="ctr" indent="0" marL="0">
              <a:buNone/>
            </a:pPr>
            <a:r>
              <a:rPr lang="en-US" sz="1080" dirty="0">
                <a:solidFill>
                  <a:srgbClr val="CBD5E1"/>
                </a:solidFill>
              </a:rPr>
              <a:t>FAIR built PyTorch as a flexible, Python-based framework with dynamic computation.</a:t>
            </a:r>
            <a:endParaRPr lang="en-US" sz="1080" dirty="0"/>
          </a:p>
        </p:txBody>
      </p:sp>
      <p:sp>
        <p:nvSpPr>
          <p:cNvPr id="14" name="Shape 12"/>
          <p:cNvSpPr/>
          <p:nvPr/>
        </p:nvSpPr>
        <p:spPr>
          <a:xfrm>
            <a:off x="7040880" y="2999232"/>
            <a:ext cx="384048" cy="384048"/>
          </a:xfrm>
          <a:prstGeom prst="ellipse">
            <a:avLst/>
          </a:prstGeom>
          <a:solidFill>
            <a:srgbClr val="38BDF8"/>
          </a:solidFill>
          <a:ln w="12700">
            <a:solidFill>
              <a:srgbClr val="38BDF8"/>
            </a:solidFill>
            <a:prstDash val="solid"/>
          </a:ln>
        </p:spPr>
      </p:sp>
      <p:sp>
        <p:nvSpPr>
          <p:cNvPr id="15" name="Text 13"/>
          <p:cNvSpPr/>
          <p:nvPr/>
        </p:nvSpPr>
        <p:spPr>
          <a:xfrm>
            <a:off x="6876288" y="2331720"/>
            <a:ext cx="731520" cy="237744"/>
          </a:xfrm>
          <a:prstGeom prst="rect">
            <a:avLst/>
          </a:prstGeom>
          <a:noFill/>
          <a:ln/>
        </p:spPr>
        <p:txBody>
          <a:bodyPr wrap="square" lIns="0" tIns="0" rIns="0" bIns="0" rtlCol="0" anchor="ctr"/>
          <a:lstStyle/>
          <a:p>
            <a:pPr algn="ctr" indent="0" marL="0">
              <a:buNone/>
            </a:pPr>
            <a:r>
              <a:rPr lang="en-US" sz="1600" b="1" dirty="0">
                <a:solidFill>
                  <a:srgbClr val="38BDF8"/>
                </a:solidFill>
              </a:rPr>
              <a:t>2019</a:t>
            </a:r>
            <a:endParaRPr lang="en-US" sz="1600" dirty="0"/>
          </a:p>
        </p:txBody>
      </p:sp>
      <p:sp>
        <p:nvSpPr>
          <p:cNvPr id="16" name="Text 14"/>
          <p:cNvSpPr/>
          <p:nvPr/>
        </p:nvSpPr>
        <p:spPr>
          <a:xfrm>
            <a:off x="6309360" y="3703320"/>
            <a:ext cx="1874520" cy="237744"/>
          </a:xfrm>
          <a:prstGeom prst="rect">
            <a:avLst/>
          </a:prstGeom>
          <a:noFill/>
          <a:ln/>
        </p:spPr>
        <p:txBody>
          <a:bodyPr wrap="square" lIns="0" tIns="0" rIns="0" bIns="0" rtlCol="0" anchor="ctr"/>
          <a:lstStyle/>
          <a:p>
            <a:pPr algn="ctr" indent="0" marL="0">
              <a:buNone/>
            </a:pPr>
            <a:r>
              <a:rPr lang="en-US" sz="1300" b="1" dirty="0">
                <a:solidFill>
                  <a:srgbClr val="F8FAFC"/>
                </a:solidFill>
              </a:rPr>
              <a:t>PyTorch paper</a:t>
            </a:r>
            <a:endParaRPr lang="en-US" sz="1300" dirty="0"/>
          </a:p>
        </p:txBody>
      </p:sp>
      <p:sp>
        <p:nvSpPr>
          <p:cNvPr id="17" name="Text 15"/>
          <p:cNvSpPr/>
          <p:nvPr/>
        </p:nvSpPr>
        <p:spPr>
          <a:xfrm>
            <a:off x="6126480" y="4041648"/>
            <a:ext cx="2240280" cy="676656"/>
          </a:xfrm>
          <a:prstGeom prst="rect">
            <a:avLst/>
          </a:prstGeom>
          <a:noFill/>
          <a:ln/>
        </p:spPr>
        <p:txBody>
          <a:bodyPr wrap="square" lIns="254" tIns="254" rIns="254" bIns="254" rtlCol="0" anchor="ctr">
            <a:normAutofit/>
          </a:bodyPr>
          <a:lstStyle/>
          <a:p>
            <a:pPr algn="ctr" indent="0" marL="0">
              <a:buNone/>
            </a:pPr>
            <a:r>
              <a:rPr lang="en-US" sz="1080" dirty="0">
                <a:solidFill>
                  <a:srgbClr val="CBD5E1"/>
                </a:solidFill>
              </a:rPr>
              <a:t>NeurIPS paper described PyTorch as Pythonic, imperative, and high performance.</a:t>
            </a:r>
            <a:endParaRPr lang="en-US" sz="1080" dirty="0"/>
          </a:p>
        </p:txBody>
      </p:sp>
      <p:sp>
        <p:nvSpPr>
          <p:cNvPr id="18" name="Shape 16"/>
          <p:cNvSpPr/>
          <p:nvPr/>
        </p:nvSpPr>
        <p:spPr>
          <a:xfrm>
            <a:off x="10012680" y="2999232"/>
            <a:ext cx="384048" cy="384048"/>
          </a:xfrm>
          <a:prstGeom prst="ellipse">
            <a:avLst/>
          </a:prstGeom>
          <a:solidFill>
            <a:srgbClr val="22C55E"/>
          </a:solidFill>
          <a:ln w="12700">
            <a:solidFill>
              <a:srgbClr val="22C55E"/>
            </a:solidFill>
            <a:prstDash val="solid"/>
          </a:ln>
        </p:spPr>
      </p:sp>
      <p:sp>
        <p:nvSpPr>
          <p:cNvPr id="19" name="Text 17"/>
          <p:cNvSpPr/>
          <p:nvPr/>
        </p:nvSpPr>
        <p:spPr>
          <a:xfrm>
            <a:off x="9848088" y="2331720"/>
            <a:ext cx="731520" cy="237744"/>
          </a:xfrm>
          <a:prstGeom prst="rect">
            <a:avLst/>
          </a:prstGeom>
          <a:noFill/>
          <a:ln/>
        </p:spPr>
        <p:txBody>
          <a:bodyPr wrap="square" lIns="0" tIns="0" rIns="0" bIns="0" rtlCol="0" anchor="ctr"/>
          <a:lstStyle/>
          <a:p>
            <a:pPr algn="ctr" indent="0" marL="0">
              <a:buNone/>
            </a:pPr>
            <a:r>
              <a:rPr lang="en-US" sz="1600" b="1" dirty="0">
                <a:solidFill>
                  <a:srgbClr val="22C55E"/>
                </a:solidFill>
              </a:rPr>
              <a:t>Now</a:t>
            </a:r>
            <a:endParaRPr lang="en-US" sz="1600" dirty="0"/>
          </a:p>
        </p:txBody>
      </p:sp>
      <p:sp>
        <p:nvSpPr>
          <p:cNvPr id="20" name="Text 18"/>
          <p:cNvSpPr/>
          <p:nvPr/>
        </p:nvSpPr>
        <p:spPr>
          <a:xfrm>
            <a:off x="9281160" y="3703320"/>
            <a:ext cx="1874520" cy="237744"/>
          </a:xfrm>
          <a:prstGeom prst="rect">
            <a:avLst/>
          </a:prstGeom>
          <a:noFill/>
          <a:ln/>
        </p:spPr>
        <p:txBody>
          <a:bodyPr wrap="square" lIns="0" tIns="0" rIns="0" bIns="0" rtlCol="0" anchor="ctr"/>
          <a:lstStyle/>
          <a:p>
            <a:pPr algn="ctr" indent="0" marL="0">
              <a:buNone/>
            </a:pPr>
            <a:r>
              <a:rPr lang="en-US" sz="1300" b="1" dirty="0">
                <a:solidFill>
                  <a:srgbClr val="F8FAFC"/>
                </a:solidFill>
              </a:rPr>
              <a:t>Two major choices</a:t>
            </a:r>
            <a:endParaRPr lang="en-US" sz="1300" dirty="0"/>
          </a:p>
        </p:txBody>
      </p:sp>
      <p:sp>
        <p:nvSpPr>
          <p:cNvPr id="21" name="Text 19"/>
          <p:cNvSpPr/>
          <p:nvPr/>
        </p:nvSpPr>
        <p:spPr>
          <a:xfrm>
            <a:off x="9098280" y="4041648"/>
            <a:ext cx="2240280" cy="676656"/>
          </a:xfrm>
          <a:prstGeom prst="rect">
            <a:avLst/>
          </a:prstGeom>
          <a:noFill/>
          <a:ln/>
        </p:spPr>
        <p:txBody>
          <a:bodyPr wrap="square" lIns="254" tIns="254" rIns="254" bIns="254" rtlCol="0" anchor="ctr">
            <a:normAutofit/>
          </a:bodyPr>
          <a:lstStyle/>
          <a:p>
            <a:pPr algn="ctr" indent="0" marL="0">
              <a:buNone/>
            </a:pPr>
            <a:r>
              <a:rPr lang="en-US" sz="1080" dirty="0">
                <a:solidFill>
                  <a:srgbClr val="CBD5E1"/>
                </a:solidFill>
              </a:rPr>
              <a:t>TensorFlow is strong in deployment; PyTorch is strong in research and fast experimentation.</a:t>
            </a:r>
            <a:endParaRPr lang="en-US" sz="1080" dirty="0"/>
          </a:p>
        </p:txBody>
      </p:sp>
      <p:sp>
        <p:nvSpPr>
          <p:cNvPr id="22" name="Text 20"/>
          <p:cNvSpPr/>
          <p:nvPr/>
        </p:nvSpPr>
        <p:spPr>
          <a:xfrm>
            <a:off x="502920" y="6565392"/>
            <a:ext cx="10789920" cy="182880"/>
          </a:xfrm>
          <a:prstGeom prst="rect">
            <a:avLst/>
          </a:prstGeom>
          <a:noFill/>
          <a:ln/>
        </p:spPr>
        <p:txBody>
          <a:bodyPr wrap="square" lIns="0" tIns="0" rIns="0" bIns="0" rtlCol="0" anchor="ctr"/>
          <a:lstStyle/>
          <a:p>
            <a:pPr indent="0" marL="0">
              <a:buNone/>
            </a:pPr>
            <a:r>
              <a:rPr lang="en-US" sz="720" dirty="0">
                <a:solidFill>
                  <a:srgbClr val="94A3B8"/>
                </a:solidFill>
              </a:rPr>
              <a:t>Sources: Google Open Source Blog; TensorFlow white paper; Meta AI blog; PyTorch NeurIPS 2019 paper.</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3. Key Features: What makes each different?</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The main technical differences are workflow, debugging, deployment, and ecosystem.</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685800" y="1325880"/>
            <a:ext cx="5257800" cy="4754880"/>
          </a:xfrm>
          <a:prstGeom prst="roundRect">
            <a:avLst>
              <a:gd name="adj" fmla="val 2308"/>
            </a:avLst>
          </a:prstGeom>
          <a:solidFill>
            <a:srgbClr val="FFFFFF">
              <a:alpha val="95000"/>
            </a:srgbClr>
          </a:solidFill>
          <a:ln w="12700">
            <a:solidFill>
              <a:srgbClr val="FF6F00"/>
            </a:solidFill>
            <a:prstDash val="solid"/>
          </a:ln>
        </p:spPr>
      </p:sp>
      <p:sp>
        <p:nvSpPr>
          <p:cNvPr id="6" name="Shape 4"/>
          <p:cNvSpPr/>
          <p:nvPr/>
        </p:nvSpPr>
        <p:spPr>
          <a:xfrm>
            <a:off x="6263640" y="1325880"/>
            <a:ext cx="5257800" cy="4754880"/>
          </a:xfrm>
          <a:prstGeom prst="roundRect">
            <a:avLst>
              <a:gd name="adj" fmla="val 2308"/>
            </a:avLst>
          </a:prstGeom>
          <a:solidFill>
            <a:srgbClr val="FFFFFF">
              <a:alpha val="95000"/>
            </a:srgbClr>
          </a:solidFill>
          <a:ln w="12700">
            <a:solidFill>
              <a:srgbClr val="EE4C2C"/>
            </a:solidFill>
            <a:prstDash val="solid"/>
          </a:ln>
        </p:spPr>
      </p:sp>
      <p:sp>
        <p:nvSpPr>
          <p:cNvPr id="7" name="Text 5"/>
          <p:cNvSpPr/>
          <p:nvPr/>
        </p:nvSpPr>
        <p:spPr>
          <a:xfrm>
            <a:off x="960120" y="1600200"/>
            <a:ext cx="4663440" cy="292608"/>
          </a:xfrm>
          <a:prstGeom prst="rect">
            <a:avLst/>
          </a:prstGeom>
          <a:noFill/>
          <a:ln/>
        </p:spPr>
        <p:txBody>
          <a:bodyPr wrap="square" lIns="0" tIns="0" rIns="0" bIns="0" rtlCol="0" anchor="ctr"/>
          <a:lstStyle/>
          <a:p>
            <a:pPr indent="0" marL="0">
              <a:buNone/>
            </a:pPr>
            <a:r>
              <a:rPr lang="en-US" sz="2000" b="1" dirty="0">
                <a:solidFill>
                  <a:srgbClr val="FF6F00"/>
                </a:solidFill>
              </a:rPr>
              <a:t>TensorFlow strengths</a:t>
            </a:r>
            <a:endParaRPr lang="en-US" sz="2000" dirty="0"/>
          </a:p>
        </p:txBody>
      </p:sp>
      <p:sp>
        <p:nvSpPr>
          <p:cNvPr id="8" name="Text 6"/>
          <p:cNvSpPr/>
          <p:nvPr/>
        </p:nvSpPr>
        <p:spPr>
          <a:xfrm>
            <a:off x="6537960" y="1600200"/>
            <a:ext cx="4663440" cy="292608"/>
          </a:xfrm>
          <a:prstGeom prst="rect">
            <a:avLst/>
          </a:prstGeom>
          <a:noFill/>
          <a:ln/>
        </p:spPr>
        <p:txBody>
          <a:bodyPr wrap="square" lIns="0" tIns="0" rIns="0" bIns="0" rtlCol="0" anchor="ctr"/>
          <a:lstStyle/>
          <a:p>
            <a:pPr indent="0" marL="0">
              <a:buNone/>
            </a:pPr>
            <a:r>
              <a:rPr lang="en-US" sz="2000" b="1" dirty="0">
                <a:solidFill>
                  <a:srgbClr val="EE4C2C"/>
                </a:solidFill>
              </a:rPr>
              <a:t>PyTorch strengths</a:t>
            </a:r>
            <a:endParaRPr lang="en-US" sz="2000" dirty="0"/>
          </a:p>
        </p:txBody>
      </p:sp>
      <p:sp>
        <p:nvSpPr>
          <p:cNvPr id="9" name="Shape 7"/>
          <p:cNvSpPr/>
          <p:nvPr/>
        </p:nvSpPr>
        <p:spPr>
          <a:xfrm>
            <a:off x="1097280" y="2340864"/>
            <a:ext cx="73152" cy="73152"/>
          </a:xfrm>
          <a:prstGeom prst="ellipse">
            <a:avLst/>
          </a:prstGeom>
          <a:solidFill>
            <a:srgbClr val="38BDF8"/>
          </a:solidFill>
          <a:ln w="12700">
            <a:solidFill>
              <a:srgbClr val="38BDF8"/>
            </a:solidFill>
            <a:prstDash val="solid"/>
          </a:ln>
        </p:spPr>
      </p:sp>
      <p:sp>
        <p:nvSpPr>
          <p:cNvPr id="10" name="Text 8"/>
          <p:cNvSpPr/>
          <p:nvPr/>
        </p:nvSpPr>
        <p:spPr>
          <a:xfrm>
            <a:off x="1261872" y="22860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Production deployment stack: Serving, TFX, TensorFlow Lite</a:t>
            </a:r>
            <a:endParaRPr lang="en-US" sz="1450" dirty="0"/>
          </a:p>
        </p:txBody>
      </p:sp>
      <p:sp>
        <p:nvSpPr>
          <p:cNvPr id="11" name="Shape 9"/>
          <p:cNvSpPr/>
          <p:nvPr/>
        </p:nvSpPr>
        <p:spPr>
          <a:xfrm>
            <a:off x="1097280" y="3026664"/>
            <a:ext cx="73152" cy="73152"/>
          </a:xfrm>
          <a:prstGeom prst="ellipse">
            <a:avLst/>
          </a:prstGeom>
          <a:solidFill>
            <a:srgbClr val="38BDF8"/>
          </a:solidFill>
          <a:ln w="12700">
            <a:solidFill>
              <a:srgbClr val="38BDF8"/>
            </a:solidFill>
            <a:prstDash val="solid"/>
          </a:ln>
        </p:spPr>
      </p:sp>
      <p:sp>
        <p:nvSpPr>
          <p:cNvPr id="12" name="Text 10"/>
          <p:cNvSpPr/>
          <p:nvPr/>
        </p:nvSpPr>
        <p:spPr>
          <a:xfrm>
            <a:off x="1261872" y="29718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Keras makes model building beginner-friendly</a:t>
            </a:r>
            <a:endParaRPr lang="en-US" sz="1450" dirty="0"/>
          </a:p>
        </p:txBody>
      </p:sp>
      <p:sp>
        <p:nvSpPr>
          <p:cNvPr id="13" name="Shape 11"/>
          <p:cNvSpPr/>
          <p:nvPr/>
        </p:nvSpPr>
        <p:spPr>
          <a:xfrm>
            <a:off x="1097280" y="3712464"/>
            <a:ext cx="73152" cy="73152"/>
          </a:xfrm>
          <a:prstGeom prst="ellipse">
            <a:avLst/>
          </a:prstGeom>
          <a:solidFill>
            <a:srgbClr val="38BDF8"/>
          </a:solidFill>
          <a:ln w="12700">
            <a:solidFill>
              <a:srgbClr val="38BDF8"/>
            </a:solidFill>
            <a:prstDash val="solid"/>
          </a:ln>
        </p:spPr>
      </p:sp>
      <p:sp>
        <p:nvSpPr>
          <p:cNvPr id="14" name="Text 12"/>
          <p:cNvSpPr/>
          <p:nvPr/>
        </p:nvSpPr>
        <p:spPr>
          <a:xfrm>
            <a:off x="1261872" y="36576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TensorBoard visualization and strong Google Cloud/TPU support</a:t>
            </a:r>
            <a:endParaRPr lang="en-US" sz="1450" dirty="0"/>
          </a:p>
        </p:txBody>
      </p:sp>
      <p:sp>
        <p:nvSpPr>
          <p:cNvPr id="15" name="Shape 13"/>
          <p:cNvSpPr/>
          <p:nvPr/>
        </p:nvSpPr>
        <p:spPr>
          <a:xfrm>
            <a:off x="1097280" y="4398264"/>
            <a:ext cx="73152" cy="73152"/>
          </a:xfrm>
          <a:prstGeom prst="ellipse">
            <a:avLst/>
          </a:prstGeom>
          <a:solidFill>
            <a:srgbClr val="38BDF8"/>
          </a:solidFill>
          <a:ln w="12700">
            <a:solidFill>
              <a:srgbClr val="38BDF8"/>
            </a:solidFill>
            <a:prstDash val="solid"/>
          </a:ln>
        </p:spPr>
      </p:sp>
      <p:sp>
        <p:nvSpPr>
          <p:cNvPr id="16" name="Text 14"/>
          <p:cNvSpPr/>
          <p:nvPr/>
        </p:nvSpPr>
        <p:spPr>
          <a:xfrm>
            <a:off x="1261872" y="43434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Good choice for mobile, web, embedded, and server deployment</a:t>
            </a:r>
            <a:endParaRPr lang="en-US" sz="1450" dirty="0"/>
          </a:p>
        </p:txBody>
      </p:sp>
      <p:sp>
        <p:nvSpPr>
          <p:cNvPr id="17" name="Shape 15"/>
          <p:cNvSpPr/>
          <p:nvPr/>
        </p:nvSpPr>
        <p:spPr>
          <a:xfrm>
            <a:off x="6675120" y="2340864"/>
            <a:ext cx="73152" cy="73152"/>
          </a:xfrm>
          <a:prstGeom prst="ellipse">
            <a:avLst/>
          </a:prstGeom>
          <a:solidFill>
            <a:srgbClr val="38BDF8"/>
          </a:solidFill>
          <a:ln w="12700">
            <a:solidFill>
              <a:srgbClr val="38BDF8"/>
            </a:solidFill>
            <a:prstDash val="solid"/>
          </a:ln>
        </p:spPr>
      </p:sp>
      <p:sp>
        <p:nvSpPr>
          <p:cNvPr id="18" name="Text 16"/>
          <p:cNvSpPr/>
          <p:nvPr/>
        </p:nvSpPr>
        <p:spPr>
          <a:xfrm>
            <a:off x="6839712" y="22860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Dynamic computation graph makes debugging natural</a:t>
            </a:r>
            <a:endParaRPr lang="en-US" sz="1450" dirty="0"/>
          </a:p>
        </p:txBody>
      </p:sp>
      <p:sp>
        <p:nvSpPr>
          <p:cNvPr id="19" name="Shape 17"/>
          <p:cNvSpPr/>
          <p:nvPr/>
        </p:nvSpPr>
        <p:spPr>
          <a:xfrm>
            <a:off x="6675120" y="3026664"/>
            <a:ext cx="73152" cy="73152"/>
          </a:xfrm>
          <a:prstGeom prst="ellipse">
            <a:avLst/>
          </a:prstGeom>
          <a:solidFill>
            <a:srgbClr val="38BDF8"/>
          </a:solidFill>
          <a:ln w="12700">
            <a:solidFill>
              <a:srgbClr val="38BDF8"/>
            </a:solidFill>
            <a:prstDash val="solid"/>
          </a:ln>
        </p:spPr>
      </p:sp>
      <p:sp>
        <p:nvSpPr>
          <p:cNvPr id="20" name="Text 18"/>
          <p:cNvSpPr/>
          <p:nvPr/>
        </p:nvSpPr>
        <p:spPr>
          <a:xfrm>
            <a:off x="6839712" y="29718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Feels like regular Python; fast for experimenting</a:t>
            </a:r>
            <a:endParaRPr lang="en-US" sz="1450" dirty="0"/>
          </a:p>
        </p:txBody>
      </p:sp>
      <p:sp>
        <p:nvSpPr>
          <p:cNvPr id="21" name="Shape 19"/>
          <p:cNvSpPr/>
          <p:nvPr/>
        </p:nvSpPr>
        <p:spPr>
          <a:xfrm>
            <a:off x="6675120" y="3712464"/>
            <a:ext cx="73152" cy="73152"/>
          </a:xfrm>
          <a:prstGeom prst="ellipse">
            <a:avLst/>
          </a:prstGeom>
          <a:solidFill>
            <a:srgbClr val="38BDF8"/>
          </a:solidFill>
          <a:ln w="12700">
            <a:solidFill>
              <a:srgbClr val="38BDF8"/>
            </a:solidFill>
            <a:prstDash val="solid"/>
          </a:ln>
        </p:spPr>
      </p:sp>
      <p:sp>
        <p:nvSpPr>
          <p:cNvPr id="22" name="Text 20"/>
          <p:cNvSpPr/>
          <p:nvPr/>
        </p:nvSpPr>
        <p:spPr>
          <a:xfrm>
            <a:off x="6839712" y="36576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Strong research community and rich ecosystem</a:t>
            </a:r>
            <a:endParaRPr lang="en-US" sz="1450" dirty="0"/>
          </a:p>
        </p:txBody>
      </p:sp>
      <p:sp>
        <p:nvSpPr>
          <p:cNvPr id="23" name="Shape 21"/>
          <p:cNvSpPr/>
          <p:nvPr/>
        </p:nvSpPr>
        <p:spPr>
          <a:xfrm>
            <a:off x="6675120" y="4398264"/>
            <a:ext cx="73152" cy="73152"/>
          </a:xfrm>
          <a:prstGeom prst="ellipse">
            <a:avLst/>
          </a:prstGeom>
          <a:solidFill>
            <a:srgbClr val="38BDF8"/>
          </a:solidFill>
          <a:ln w="12700">
            <a:solidFill>
              <a:srgbClr val="38BDF8"/>
            </a:solidFill>
            <a:prstDash val="solid"/>
          </a:ln>
        </p:spPr>
      </p:sp>
      <p:sp>
        <p:nvSpPr>
          <p:cNvPr id="24" name="Text 22"/>
          <p:cNvSpPr/>
          <p:nvPr/>
        </p:nvSpPr>
        <p:spPr>
          <a:xfrm>
            <a:off x="6839712" y="4343400"/>
            <a:ext cx="44348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torch.compile can speed up code with minimal changes</a:t>
            </a:r>
            <a:endParaRPr lang="en-US" sz="1450" dirty="0"/>
          </a:p>
        </p:txBody>
      </p:sp>
      <p:sp>
        <p:nvSpPr>
          <p:cNvPr id="25" name="Text 23"/>
          <p:cNvSpPr/>
          <p:nvPr/>
        </p:nvSpPr>
        <p:spPr>
          <a:xfrm>
            <a:off x="502920" y="6565392"/>
            <a:ext cx="10789920" cy="182880"/>
          </a:xfrm>
          <a:prstGeom prst="rect">
            <a:avLst/>
          </a:prstGeom>
          <a:noFill/>
          <a:ln/>
        </p:spPr>
        <p:txBody>
          <a:bodyPr wrap="square" lIns="0" tIns="0" rIns="0" bIns="0" rtlCol="0" anchor="ctr"/>
          <a:lstStyle/>
          <a:p>
            <a:pPr indent="0" marL="0">
              <a:buNone/>
            </a:pPr>
            <a:r>
              <a:rPr lang="en-US" sz="720" dirty="0">
                <a:solidFill>
                  <a:srgbClr val="94A3B8"/>
                </a:solidFill>
              </a:rPr>
              <a:t>Sources: TensorFlow Learn / TFX Serving; PyTorch 2.x docs; PyTorch NeurIPS 2019 paper.</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4. Optional Demo: Same idea, different style</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Both can define and train neural networks; PyTorch tends to look more like plain Python.</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731520" y="1325880"/>
            <a:ext cx="5257800" cy="4297680"/>
          </a:xfrm>
          <a:prstGeom prst="roundRect">
            <a:avLst>
              <a:gd name="adj" fmla="val 2553"/>
            </a:avLst>
          </a:prstGeom>
          <a:solidFill>
            <a:srgbClr val="0F172A"/>
          </a:solidFill>
          <a:ln w="12700">
            <a:solidFill>
              <a:srgbClr val="FF6F00"/>
            </a:solidFill>
            <a:prstDash val="solid"/>
          </a:ln>
        </p:spPr>
      </p:sp>
      <p:sp>
        <p:nvSpPr>
          <p:cNvPr id="6" name="Shape 4"/>
          <p:cNvSpPr/>
          <p:nvPr/>
        </p:nvSpPr>
        <p:spPr>
          <a:xfrm>
            <a:off x="6217920" y="1325880"/>
            <a:ext cx="5257800" cy="4297680"/>
          </a:xfrm>
          <a:prstGeom prst="roundRect">
            <a:avLst>
              <a:gd name="adj" fmla="val 2553"/>
            </a:avLst>
          </a:prstGeom>
          <a:solidFill>
            <a:srgbClr val="0F172A"/>
          </a:solidFill>
          <a:ln w="12700">
            <a:solidFill>
              <a:srgbClr val="EE4C2C"/>
            </a:solidFill>
            <a:prstDash val="solid"/>
          </a:ln>
        </p:spPr>
      </p:sp>
      <p:sp>
        <p:nvSpPr>
          <p:cNvPr id="7" name="Text 5"/>
          <p:cNvSpPr/>
          <p:nvPr/>
        </p:nvSpPr>
        <p:spPr>
          <a:xfrm>
            <a:off x="1005840" y="1600200"/>
            <a:ext cx="4480560" cy="274320"/>
          </a:xfrm>
          <a:prstGeom prst="rect">
            <a:avLst/>
          </a:prstGeom>
          <a:noFill/>
          <a:ln/>
        </p:spPr>
        <p:txBody>
          <a:bodyPr wrap="square" lIns="0" tIns="0" rIns="0" bIns="0" rtlCol="0" anchor="ctr"/>
          <a:lstStyle/>
          <a:p>
            <a:pPr indent="0" marL="0">
              <a:buNone/>
            </a:pPr>
            <a:r>
              <a:rPr lang="en-US" sz="1600" b="1" dirty="0">
                <a:solidFill>
                  <a:srgbClr val="FF6F00"/>
                </a:solidFill>
              </a:rPr>
              <a:t>TensorFlow / Keras</a:t>
            </a:r>
            <a:endParaRPr lang="en-US" sz="1600" dirty="0"/>
          </a:p>
        </p:txBody>
      </p:sp>
      <p:sp>
        <p:nvSpPr>
          <p:cNvPr id="8" name="Text 6"/>
          <p:cNvSpPr/>
          <p:nvPr/>
        </p:nvSpPr>
        <p:spPr>
          <a:xfrm>
            <a:off x="6492240" y="1600200"/>
            <a:ext cx="4480560" cy="274320"/>
          </a:xfrm>
          <a:prstGeom prst="rect">
            <a:avLst/>
          </a:prstGeom>
          <a:noFill/>
          <a:ln/>
        </p:spPr>
        <p:txBody>
          <a:bodyPr wrap="square" lIns="0" tIns="0" rIns="0" bIns="0" rtlCol="0" anchor="ctr"/>
          <a:lstStyle/>
          <a:p>
            <a:pPr indent="0" marL="0">
              <a:buNone/>
            </a:pPr>
            <a:r>
              <a:rPr lang="en-US" sz="1600" b="1" dirty="0">
                <a:solidFill>
                  <a:srgbClr val="EE4C2C"/>
                </a:solidFill>
              </a:rPr>
              <a:t>PyTorch</a:t>
            </a:r>
            <a:endParaRPr lang="en-US" sz="1600" dirty="0"/>
          </a:p>
        </p:txBody>
      </p:sp>
      <p:sp>
        <p:nvSpPr>
          <p:cNvPr id="9" name="Text 7"/>
          <p:cNvSpPr/>
          <p:nvPr/>
        </p:nvSpPr>
        <p:spPr>
          <a:xfrm>
            <a:off x="1005840" y="2057400"/>
            <a:ext cx="4663440" cy="2880360"/>
          </a:xfrm>
          <a:prstGeom prst="rect">
            <a:avLst/>
          </a:prstGeom>
          <a:noFill/>
          <a:ln/>
        </p:spPr>
        <p:txBody>
          <a:bodyPr wrap="square" lIns="762" tIns="762" rIns="762" bIns="762" rtlCol="0" anchor="ctr">
            <a:normAutofit/>
          </a:bodyPr>
          <a:lstStyle/>
          <a:p>
            <a:pPr indent="0" marL="0">
              <a:buNone/>
            </a:pPr>
            <a:r>
              <a:rPr lang="en-US" sz="1150" dirty="0">
                <a:solidFill>
                  <a:srgbClr val="F8FAFC"/>
                </a:solidFill>
                <a:latin typeface="Aptos Mono" pitchFamily="34" charset="0"/>
                <a:ea typeface="Aptos Mono" pitchFamily="34" charset="-122"/>
                <a:cs typeface="Aptos Mono" pitchFamily="34" charset="-120"/>
              </a:rPr>
              <a:t>import tensorflow as tf</a:t>
            </a:r>
            <a:endParaRPr lang="en-US" sz="1150" dirty="0"/>
          </a:p>
          <a:p>
            <a:pPr indent="0" marL="0">
              <a:buNone/>
            </a:pP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model = tf.keras.Sequential([</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tf.keras.layers.Dense(16, activation='relu'),</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tf.keras.layers.Dense(1)</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model.compile(optimizer='adam', loss='mse')</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model.fit(X_train, y_train, epochs=5)</a:t>
            </a:r>
            <a:endParaRPr lang="en-US" sz="1150" dirty="0"/>
          </a:p>
        </p:txBody>
      </p:sp>
      <p:sp>
        <p:nvSpPr>
          <p:cNvPr id="10" name="Text 8"/>
          <p:cNvSpPr/>
          <p:nvPr/>
        </p:nvSpPr>
        <p:spPr>
          <a:xfrm>
            <a:off x="6492240" y="2057400"/>
            <a:ext cx="4663440" cy="2880360"/>
          </a:xfrm>
          <a:prstGeom prst="rect">
            <a:avLst/>
          </a:prstGeom>
          <a:noFill/>
          <a:ln/>
        </p:spPr>
        <p:txBody>
          <a:bodyPr wrap="square" lIns="762" tIns="762" rIns="762" bIns="762" rtlCol="0" anchor="ctr">
            <a:normAutofit/>
          </a:bodyPr>
          <a:lstStyle/>
          <a:p>
            <a:pPr indent="0" marL="0">
              <a:buNone/>
            </a:pPr>
            <a:r>
              <a:rPr lang="en-US" sz="1150" dirty="0">
                <a:solidFill>
                  <a:srgbClr val="F8FAFC"/>
                </a:solidFill>
                <a:latin typeface="Aptos Mono" pitchFamily="34" charset="0"/>
                <a:ea typeface="Aptos Mono" pitchFamily="34" charset="-122"/>
                <a:cs typeface="Aptos Mono" pitchFamily="34" charset="-120"/>
              </a:rPr>
              <a:t>import torch</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import torch.nn as nn</a:t>
            </a:r>
            <a:endParaRPr lang="en-US" sz="1150" dirty="0"/>
          </a:p>
          <a:p>
            <a:pPr indent="0" marL="0">
              <a:buNone/>
            </a:pP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model = nn.Sequential(</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nn.Linear(10, 16),</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nn.ReLU(),</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nn.Linear(16, 1)</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loss = nn.MSELoss()</a:t>
            </a:r>
            <a:endParaRPr lang="en-US" sz="1150" dirty="0"/>
          </a:p>
          <a:p>
            <a:pPr indent="0" marL="0">
              <a:buNone/>
            </a:pPr>
            <a:r>
              <a:rPr lang="en-US" sz="1150" dirty="0">
                <a:solidFill>
                  <a:srgbClr val="F8FAFC"/>
                </a:solidFill>
                <a:latin typeface="Aptos Mono" pitchFamily="34" charset="0"/>
                <a:ea typeface="Aptos Mono" pitchFamily="34" charset="-122"/>
                <a:cs typeface="Aptos Mono" pitchFamily="34" charset="-120"/>
              </a:rPr>
              <a:t># training loop is written directly in Python</a:t>
            </a:r>
            <a:endParaRPr lang="en-US" sz="1150" dirty="0"/>
          </a:p>
        </p:txBody>
      </p:sp>
      <p:sp>
        <p:nvSpPr>
          <p:cNvPr id="11" name="Shape 9"/>
          <p:cNvSpPr/>
          <p:nvPr/>
        </p:nvSpPr>
        <p:spPr>
          <a:xfrm>
            <a:off x="2148840" y="5166360"/>
            <a:ext cx="1143000" cy="320040"/>
          </a:xfrm>
          <a:prstGeom prst="roundRect">
            <a:avLst>
              <a:gd name="adj" fmla="val 22857"/>
            </a:avLst>
          </a:prstGeom>
          <a:solidFill>
            <a:srgbClr val="FF6F00"/>
          </a:solidFill>
          <a:ln w="12700">
            <a:solidFill>
              <a:srgbClr val="FF6F00"/>
            </a:solidFill>
            <a:prstDash val="solid"/>
          </a:ln>
        </p:spPr>
      </p:sp>
      <p:sp>
        <p:nvSpPr>
          <p:cNvPr id="12" name="Text 10"/>
          <p:cNvSpPr/>
          <p:nvPr/>
        </p:nvSpPr>
        <p:spPr>
          <a:xfrm>
            <a:off x="2221992" y="5248656"/>
            <a:ext cx="996696" cy="146304"/>
          </a:xfrm>
          <a:prstGeom prst="rect">
            <a:avLst/>
          </a:prstGeom>
          <a:noFill/>
          <a:ln/>
        </p:spPr>
        <p:txBody>
          <a:bodyPr wrap="square" lIns="0" tIns="0" rIns="0" bIns="0" rtlCol="0" anchor="ctr"/>
          <a:lstStyle/>
          <a:p>
            <a:pPr algn="ctr" indent="0" marL="0">
              <a:buNone/>
            </a:pPr>
            <a:r>
              <a:rPr lang="en-US" sz="800" b="1" dirty="0">
                <a:solidFill>
                  <a:srgbClr val="FFFFFF"/>
                </a:solidFill>
              </a:rPr>
              <a:t>High-level API</a:t>
            </a:r>
            <a:endParaRPr lang="en-US" sz="800" dirty="0"/>
          </a:p>
        </p:txBody>
      </p:sp>
      <p:sp>
        <p:nvSpPr>
          <p:cNvPr id="13" name="Shape 11"/>
          <p:cNvSpPr/>
          <p:nvPr/>
        </p:nvSpPr>
        <p:spPr>
          <a:xfrm>
            <a:off x="7818120" y="5166360"/>
            <a:ext cx="1143000" cy="320040"/>
          </a:xfrm>
          <a:prstGeom prst="roundRect">
            <a:avLst>
              <a:gd name="adj" fmla="val 22857"/>
            </a:avLst>
          </a:prstGeom>
          <a:solidFill>
            <a:srgbClr val="EE4C2C"/>
          </a:solidFill>
          <a:ln w="12700">
            <a:solidFill>
              <a:srgbClr val="EE4C2C"/>
            </a:solidFill>
            <a:prstDash val="solid"/>
          </a:ln>
        </p:spPr>
      </p:sp>
      <p:sp>
        <p:nvSpPr>
          <p:cNvPr id="14" name="Text 12"/>
          <p:cNvSpPr/>
          <p:nvPr/>
        </p:nvSpPr>
        <p:spPr>
          <a:xfrm>
            <a:off x="7891272" y="5248656"/>
            <a:ext cx="996696" cy="146304"/>
          </a:xfrm>
          <a:prstGeom prst="rect">
            <a:avLst/>
          </a:prstGeom>
          <a:noFill/>
          <a:ln/>
        </p:spPr>
        <p:txBody>
          <a:bodyPr wrap="square" lIns="0" tIns="0" rIns="0" bIns="0" rtlCol="0" anchor="ctr"/>
          <a:lstStyle/>
          <a:p>
            <a:pPr algn="ctr" indent="0" marL="0">
              <a:buNone/>
            </a:pPr>
            <a:r>
              <a:rPr lang="en-US" sz="800" b="1" dirty="0">
                <a:solidFill>
                  <a:srgbClr val="FFFFFF"/>
                </a:solidFill>
              </a:rPr>
              <a:t>Flexible loop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5. Real-world Applications</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Where these frameworks show up outside the classroom.</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777240" y="1280160"/>
            <a:ext cx="3337560" cy="4389120"/>
          </a:xfrm>
          <a:prstGeom prst="roundRect">
            <a:avLst>
              <a:gd name="adj" fmla="val 3288"/>
            </a:avLst>
          </a:prstGeom>
          <a:solidFill>
            <a:srgbClr val="FFFFFF">
              <a:alpha val="96000"/>
            </a:srgbClr>
          </a:solidFill>
          <a:ln w="12700">
            <a:solidFill>
              <a:srgbClr val="FF6F00"/>
            </a:solidFill>
            <a:prstDash val="solid"/>
          </a:ln>
        </p:spPr>
      </p:sp>
      <p:sp>
        <p:nvSpPr>
          <p:cNvPr id="6" name="Shape 4"/>
          <p:cNvSpPr/>
          <p:nvPr/>
        </p:nvSpPr>
        <p:spPr>
          <a:xfrm>
            <a:off x="4434840" y="1280160"/>
            <a:ext cx="3337560" cy="4389120"/>
          </a:xfrm>
          <a:prstGeom prst="roundRect">
            <a:avLst>
              <a:gd name="adj" fmla="val 3288"/>
            </a:avLst>
          </a:prstGeom>
          <a:solidFill>
            <a:srgbClr val="FFFFFF">
              <a:alpha val="96000"/>
            </a:srgbClr>
          </a:solidFill>
          <a:ln w="12700">
            <a:solidFill>
              <a:srgbClr val="22C55E"/>
            </a:solidFill>
            <a:prstDash val="solid"/>
          </a:ln>
        </p:spPr>
      </p:sp>
      <p:sp>
        <p:nvSpPr>
          <p:cNvPr id="7" name="Shape 5"/>
          <p:cNvSpPr/>
          <p:nvPr/>
        </p:nvSpPr>
        <p:spPr>
          <a:xfrm>
            <a:off x="8092440" y="1280160"/>
            <a:ext cx="3337560" cy="4389120"/>
          </a:xfrm>
          <a:prstGeom prst="roundRect">
            <a:avLst>
              <a:gd name="adj" fmla="val 3288"/>
            </a:avLst>
          </a:prstGeom>
          <a:solidFill>
            <a:srgbClr val="FFFFFF">
              <a:alpha val="96000"/>
            </a:srgbClr>
          </a:solidFill>
          <a:ln w="12700">
            <a:solidFill>
              <a:srgbClr val="EE4C2C"/>
            </a:solidFill>
            <a:prstDash val="solid"/>
          </a:ln>
        </p:spPr>
      </p:sp>
      <p:sp>
        <p:nvSpPr>
          <p:cNvPr id="8" name="Shape 6"/>
          <p:cNvSpPr/>
          <p:nvPr/>
        </p:nvSpPr>
        <p:spPr>
          <a:xfrm>
            <a:off x="2084832" y="1691640"/>
            <a:ext cx="731520" cy="731520"/>
          </a:xfrm>
          <a:prstGeom prst="ellipse">
            <a:avLst/>
          </a:prstGeom>
          <a:solidFill>
            <a:srgbClr val="FF6F00"/>
          </a:solidFill>
          <a:ln w="12700">
            <a:solidFill>
              <a:srgbClr val="FF6F00"/>
            </a:solidFill>
            <a:prstDash val="solid"/>
          </a:ln>
        </p:spPr>
      </p:sp>
      <p:sp>
        <p:nvSpPr>
          <p:cNvPr id="9" name="Text 7"/>
          <p:cNvSpPr/>
          <p:nvPr/>
        </p:nvSpPr>
        <p:spPr>
          <a:xfrm>
            <a:off x="1051560" y="2697480"/>
            <a:ext cx="2788920" cy="320040"/>
          </a:xfrm>
          <a:prstGeom prst="rect">
            <a:avLst/>
          </a:prstGeom>
          <a:noFill/>
          <a:ln/>
        </p:spPr>
        <p:txBody>
          <a:bodyPr wrap="square" lIns="0" tIns="0" rIns="0" bIns="0" rtlCol="0" anchor="ctr"/>
          <a:lstStyle/>
          <a:p>
            <a:pPr algn="ctr" indent="0" marL="0">
              <a:buNone/>
            </a:pPr>
            <a:r>
              <a:rPr lang="en-US" sz="1700" b="1" dirty="0">
                <a:solidFill>
                  <a:srgbClr val="111827"/>
                </a:solidFill>
              </a:rPr>
              <a:t>TensorFlow at Google</a:t>
            </a:r>
            <a:endParaRPr lang="en-US" sz="1700" dirty="0"/>
          </a:p>
        </p:txBody>
      </p:sp>
      <p:sp>
        <p:nvSpPr>
          <p:cNvPr id="10" name="Text 8"/>
          <p:cNvSpPr/>
          <p:nvPr/>
        </p:nvSpPr>
        <p:spPr>
          <a:xfrm>
            <a:off x="1097280" y="3246120"/>
            <a:ext cx="2697480" cy="1234440"/>
          </a:xfrm>
          <a:prstGeom prst="rect">
            <a:avLst/>
          </a:prstGeom>
          <a:noFill/>
          <a:ln/>
        </p:spPr>
        <p:txBody>
          <a:bodyPr wrap="square" lIns="381" tIns="381" rIns="381" bIns="381" rtlCol="0" anchor="ctr">
            <a:normAutofit/>
          </a:bodyPr>
          <a:lstStyle/>
          <a:p>
            <a:pPr algn="ctr" indent="0" marL="0">
              <a:buNone/>
            </a:pPr>
            <a:r>
              <a:rPr lang="en-US" sz="1300" dirty="0">
                <a:solidFill>
                  <a:srgbClr val="64748B"/>
                </a:solidFill>
              </a:rPr>
              <a:t>Used in Google products such as speech recognition and image search; built for scalable ML systems.</a:t>
            </a:r>
            <a:endParaRPr lang="en-US" sz="1300" dirty="0"/>
          </a:p>
        </p:txBody>
      </p:sp>
      <p:sp>
        <p:nvSpPr>
          <p:cNvPr id="11" name="Shape 9"/>
          <p:cNvSpPr/>
          <p:nvPr/>
        </p:nvSpPr>
        <p:spPr>
          <a:xfrm>
            <a:off x="5742432" y="1691640"/>
            <a:ext cx="731520" cy="731520"/>
          </a:xfrm>
          <a:prstGeom prst="ellipse">
            <a:avLst/>
          </a:prstGeom>
          <a:solidFill>
            <a:srgbClr val="22C55E"/>
          </a:solidFill>
          <a:ln w="12700">
            <a:solidFill>
              <a:srgbClr val="22C55E"/>
            </a:solidFill>
            <a:prstDash val="solid"/>
          </a:ln>
        </p:spPr>
      </p:sp>
      <p:sp>
        <p:nvSpPr>
          <p:cNvPr id="12" name="Text 10"/>
          <p:cNvSpPr/>
          <p:nvPr/>
        </p:nvSpPr>
        <p:spPr>
          <a:xfrm>
            <a:off x="4709160" y="2697480"/>
            <a:ext cx="2788920" cy="320040"/>
          </a:xfrm>
          <a:prstGeom prst="rect">
            <a:avLst/>
          </a:prstGeom>
          <a:noFill/>
          <a:ln/>
        </p:spPr>
        <p:txBody>
          <a:bodyPr wrap="square" lIns="0" tIns="0" rIns="0" bIns="0" rtlCol="0" anchor="ctr"/>
          <a:lstStyle/>
          <a:p>
            <a:pPr algn="ctr" indent="0" marL="0">
              <a:buNone/>
            </a:pPr>
            <a:r>
              <a:rPr lang="en-US" sz="1700" b="1" dirty="0">
                <a:solidFill>
                  <a:srgbClr val="111827"/>
                </a:solidFill>
              </a:rPr>
              <a:t>Deployment paths</a:t>
            </a:r>
            <a:endParaRPr lang="en-US" sz="1700" dirty="0"/>
          </a:p>
        </p:txBody>
      </p:sp>
      <p:sp>
        <p:nvSpPr>
          <p:cNvPr id="13" name="Text 11"/>
          <p:cNvSpPr/>
          <p:nvPr/>
        </p:nvSpPr>
        <p:spPr>
          <a:xfrm>
            <a:off x="4754880" y="3246120"/>
            <a:ext cx="2697480" cy="1234440"/>
          </a:xfrm>
          <a:prstGeom prst="rect">
            <a:avLst/>
          </a:prstGeom>
          <a:noFill/>
          <a:ln/>
        </p:spPr>
        <p:txBody>
          <a:bodyPr wrap="square" lIns="381" tIns="381" rIns="381" bIns="381" rtlCol="0" anchor="ctr">
            <a:normAutofit/>
          </a:bodyPr>
          <a:lstStyle/>
          <a:p>
            <a:pPr algn="ctr" indent="0" marL="0">
              <a:buNone/>
            </a:pPr>
            <a:r>
              <a:rPr lang="en-US" sz="1300" dirty="0">
                <a:solidFill>
                  <a:srgbClr val="64748B"/>
                </a:solidFill>
              </a:rPr>
              <a:t>TensorFlow Lite targets mobile/edge; TensorFlow Serving targets production model serving.</a:t>
            </a:r>
            <a:endParaRPr lang="en-US" sz="1300" dirty="0"/>
          </a:p>
        </p:txBody>
      </p:sp>
      <p:sp>
        <p:nvSpPr>
          <p:cNvPr id="14" name="Shape 12"/>
          <p:cNvSpPr/>
          <p:nvPr/>
        </p:nvSpPr>
        <p:spPr>
          <a:xfrm>
            <a:off x="9400032" y="1691640"/>
            <a:ext cx="731520" cy="731520"/>
          </a:xfrm>
          <a:prstGeom prst="ellipse">
            <a:avLst/>
          </a:prstGeom>
          <a:solidFill>
            <a:srgbClr val="EE4C2C"/>
          </a:solidFill>
          <a:ln w="12700">
            <a:solidFill>
              <a:srgbClr val="EE4C2C"/>
            </a:solidFill>
            <a:prstDash val="solid"/>
          </a:ln>
        </p:spPr>
      </p:sp>
      <p:sp>
        <p:nvSpPr>
          <p:cNvPr id="15" name="Text 13"/>
          <p:cNvSpPr/>
          <p:nvPr/>
        </p:nvSpPr>
        <p:spPr>
          <a:xfrm>
            <a:off x="8366760" y="2697480"/>
            <a:ext cx="2788920" cy="320040"/>
          </a:xfrm>
          <a:prstGeom prst="rect">
            <a:avLst/>
          </a:prstGeom>
          <a:noFill/>
          <a:ln/>
        </p:spPr>
        <p:txBody>
          <a:bodyPr wrap="square" lIns="0" tIns="0" rIns="0" bIns="0" rtlCol="0" anchor="ctr"/>
          <a:lstStyle/>
          <a:p>
            <a:pPr algn="ctr" indent="0" marL="0">
              <a:buNone/>
            </a:pPr>
            <a:r>
              <a:rPr lang="en-US" sz="1700" b="1" dirty="0">
                <a:solidFill>
                  <a:srgbClr val="111827"/>
                </a:solidFill>
              </a:rPr>
              <a:t>PyTorch at Meta / Research</a:t>
            </a:r>
            <a:endParaRPr lang="en-US" sz="1700" dirty="0"/>
          </a:p>
        </p:txBody>
      </p:sp>
      <p:sp>
        <p:nvSpPr>
          <p:cNvPr id="16" name="Text 14"/>
          <p:cNvSpPr/>
          <p:nvPr/>
        </p:nvSpPr>
        <p:spPr>
          <a:xfrm>
            <a:off x="8412480" y="3246120"/>
            <a:ext cx="2697480" cy="1234440"/>
          </a:xfrm>
          <a:prstGeom prst="rect">
            <a:avLst/>
          </a:prstGeom>
          <a:noFill/>
          <a:ln/>
        </p:spPr>
        <p:txBody>
          <a:bodyPr wrap="square" lIns="381" tIns="381" rIns="381" bIns="381" rtlCol="0" anchor="ctr">
            <a:normAutofit/>
          </a:bodyPr>
          <a:lstStyle/>
          <a:p>
            <a:pPr algn="ctr" indent="0" marL="0">
              <a:buNone/>
            </a:pPr>
            <a:r>
              <a:rPr lang="en-US" sz="1300" dirty="0">
                <a:solidFill>
                  <a:srgbClr val="64748B"/>
                </a:solidFill>
              </a:rPr>
              <a:t>Popular for model design and research because dynamic graphs make experimentation and debugging easier.</a:t>
            </a:r>
            <a:endParaRPr lang="en-US" sz="1300" dirty="0"/>
          </a:p>
        </p:txBody>
      </p:sp>
      <p:sp>
        <p:nvSpPr>
          <p:cNvPr id="17" name="Text 15"/>
          <p:cNvSpPr/>
          <p:nvPr/>
        </p:nvSpPr>
        <p:spPr>
          <a:xfrm>
            <a:off x="502920" y="6565392"/>
            <a:ext cx="10789920" cy="182880"/>
          </a:xfrm>
          <a:prstGeom prst="rect">
            <a:avLst/>
          </a:prstGeom>
          <a:noFill/>
          <a:ln/>
        </p:spPr>
        <p:txBody>
          <a:bodyPr wrap="square" lIns="0" tIns="0" rIns="0" bIns="0" rtlCol="0" anchor="ctr"/>
          <a:lstStyle/>
          <a:p>
            <a:pPr indent="0" marL="0">
              <a:buNone/>
            </a:pPr>
            <a:r>
              <a:rPr lang="en-US" sz="720" dirty="0">
                <a:solidFill>
                  <a:srgbClr val="94A3B8"/>
                </a:solidFill>
              </a:rPr>
              <a:t>Sources: Google Open Source Blog; TensorFlow TFX Serving docs; Meta AI blog; PyTorch paper.</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6. Comparative Perspective</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Usability, performance, support, and scalability in one view.</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731520" y="1234440"/>
            <a:ext cx="1737360" cy="502920"/>
          </a:xfrm>
          <a:prstGeom prst="rect">
            <a:avLst/>
          </a:prstGeom>
          <a:solidFill>
            <a:srgbClr val="38BDF8"/>
          </a:solidFill>
          <a:ln w="12700">
            <a:solidFill>
              <a:srgbClr val="0B1020">
                <a:alpha val="0"/>
              </a:srgbClr>
            </a:solidFill>
            <a:prstDash val="solid"/>
          </a:ln>
        </p:spPr>
      </p:sp>
      <p:sp>
        <p:nvSpPr>
          <p:cNvPr id="6" name="Text 4"/>
          <p:cNvSpPr/>
          <p:nvPr/>
        </p:nvSpPr>
        <p:spPr>
          <a:xfrm>
            <a:off x="804672" y="1389888"/>
            <a:ext cx="1591056" cy="164592"/>
          </a:xfrm>
          <a:prstGeom prst="rect">
            <a:avLst/>
          </a:prstGeom>
          <a:noFill/>
          <a:ln/>
        </p:spPr>
        <p:txBody>
          <a:bodyPr wrap="square" lIns="0" tIns="0" rIns="0" bIns="0" rtlCol="0" anchor="ctr"/>
          <a:lstStyle/>
          <a:p>
            <a:pPr algn="l" indent="0" marL="0">
              <a:buNone/>
            </a:pPr>
            <a:r>
              <a:rPr lang="en-US" sz="1050" b="1" dirty="0">
                <a:solidFill>
                  <a:srgbClr val="0B1020"/>
                </a:solidFill>
              </a:rPr>
              <a:t>Category</a:t>
            </a:r>
            <a:endParaRPr lang="en-US" sz="1050" dirty="0"/>
          </a:p>
        </p:txBody>
      </p:sp>
      <p:sp>
        <p:nvSpPr>
          <p:cNvPr id="7" name="Shape 5"/>
          <p:cNvSpPr/>
          <p:nvPr/>
        </p:nvSpPr>
        <p:spPr>
          <a:xfrm>
            <a:off x="2468880" y="1234440"/>
            <a:ext cx="2880360" cy="502920"/>
          </a:xfrm>
          <a:prstGeom prst="rect">
            <a:avLst/>
          </a:prstGeom>
          <a:solidFill>
            <a:srgbClr val="FF6F00"/>
          </a:solidFill>
          <a:ln w="12700">
            <a:solidFill>
              <a:srgbClr val="0B1020">
                <a:alpha val="0"/>
              </a:srgbClr>
            </a:solidFill>
            <a:prstDash val="solid"/>
          </a:ln>
        </p:spPr>
      </p:sp>
      <p:sp>
        <p:nvSpPr>
          <p:cNvPr id="8" name="Text 6"/>
          <p:cNvSpPr/>
          <p:nvPr/>
        </p:nvSpPr>
        <p:spPr>
          <a:xfrm>
            <a:off x="2542032" y="1389888"/>
            <a:ext cx="2734056" cy="164592"/>
          </a:xfrm>
          <a:prstGeom prst="rect">
            <a:avLst/>
          </a:prstGeom>
          <a:noFill/>
          <a:ln/>
        </p:spPr>
        <p:txBody>
          <a:bodyPr wrap="square" lIns="0" tIns="0" rIns="0" bIns="0" rtlCol="0" anchor="ctr"/>
          <a:lstStyle/>
          <a:p>
            <a:pPr algn="ctr" indent="0" marL="0">
              <a:buNone/>
            </a:pPr>
            <a:r>
              <a:rPr lang="en-US" sz="1050" b="1" dirty="0">
                <a:solidFill>
                  <a:srgbClr val="FFFFFF"/>
                </a:solidFill>
              </a:rPr>
              <a:t>TensorFlow</a:t>
            </a:r>
            <a:endParaRPr lang="en-US" sz="1050" dirty="0"/>
          </a:p>
        </p:txBody>
      </p:sp>
      <p:sp>
        <p:nvSpPr>
          <p:cNvPr id="9" name="Shape 7"/>
          <p:cNvSpPr/>
          <p:nvPr/>
        </p:nvSpPr>
        <p:spPr>
          <a:xfrm>
            <a:off x="5349240" y="1234440"/>
            <a:ext cx="2880360" cy="502920"/>
          </a:xfrm>
          <a:prstGeom prst="rect">
            <a:avLst/>
          </a:prstGeom>
          <a:solidFill>
            <a:srgbClr val="EE4C2C"/>
          </a:solidFill>
          <a:ln w="12700">
            <a:solidFill>
              <a:srgbClr val="0B1020">
                <a:alpha val="0"/>
              </a:srgbClr>
            </a:solidFill>
            <a:prstDash val="solid"/>
          </a:ln>
        </p:spPr>
      </p:sp>
      <p:sp>
        <p:nvSpPr>
          <p:cNvPr id="10" name="Text 8"/>
          <p:cNvSpPr/>
          <p:nvPr/>
        </p:nvSpPr>
        <p:spPr>
          <a:xfrm>
            <a:off x="5422392" y="1389888"/>
            <a:ext cx="2734056" cy="164592"/>
          </a:xfrm>
          <a:prstGeom prst="rect">
            <a:avLst/>
          </a:prstGeom>
          <a:noFill/>
          <a:ln/>
        </p:spPr>
        <p:txBody>
          <a:bodyPr wrap="square" lIns="0" tIns="0" rIns="0" bIns="0" rtlCol="0" anchor="ctr"/>
          <a:lstStyle/>
          <a:p>
            <a:pPr algn="ctr" indent="0" marL="0">
              <a:buNone/>
            </a:pPr>
            <a:r>
              <a:rPr lang="en-US" sz="1050" b="1" dirty="0">
                <a:solidFill>
                  <a:srgbClr val="FFFFFF"/>
                </a:solidFill>
              </a:rPr>
              <a:t>PyTorch</a:t>
            </a:r>
            <a:endParaRPr lang="en-US" sz="1050" dirty="0"/>
          </a:p>
        </p:txBody>
      </p:sp>
      <p:sp>
        <p:nvSpPr>
          <p:cNvPr id="11" name="Shape 9"/>
          <p:cNvSpPr/>
          <p:nvPr/>
        </p:nvSpPr>
        <p:spPr>
          <a:xfrm>
            <a:off x="8229600" y="1234440"/>
            <a:ext cx="3246120" cy="502920"/>
          </a:xfrm>
          <a:prstGeom prst="rect">
            <a:avLst/>
          </a:prstGeom>
          <a:solidFill>
            <a:srgbClr val="38BDF8"/>
          </a:solidFill>
          <a:ln w="12700">
            <a:solidFill>
              <a:srgbClr val="0B1020">
                <a:alpha val="0"/>
              </a:srgbClr>
            </a:solidFill>
            <a:prstDash val="solid"/>
          </a:ln>
        </p:spPr>
      </p:sp>
      <p:sp>
        <p:nvSpPr>
          <p:cNvPr id="12" name="Text 10"/>
          <p:cNvSpPr/>
          <p:nvPr/>
        </p:nvSpPr>
        <p:spPr>
          <a:xfrm>
            <a:off x="8302752" y="1389888"/>
            <a:ext cx="3099816" cy="164592"/>
          </a:xfrm>
          <a:prstGeom prst="rect">
            <a:avLst/>
          </a:prstGeom>
          <a:noFill/>
          <a:ln/>
        </p:spPr>
        <p:txBody>
          <a:bodyPr wrap="square" lIns="0" tIns="0" rIns="0" bIns="0" rtlCol="0" anchor="ctr"/>
          <a:lstStyle/>
          <a:p>
            <a:pPr algn="ctr" indent="0" marL="0">
              <a:buNone/>
            </a:pPr>
            <a:r>
              <a:rPr lang="en-US" sz="1050" b="1" dirty="0">
                <a:solidFill>
                  <a:srgbClr val="FFFFFF"/>
                </a:solidFill>
              </a:rPr>
              <a:t>Quick insight</a:t>
            </a:r>
            <a:endParaRPr lang="en-US" sz="1050" dirty="0"/>
          </a:p>
        </p:txBody>
      </p:sp>
      <p:sp>
        <p:nvSpPr>
          <p:cNvPr id="13" name="Shape 11"/>
          <p:cNvSpPr/>
          <p:nvPr/>
        </p:nvSpPr>
        <p:spPr>
          <a:xfrm>
            <a:off x="731520" y="1737360"/>
            <a:ext cx="1737360" cy="612648"/>
          </a:xfrm>
          <a:prstGeom prst="rect">
            <a:avLst/>
          </a:prstGeom>
          <a:solidFill>
            <a:srgbClr val="FFFFFF">
              <a:alpha val="95000"/>
            </a:srgbClr>
          </a:solidFill>
          <a:ln w="12700">
            <a:solidFill>
              <a:srgbClr val="334155">
                <a:alpha val="40000"/>
              </a:srgbClr>
            </a:solidFill>
            <a:prstDash val="solid"/>
          </a:ln>
        </p:spPr>
      </p:sp>
      <p:sp>
        <p:nvSpPr>
          <p:cNvPr id="14" name="Text 12"/>
          <p:cNvSpPr/>
          <p:nvPr/>
        </p:nvSpPr>
        <p:spPr>
          <a:xfrm>
            <a:off x="813816" y="1828800"/>
            <a:ext cx="1572768" cy="448056"/>
          </a:xfrm>
          <a:prstGeom prst="rect">
            <a:avLst/>
          </a:prstGeom>
          <a:noFill/>
          <a:ln/>
        </p:spPr>
        <p:txBody>
          <a:bodyPr wrap="square" lIns="0" tIns="0" rIns="0" bIns="0" rtlCol="0" anchor="ctr">
            <a:normAutofit/>
          </a:bodyPr>
          <a:lstStyle/>
          <a:p>
            <a:pPr indent="0" marL="0">
              <a:buNone/>
            </a:pPr>
            <a:r>
              <a:rPr lang="en-US" sz="930" b="1" dirty="0">
                <a:solidFill>
                  <a:srgbClr val="111827"/>
                </a:solidFill>
              </a:rPr>
              <a:t>Usability</a:t>
            </a:r>
            <a:endParaRPr lang="en-US" sz="930" dirty="0"/>
          </a:p>
        </p:txBody>
      </p:sp>
      <p:sp>
        <p:nvSpPr>
          <p:cNvPr id="15" name="Shape 13"/>
          <p:cNvSpPr/>
          <p:nvPr/>
        </p:nvSpPr>
        <p:spPr>
          <a:xfrm>
            <a:off x="2468880" y="1737360"/>
            <a:ext cx="2880360" cy="612648"/>
          </a:xfrm>
          <a:prstGeom prst="rect">
            <a:avLst/>
          </a:prstGeom>
          <a:solidFill>
            <a:srgbClr val="FFFFFF">
              <a:alpha val="92000"/>
            </a:srgbClr>
          </a:solidFill>
          <a:ln w="12700">
            <a:solidFill>
              <a:srgbClr val="334155">
                <a:alpha val="40000"/>
              </a:srgbClr>
            </a:solidFill>
            <a:prstDash val="solid"/>
          </a:ln>
        </p:spPr>
      </p:sp>
      <p:sp>
        <p:nvSpPr>
          <p:cNvPr id="16" name="Text 14"/>
          <p:cNvSpPr/>
          <p:nvPr/>
        </p:nvSpPr>
        <p:spPr>
          <a:xfrm>
            <a:off x="2551176" y="1828800"/>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Keras is beginner-friendly; graph concepts can feel abstract.</a:t>
            </a:r>
            <a:endParaRPr lang="en-US" sz="930" dirty="0"/>
          </a:p>
        </p:txBody>
      </p:sp>
      <p:sp>
        <p:nvSpPr>
          <p:cNvPr id="17" name="Shape 15"/>
          <p:cNvSpPr/>
          <p:nvPr/>
        </p:nvSpPr>
        <p:spPr>
          <a:xfrm>
            <a:off x="5349240" y="1737360"/>
            <a:ext cx="2880360" cy="612648"/>
          </a:xfrm>
          <a:prstGeom prst="rect">
            <a:avLst/>
          </a:prstGeom>
          <a:solidFill>
            <a:srgbClr val="FFFFFF">
              <a:alpha val="92000"/>
            </a:srgbClr>
          </a:solidFill>
          <a:ln w="12700">
            <a:solidFill>
              <a:srgbClr val="334155">
                <a:alpha val="40000"/>
              </a:srgbClr>
            </a:solidFill>
            <a:prstDash val="solid"/>
          </a:ln>
        </p:spPr>
      </p:sp>
      <p:sp>
        <p:nvSpPr>
          <p:cNvPr id="18" name="Text 16"/>
          <p:cNvSpPr/>
          <p:nvPr/>
        </p:nvSpPr>
        <p:spPr>
          <a:xfrm>
            <a:off x="5431536" y="1828800"/>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Very Pythonic; easier debugging and custom loops.</a:t>
            </a:r>
            <a:endParaRPr lang="en-US" sz="930" dirty="0"/>
          </a:p>
        </p:txBody>
      </p:sp>
      <p:sp>
        <p:nvSpPr>
          <p:cNvPr id="19" name="Shape 17"/>
          <p:cNvSpPr/>
          <p:nvPr/>
        </p:nvSpPr>
        <p:spPr>
          <a:xfrm>
            <a:off x="8229600" y="1737360"/>
            <a:ext cx="3246120" cy="612648"/>
          </a:xfrm>
          <a:prstGeom prst="rect">
            <a:avLst/>
          </a:prstGeom>
          <a:solidFill>
            <a:srgbClr val="FFFFFF">
              <a:alpha val="92000"/>
            </a:srgbClr>
          </a:solidFill>
          <a:ln w="12700">
            <a:solidFill>
              <a:srgbClr val="334155">
                <a:alpha val="40000"/>
              </a:srgbClr>
            </a:solidFill>
            <a:prstDash val="solid"/>
          </a:ln>
        </p:spPr>
      </p:sp>
      <p:sp>
        <p:nvSpPr>
          <p:cNvPr id="20" name="Text 18"/>
          <p:cNvSpPr/>
          <p:nvPr/>
        </p:nvSpPr>
        <p:spPr>
          <a:xfrm>
            <a:off x="8311896" y="1828800"/>
            <a:ext cx="308152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PyTorch is often easier for learning and experimenting.</a:t>
            </a:r>
            <a:endParaRPr lang="en-US" sz="930" dirty="0"/>
          </a:p>
        </p:txBody>
      </p:sp>
      <p:sp>
        <p:nvSpPr>
          <p:cNvPr id="21" name="Shape 19"/>
          <p:cNvSpPr/>
          <p:nvPr/>
        </p:nvSpPr>
        <p:spPr>
          <a:xfrm>
            <a:off x="731520" y="2350008"/>
            <a:ext cx="1737360" cy="612648"/>
          </a:xfrm>
          <a:prstGeom prst="rect">
            <a:avLst/>
          </a:prstGeom>
          <a:solidFill>
            <a:srgbClr val="F1F5F9">
              <a:alpha val="95000"/>
            </a:srgbClr>
          </a:solidFill>
          <a:ln w="12700">
            <a:solidFill>
              <a:srgbClr val="334155">
                <a:alpha val="40000"/>
              </a:srgbClr>
            </a:solidFill>
            <a:prstDash val="solid"/>
          </a:ln>
        </p:spPr>
      </p:sp>
      <p:sp>
        <p:nvSpPr>
          <p:cNvPr id="22" name="Text 20"/>
          <p:cNvSpPr/>
          <p:nvPr/>
        </p:nvSpPr>
        <p:spPr>
          <a:xfrm>
            <a:off x="813816" y="2441448"/>
            <a:ext cx="1572768" cy="448056"/>
          </a:xfrm>
          <a:prstGeom prst="rect">
            <a:avLst/>
          </a:prstGeom>
          <a:noFill/>
          <a:ln/>
        </p:spPr>
        <p:txBody>
          <a:bodyPr wrap="square" lIns="0" tIns="0" rIns="0" bIns="0" rtlCol="0" anchor="ctr">
            <a:normAutofit/>
          </a:bodyPr>
          <a:lstStyle/>
          <a:p>
            <a:pPr indent="0" marL="0">
              <a:buNone/>
            </a:pPr>
            <a:r>
              <a:rPr lang="en-US" sz="930" b="1" dirty="0">
                <a:solidFill>
                  <a:srgbClr val="111827"/>
                </a:solidFill>
              </a:rPr>
              <a:t>Performance</a:t>
            </a:r>
            <a:endParaRPr lang="en-US" sz="930" dirty="0"/>
          </a:p>
        </p:txBody>
      </p:sp>
      <p:sp>
        <p:nvSpPr>
          <p:cNvPr id="23" name="Shape 21"/>
          <p:cNvSpPr/>
          <p:nvPr/>
        </p:nvSpPr>
        <p:spPr>
          <a:xfrm>
            <a:off x="2468880" y="2350008"/>
            <a:ext cx="2880360" cy="612648"/>
          </a:xfrm>
          <a:prstGeom prst="rect">
            <a:avLst/>
          </a:prstGeom>
          <a:solidFill>
            <a:srgbClr val="F1F5F9">
              <a:alpha val="92000"/>
            </a:srgbClr>
          </a:solidFill>
          <a:ln w="12700">
            <a:solidFill>
              <a:srgbClr val="334155">
                <a:alpha val="40000"/>
              </a:srgbClr>
            </a:solidFill>
            <a:prstDash val="solid"/>
          </a:ln>
        </p:spPr>
      </p:sp>
      <p:sp>
        <p:nvSpPr>
          <p:cNvPr id="24" name="Text 22"/>
          <p:cNvSpPr/>
          <p:nvPr/>
        </p:nvSpPr>
        <p:spPr>
          <a:xfrm>
            <a:off x="2551176" y="2441448"/>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Strong for production serving and TPU/cloud workflows.</a:t>
            </a:r>
            <a:endParaRPr lang="en-US" sz="930" dirty="0"/>
          </a:p>
        </p:txBody>
      </p:sp>
      <p:sp>
        <p:nvSpPr>
          <p:cNvPr id="25" name="Shape 23"/>
          <p:cNvSpPr/>
          <p:nvPr/>
        </p:nvSpPr>
        <p:spPr>
          <a:xfrm>
            <a:off x="5349240" y="2350008"/>
            <a:ext cx="2880360" cy="612648"/>
          </a:xfrm>
          <a:prstGeom prst="rect">
            <a:avLst/>
          </a:prstGeom>
          <a:solidFill>
            <a:srgbClr val="F1F5F9">
              <a:alpha val="92000"/>
            </a:srgbClr>
          </a:solidFill>
          <a:ln w="12700">
            <a:solidFill>
              <a:srgbClr val="334155">
                <a:alpha val="40000"/>
              </a:srgbClr>
            </a:solidFill>
            <a:prstDash val="solid"/>
          </a:ln>
        </p:spPr>
      </p:sp>
      <p:sp>
        <p:nvSpPr>
          <p:cNvPr id="26" name="Text 24"/>
          <p:cNvSpPr/>
          <p:nvPr/>
        </p:nvSpPr>
        <p:spPr>
          <a:xfrm>
            <a:off x="5431536" y="2441448"/>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torch.compile improves speed while keeping Python feel.</a:t>
            </a:r>
            <a:endParaRPr lang="en-US" sz="930" dirty="0"/>
          </a:p>
        </p:txBody>
      </p:sp>
      <p:sp>
        <p:nvSpPr>
          <p:cNvPr id="27" name="Shape 25"/>
          <p:cNvSpPr/>
          <p:nvPr/>
        </p:nvSpPr>
        <p:spPr>
          <a:xfrm>
            <a:off x="8229600" y="2350008"/>
            <a:ext cx="3246120" cy="612648"/>
          </a:xfrm>
          <a:prstGeom prst="rect">
            <a:avLst/>
          </a:prstGeom>
          <a:solidFill>
            <a:srgbClr val="F1F5F9">
              <a:alpha val="92000"/>
            </a:srgbClr>
          </a:solidFill>
          <a:ln w="12700">
            <a:solidFill>
              <a:srgbClr val="334155">
                <a:alpha val="40000"/>
              </a:srgbClr>
            </a:solidFill>
            <a:prstDash val="solid"/>
          </a:ln>
        </p:spPr>
      </p:sp>
      <p:sp>
        <p:nvSpPr>
          <p:cNvPr id="28" name="Text 26"/>
          <p:cNvSpPr/>
          <p:nvPr/>
        </p:nvSpPr>
        <p:spPr>
          <a:xfrm>
            <a:off x="8311896" y="2441448"/>
            <a:ext cx="308152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Both can be fast; performance depends on model and hardware.</a:t>
            </a:r>
            <a:endParaRPr lang="en-US" sz="930" dirty="0"/>
          </a:p>
        </p:txBody>
      </p:sp>
      <p:sp>
        <p:nvSpPr>
          <p:cNvPr id="29" name="Shape 27"/>
          <p:cNvSpPr/>
          <p:nvPr/>
        </p:nvSpPr>
        <p:spPr>
          <a:xfrm>
            <a:off x="731520" y="2962656"/>
            <a:ext cx="1737360" cy="612648"/>
          </a:xfrm>
          <a:prstGeom prst="rect">
            <a:avLst/>
          </a:prstGeom>
          <a:solidFill>
            <a:srgbClr val="FFFFFF">
              <a:alpha val="95000"/>
            </a:srgbClr>
          </a:solidFill>
          <a:ln w="12700">
            <a:solidFill>
              <a:srgbClr val="334155">
                <a:alpha val="40000"/>
              </a:srgbClr>
            </a:solidFill>
            <a:prstDash val="solid"/>
          </a:ln>
        </p:spPr>
      </p:sp>
      <p:sp>
        <p:nvSpPr>
          <p:cNvPr id="30" name="Text 28"/>
          <p:cNvSpPr/>
          <p:nvPr/>
        </p:nvSpPr>
        <p:spPr>
          <a:xfrm>
            <a:off x="813816" y="3054096"/>
            <a:ext cx="1572768" cy="448056"/>
          </a:xfrm>
          <a:prstGeom prst="rect">
            <a:avLst/>
          </a:prstGeom>
          <a:noFill/>
          <a:ln/>
        </p:spPr>
        <p:txBody>
          <a:bodyPr wrap="square" lIns="0" tIns="0" rIns="0" bIns="0" rtlCol="0" anchor="ctr">
            <a:normAutofit/>
          </a:bodyPr>
          <a:lstStyle/>
          <a:p>
            <a:pPr indent="0" marL="0">
              <a:buNone/>
            </a:pPr>
            <a:r>
              <a:rPr lang="en-US" sz="930" b="1" dirty="0">
                <a:solidFill>
                  <a:srgbClr val="111827"/>
                </a:solidFill>
              </a:rPr>
              <a:t>Support</a:t>
            </a:r>
            <a:endParaRPr lang="en-US" sz="930" dirty="0"/>
          </a:p>
        </p:txBody>
      </p:sp>
      <p:sp>
        <p:nvSpPr>
          <p:cNvPr id="31" name="Shape 29"/>
          <p:cNvSpPr/>
          <p:nvPr/>
        </p:nvSpPr>
        <p:spPr>
          <a:xfrm>
            <a:off x="2468880" y="2962656"/>
            <a:ext cx="2880360" cy="612648"/>
          </a:xfrm>
          <a:prstGeom prst="rect">
            <a:avLst/>
          </a:prstGeom>
          <a:solidFill>
            <a:srgbClr val="FFFFFF">
              <a:alpha val="92000"/>
            </a:srgbClr>
          </a:solidFill>
          <a:ln w="12700">
            <a:solidFill>
              <a:srgbClr val="334155">
                <a:alpha val="40000"/>
              </a:srgbClr>
            </a:solidFill>
            <a:prstDash val="solid"/>
          </a:ln>
        </p:spPr>
      </p:sp>
      <p:sp>
        <p:nvSpPr>
          <p:cNvPr id="32" name="Text 30"/>
          <p:cNvSpPr/>
          <p:nvPr/>
        </p:nvSpPr>
        <p:spPr>
          <a:xfrm>
            <a:off x="2551176" y="3054096"/>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Large documentation, Google ecosystem, deployment tools.</a:t>
            </a:r>
            <a:endParaRPr lang="en-US" sz="930" dirty="0"/>
          </a:p>
        </p:txBody>
      </p:sp>
      <p:sp>
        <p:nvSpPr>
          <p:cNvPr id="33" name="Shape 31"/>
          <p:cNvSpPr/>
          <p:nvPr/>
        </p:nvSpPr>
        <p:spPr>
          <a:xfrm>
            <a:off x="5349240" y="2962656"/>
            <a:ext cx="2880360" cy="612648"/>
          </a:xfrm>
          <a:prstGeom prst="rect">
            <a:avLst/>
          </a:prstGeom>
          <a:solidFill>
            <a:srgbClr val="FFFFFF">
              <a:alpha val="92000"/>
            </a:srgbClr>
          </a:solidFill>
          <a:ln w="12700">
            <a:solidFill>
              <a:srgbClr val="334155">
                <a:alpha val="40000"/>
              </a:srgbClr>
            </a:solidFill>
            <a:prstDash val="solid"/>
          </a:ln>
        </p:spPr>
      </p:sp>
      <p:sp>
        <p:nvSpPr>
          <p:cNvPr id="34" name="Text 32"/>
          <p:cNvSpPr/>
          <p:nvPr/>
        </p:nvSpPr>
        <p:spPr>
          <a:xfrm>
            <a:off x="5431536" y="3054096"/>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Strong open-source research community and libraries.</a:t>
            </a:r>
            <a:endParaRPr lang="en-US" sz="930" dirty="0"/>
          </a:p>
        </p:txBody>
      </p:sp>
      <p:sp>
        <p:nvSpPr>
          <p:cNvPr id="35" name="Shape 33"/>
          <p:cNvSpPr/>
          <p:nvPr/>
        </p:nvSpPr>
        <p:spPr>
          <a:xfrm>
            <a:off x="8229600" y="2962656"/>
            <a:ext cx="3246120" cy="612648"/>
          </a:xfrm>
          <a:prstGeom prst="rect">
            <a:avLst/>
          </a:prstGeom>
          <a:solidFill>
            <a:srgbClr val="FFFFFF">
              <a:alpha val="92000"/>
            </a:srgbClr>
          </a:solidFill>
          <a:ln w="12700">
            <a:solidFill>
              <a:srgbClr val="334155">
                <a:alpha val="40000"/>
              </a:srgbClr>
            </a:solidFill>
            <a:prstDash val="solid"/>
          </a:ln>
        </p:spPr>
      </p:sp>
      <p:sp>
        <p:nvSpPr>
          <p:cNvPr id="36" name="Text 34"/>
          <p:cNvSpPr/>
          <p:nvPr/>
        </p:nvSpPr>
        <p:spPr>
          <a:xfrm>
            <a:off x="8311896" y="3054096"/>
            <a:ext cx="308152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Both have major support; TensorFlow has more deployment tooling.</a:t>
            </a:r>
            <a:endParaRPr lang="en-US" sz="930" dirty="0"/>
          </a:p>
        </p:txBody>
      </p:sp>
      <p:sp>
        <p:nvSpPr>
          <p:cNvPr id="37" name="Shape 35"/>
          <p:cNvSpPr/>
          <p:nvPr/>
        </p:nvSpPr>
        <p:spPr>
          <a:xfrm>
            <a:off x="731520" y="3575304"/>
            <a:ext cx="1737360" cy="612648"/>
          </a:xfrm>
          <a:prstGeom prst="rect">
            <a:avLst/>
          </a:prstGeom>
          <a:solidFill>
            <a:srgbClr val="F1F5F9">
              <a:alpha val="95000"/>
            </a:srgbClr>
          </a:solidFill>
          <a:ln w="12700">
            <a:solidFill>
              <a:srgbClr val="334155">
                <a:alpha val="40000"/>
              </a:srgbClr>
            </a:solidFill>
            <a:prstDash val="solid"/>
          </a:ln>
        </p:spPr>
      </p:sp>
      <p:sp>
        <p:nvSpPr>
          <p:cNvPr id="38" name="Text 36"/>
          <p:cNvSpPr/>
          <p:nvPr/>
        </p:nvSpPr>
        <p:spPr>
          <a:xfrm>
            <a:off x="813816" y="3666744"/>
            <a:ext cx="1572768" cy="448056"/>
          </a:xfrm>
          <a:prstGeom prst="rect">
            <a:avLst/>
          </a:prstGeom>
          <a:noFill/>
          <a:ln/>
        </p:spPr>
        <p:txBody>
          <a:bodyPr wrap="square" lIns="0" tIns="0" rIns="0" bIns="0" rtlCol="0" anchor="ctr">
            <a:normAutofit/>
          </a:bodyPr>
          <a:lstStyle/>
          <a:p>
            <a:pPr indent="0" marL="0">
              <a:buNone/>
            </a:pPr>
            <a:r>
              <a:rPr lang="en-US" sz="930" b="1" dirty="0">
                <a:solidFill>
                  <a:srgbClr val="111827"/>
                </a:solidFill>
              </a:rPr>
              <a:t>Scalability</a:t>
            </a:r>
            <a:endParaRPr lang="en-US" sz="930" dirty="0"/>
          </a:p>
        </p:txBody>
      </p:sp>
      <p:sp>
        <p:nvSpPr>
          <p:cNvPr id="39" name="Shape 37"/>
          <p:cNvSpPr/>
          <p:nvPr/>
        </p:nvSpPr>
        <p:spPr>
          <a:xfrm>
            <a:off x="2468880" y="3575304"/>
            <a:ext cx="2880360" cy="612648"/>
          </a:xfrm>
          <a:prstGeom prst="rect">
            <a:avLst/>
          </a:prstGeom>
          <a:solidFill>
            <a:srgbClr val="F1F5F9">
              <a:alpha val="92000"/>
            </a:srgbClr>
          </a:solidFill>
          <a:ln w="12700">
            <a:solidFill>
              <a:srgbClr val="334155">
                <a:alpha val="40000"/>
              </a:srgbClr>
            </a:solidFill>
            <a:prstDash val="solid"/>
          </a:ln>
        </p:spPr>
      </p:sp>
      <p:sp>
        <p:nvSpPr>
          <p:cNvPr id="40" name="Text 38"/>
          <p:cNvSpPr/>
          <p:nvPr/>
        </p:nvSpPr>
        <p:spPr>
          <a:xfrm>
            <a:off x="2551176" y="3666744"/>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TFX/Serving/Lite support full production pipelines.</a:t>
            </a:r>
            <a:endParaRPr lang="en-US" sz="930" dirty="0"/>
          </a:p>
        </p:txBody>
      </p:sp>
      <p:sp>
        <p:nvSpPr>
          <p:cNvPr id="41" name="Shape 39"/>
          <p:cNvSpPr/>
          <p:nvPr/>
        </p:nvSpPr>
        <p:spPr>
          <a:xfrm>
            <a:off x="5349240" y="3575304"/>
            <a:ext cx="2880360" cy="612648"/>
          </a:xfrm>
          <a:prstGeom prst="rect">
            <a:avLst/>
          </a:prstGeom>
          <a:solidFill>
            <a:srgbClr val="F1F5F9">
              <a:alpha val="92000"/>
            </a:srgbClr>
          </a:solidFill>
          <a:ln w="12700">
            <a:solidFill>
              <a:srgbClr val="334155">
                <a:alpha val="40000"/>
              </a:srgbClr>
            </a:solidFill>
            <a:prstDash val="solid"/>
          </a:ln>
        </p:spPr>
      </p:sp>
      <p:sp>
        <p:nvSpPr>
          <p:cNvPr id="42" name="Text 40"/>
          <p:cNvSpPr/>
          <p:nvPr/>
        </p:nvSpPr>
        <p:spPr>
          <a:xfrm>
            <a:off x="5431536" y="3666744"/>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Distributed training and ecosystem are strong, especially in research.</a:t>
            </a:r>
            <a:endParaRPr lang="en-US" sz="930" dirty="0"/>
          </a:p>
        </p:txBody>
      </p:sp>
      <p:sp>
        <p:nvSpPr>
          <p:cNvPr id="43" name="Shape 41"/>
          <p:cNvSpPr/>
          <p:nvPr/>
        </p:nvSpPr>
        <p:spPr>
          <a:xfrm>
            <a:off x="8229600" y="3575304"/>
            <a:ext cx="3246120" cy="612648"/>
          </a:xfrm>
          <a:prstGeom prst="rect">
            <a:avLst/>
          </a:prstGeom>
          <a:solidFill>
            <a:srgbClr val="F1F5F9">
              <a:alpha val="92000"/>
            </a:srgbClr>
          </a:solidFill>
          <a:ln w="12700">
            <a:solidFill>
              <a:srgbClr val="334155">
                <a:alpha val="40000"/>
              </a:srgbClr>
            </a:solidFill>
            <a:prstDash val="solid"/>
          </a:ln>
        </p:spPr>
      </p:sp>
      <p:sp>
        <p:nvSpPr>
          <p:cNvPr id="44" name="Text 42"/>
          <p:cNvSpPr/>
          <p:nvPr/>
        </p:nvSpPr>
        <p:spPr>
          <a:xfrm>
            <a:off x="8311896" y="3666744"/>
            <a:ext cx="308152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TensorFlow is strong for end-to-end production scaling.</a:t>
            </a:r>
            <a:endParaRPr lang="en-US" sz="930" dirty="0"/>
          </a:p>
        </p:txBody>
      </p:sp>
      <p:sp>
        <p:nvSpPr>
          <p:cNvPr id="45" name="Shape 43"/>
          <p:cNvSpPr/>
          <p:nvPr/>
        </p:nvSpPr>
        <p:spPr>
          <a:xfrm>
            <a:off x="731520" y="4187952"/>
            <a:ext cx="1737360" cy="612648"/>
          </a:xfrm>
          <a:prstGeom prst="rect">
            <a:avLst/>
          </a:prstGeom>
          <a:solidFill>
            <a:srgbClr val="FFFFFF">
              <a:alpha val="95000"/>
            </a:srgbClr>
          </a:solidFill>
          <a:ln w="12700">
            <a:solidFill>
              <a:srgbClr val="334155">
                <a:alpha val="40000"/>
              </a:srgbClr>
            </a:solidFill>
            <a:prstDash val="solid"/>
          </a:ln>
        </p:spPr>
      </p:sp>
      <p:sp>
        <p:nvSpPr>
          <p:cNvPr id="46" name="Text 44"/>
          <p:cNvSpPr/>
          <p:nvPr/>
        </p:nvSpPr>
        <p:spPr>
          <a:xfrm>
            <a:off x="813816" y="4279392"/>
            <a:ext cx="1572768" cy="448056"/>
          </a:xfrm>
          <a:prstGeom prst="rect">
            <a:avLst/>
          </a:prstGeom>
          <a:noFill/>
          <a:ln/>
        </p:spPr>
        <p:txBody>
          <a:bodyPr wrap="square" lIns="0" tIns="0" rIns="0" bIns="0" rtlCol="0" anchor="ctr">
            <a:normAutofit/>
          </a:bodyPr>
          <a:lstStyle/>
          <a:p>
            <a:pPr indent="0" marL="0">
              <a:buNone/>
            </a:pPr>
            <a:r>
              <a:rPr lang="en-US" sz="930" b="1" dirty="0">
                <a:solidFill>
                  <a:srgbClr val="111827"/>
                </a:solidFill>
              </a:rPr>
              <a:t>Best fit</a:t>
            </a:r>
            <a:endParaRPr lang="en-US" sz="930" dirty="0"/>
          </a:p>
        </p:txBody>
      </p:sp>
      <p:sp>
        <p:nvSpPr>
          <p:cNvPr id="47" name="Shape 45"/>
          <p:cNvSpPr/>
          <p:nvPr/>
        </p:nvSpPr>
        <p:spPr>
          <a:xfrm>
            <a:off x="2468880" y="4187952"/>
            <a:ext cx="2880360" cy="612648"/>
          </a:xfrm>
          <a:prstGeom prst="rect">
            <a:avLst/>
          </a:prstGeom>
          <a:solidFill>
            <a:srgbClr val="FFFFFF">
              <a:alpha val="92000"/>
            </a:srgbClr>
          </a:solidFill>
          <a:ln w="12700">
            <a:solidFill>
              <a:srgbClr val="334155">
                <a:alpha val="40000"/>
              </a:srgbClr>
            </a:solidFill>
            <a:prstDash val="solid"/>
          </a:ln>
        </p:spPr>
      </p:sp>
      <p:sp>
        <p:nvSpPr>
          <p:cNvPr id="48" name="Text 46"/>
          <p:cNvSpPr/>
          <p:nvPr/>
        </p:nvSpPr>
        <p:spPr>
          <a:xfrm>
            <a:off x="2551176" y="4279392"/>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Apps that must ship to cloud/mobile/edge.</a:t>
            </a:r>
            <a:endParaRPr lang="en-US" sz="930" dirty="0"/>
          </a:p>
        </p:txBody>
      </p:sp>
      <p:sp>
        <p:nvSpPr>
          <p:cNvPr id="49" name="Shape 47"/>
          <p:cNvSpPr/>
          <p:nvPr/>
        </p:nvSpPr>
        <p:spPr>
          <a:xfrm>
            <a:off x="5349240" y="4187952"/>
            <a:ext cx="2880360" cy="612648"/>
          </a:xfrm>
          <a:prstGeom prst="rect">
            <a:avLst/>
          </a:prstGeom>
          <a:solidFill>
            <a:srgbClr val="FFFFFF">
              <a:alpha val="92000"/>
            </a:srgbClr>
          </a:solidFill>
          <a:ln w="12700">
            <a:solidFill>
              <a:srgbClr val="334155">
                <a:alpha val="40000"/>
              </a:srgbClr>
            </a:solidFill>
            <a:prstDash val="solid"/>
          </a:ln>
        </p:spPr>
      </p:sp>
      <p:sp>
        <p:nvSpPr>
          <p:cNvPr id="50" name="Text 48"/>
          <p:cNvSpPr/>
          <p:nvPr/>
        </p:nvSpPr>
        <p:spPr>
          <a:xfrm>
            <a:off x="5431536" y="4279392"/>
            <a:ext cx="271576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Research, prototyping, custom models, classroom learning.</a:t>
            </a:r>
            <a:endParaRPr lang="en-US" sz="930" dirty="0"/>
          </a:p>
        </p:txBody>
      </p:sp>
      <p:sp>
        <p:nvSpPr>
          <p:cNvPr id="51" name="Shape 49"/>
          <p:cNvSpPr/>
          <p:nvPr/>
        </p:nvSpPr>
        <p:spPr>
          <a:xfrm>
            <a:off x="8229600" y="4187952"/>
            <a:ext cx="3246120" cy="612648"/>
          </a:xfrm>
          <a:prstGeom prst="rect">
            <a:avLst/>
          </a:prstGeom>
          <a:solidFill>
            <a:srgbClr val="FFFFFF">
              <a:alpha val="92000"/>
            </a:srgbClr>
          </a:solidFill>
          <a:ln w="12700">
            <a:solidFill>
              <a:srgbClr val="334155">
                <a:alpha val="40000"/>
              </a:srgbClr>
            </a:solidFill>
            <a:prstDash val="solid"/>
          </a:ln>
        </p:spPr>
      </p:sp>
      <p:sp>
        <p:nvSpPr>
          <p:cNvPr id="52" name="Text 50"/>
          <p:cNvSpPr/>
          <p:nvPr/>
        </p:nvSpPr>
        <p:spPr>
          <a:xfrm>
            <a:off x="8311896" y="4279392"/>
            <a:ext cx="3081528" cy="448056"/>
          </a:xfrm>
          <a:prstGeom prst="rect">
            <a:avLst/>
          </a:prstGeom>
          <a:noFill/>
          <a:ln/>
        </p:spPr>
        <p:txBody>
          <a:bodyPr wrap="square" lIns="0" tIns="0" rIns="0" bIns="0" rtlCol="0" anchor="ctr">
            <a:normAutofit/>
          </a:bodyPr>
          <a:lstStyle/>
          <a:p>
            <a:pPr indent="0" marL="0">
              <a:buNone/>
            </a:pPr>
            <a:r>
              <a:rPr lang="en-US" sz="930" dirty="0">
                <a:solidFill>
                  <a:srgbClr val="64748B"/>
                </a:solidFill>
              </a:rPr>
              <a:t>Choose based on project goal, not hype.</a:t>
            </a:r>
            <a:endParaRPr lang="en-US" sz="930" dirty="0"/>
          </a:p>
        </p:txBody>
      </p:sp>
      <p:sp>
        <p:nvSpPr>
          <p:cNvPr id="53" name="Text 51"/>
          <p:cNvSpPr/>
          <p:nvPr/>
        </p:nvSpPr>
        <p:spPr>
          <a:xfrm>
            <a:off x="502920" y="6565392"/>
            <a:ext cx="10789920" cy="182880"/>
          </a:xfrm>
          <a:prstGeom prst="rect">
            <a:avLst/>
          </a:prstGeom>
          <a:noFill/>
          <a:ln/>
        </p:spPr>
        <p:txBody>
          <a:bodyPr wrap="square" lIns="0" tIns="0" rIns="0" bIns="0" rtlCol="0" anchor="ctr"/>
          <a:lstStyle/>
          <a:p>
            <a:pPr indent="0" marL="0">
              <a:buNone/>
            </a:pPr>
            <a:r>
              <a:rPr lang="en-US" sz="720" dirty="0">
                <a:solidFill>
                  <a:srgbClr val="94A3B8"/>
                </a:solidFill>
              </a:rPr>
              <a:t>Comparison based on official documentation and cited papers; exact performance depends on hardware, model, and optimization.</a:t>
            </a:r>
            <a:endParaRPr lang="en-US" sz="7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7. My Recommendation</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The best framework depends on the project situation.</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914400" y="1325880"/>
            <a:ext cx="4800600" cy="4343400"/>
          </a:xfrm>
          <a:prstGeom prst="roundRect">
            <a:avLst>
              <a:gd name="adj" fmla="val 2526"/>
            </a:avLst>
          </a:prstGeom>
          <a:solidFill>
            <a:srgbClr val="FFFFFF">
              <a:alpha val="95000"/>
            </a:srgbClr>
          </a:solidFill>
          <a:ln w="12700">
            <a:solidFill>
              <a:srgbClr val="FF6F00"/>
            </a:solidFill>
            <a:prstDash val="solid"/>
          </a:ln>
        </p:spPr>
      </p:sp>
      <p:sp>
        <p:nvSpPr>
          <p:cNvPr id="6" name="Shape 4"/>
          <p:cNvSpPr/>
          <p:nvPr/>
        </p:nvSpPr>
        <p:spPr>
          <a:xfrm>
            <a:off x="6446520" y="1325880"/>
            <a:ext cx="4800600" cy="4343400"/>
          </a:xfrm>
          <a:prstGeom prst="roundRect">
            <a:avLst>
              <a:gd name="adj" fmla="val 2526"/>
            </a:avLst>
          </a:prstGeom>
          <a:solidFill>
            <a:srgbClr val="FFFFFF">
              <a:alpha val="95000"/>
            </a:srgbClr>
          </a:solidFill>
          <a:ln w="12700">
            <a:solidFill>
              <a:srgbClr val="EE4C2C"/>
            </a:solidFill>
            <a:prstDash val="solid"/>
          </a:ln>
        </p:spPr>
      </p:sp>
      <p:sp>
        <p:nvSpPr>
          <p:cNvPr id="7" name="Text 5"/>
          <p:cNvSpPr/>
          <p:nvPr/>
        </p:nvSpPr>
        <p:spPr>
          <a:xfrm>
            <a:off x="1188720" y="1664208"/>
            <a:ext cx="4206240" cy="310896"/>
          </a:xfrm>
          <a:prstGeom prst="rect">
            <a:avLst/>
          </a:prstGeom>
          <a:noFill/>
          <a:ln/>
        </p:spPr>
        <p:txBody>
          <a:bodyPr wrap="square" lIns="0" tIns="0" rIns="0" bIns="0" rtlCol="0" anchor="ctr"/>
          <a:lstStyle/>
          <a:p>
            <a:pPr indent="0" marL="0">
              <a:buNone/>
            </a:pPr>
            <a:r>
              <a:rPr lang="en-US" sz="2000" b="1" dirty="0">
                <a:solidFill>
                  <a:srgbClr val="FF6F00"/>
                </a:solidFill>
              </a:rPr>
              <a:t>Choose TensorFlow when…</a:t>
            </a:r>
            <a:endParaRPr lang="en-US" sz="2000" dirty="0"/>
          </a:p>
        </p:txBody>
      </p:sp>
      <p:sp>
        <p:nvSpPr>
          <p:cNvPr id="8" name="Text 6"/>
          <p:cNvSpPr/>
          <p:nvPr/>
        </p:nvSpPr>
        <p:spPr>
          <a:xfrm>
            <a:off x="6720840" y="1664208"/>
            <a:ext cx="4206240" cy="310896"/>
          </a:xfrm>
          <a:prstGeom prst="rect">
            <a:avLst/>
          </a:prstGeom>
          <a:noFill/>
          <a:ln/>
        </p:spPr>
        <p:txBody>
          <a:bodyPr wrap="square" lIns="0" tIns="0" rIns="0" bIns="0" rtlCol="0" anchor="ctr"/>
          <a:lstStyle/>
          <a:p>
            <a:pPr indent="0" marL="0">
              <a:buNone/>
            </a:pPr>
            <a:r>
              <a:rPr lang="en-US" sz="2000" b="1" dirty="0">
                <a:solidFill>
                  <a:srgbClr val="EE4C2C"/>
                </a:solidFill>
              </a:rPr>
              <a:t>Choose PyTorch when…</a:t>
            </a:r>
            <a:endParaRPr lang="en-US" sz="2000" dirty="0"/>
          </a:p>
        </p:txBody>
      </p:sp>
      <p:sp>
        <p:nvSpPr>
          <p:cNvPr id="9" name="Shape 7"/>
          <p:cNvSpPr/>
          <p:nvPr/>
        </p:nvSpPr>
        <p:spPr>
          <a:xfrm>
            <a:off x="1325880" y="2386584"/>
            <a:ext cx="73152" cy="73152"/>
          </a:xfrm>
          <a:prstGeom prst="ellipse">
            <a:avLst/>
          </a:prstGeom>
          <a:solidFill>
            <a:srgbClr val="38BDF8"/>
          </a:solidFill>
          <a:ln w="12700">
            <a:solidFill>
              <a:srgbClr val="38BDF8"/>
            </a:solidFill>
            <a:prstDash val="solid"/>
          </a:ln>
        </p:spPr>
      </p:sp>
      <p:sp>
        <p:nvSpPr>
          <p:cNvPr id="10" name="Text 8"/>
          <p:cNvSpPr/>
          <p:nvPr/>
        </p:nvSpPr>
        <p:spPr>
          <a:xfrm>
            <a:off x="1490472" y="233172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need production deployment</a:t>
            </a:r>
            <a:endParaRPr lang="en-US" sz="1450" dirty="0"/>
          </a:p>
        </p:txBody>
      </p:sp>
      <p:sp>
        <p:nvSpPr>
          <p:cNvPr id="11" name="Shape 9"/>
          <p:cNvSpPr/>
          <p:nvPr/>
        </p:nvSpPr>
        <p:spPr>
          <a:xfrm>
            <a:off x="1325880" y="3026664"/>
            <a:ext cx="73152" cy="73152"/>
          </a:xfrm>
          <a:prstGeom prst="ellipse">
            <a:avLst/>
          </a:prstGeom>
          <a:solidFill>
            <a:srgbClr val="38BDF8"/>
          </a:solidFill>
          <a:ln w="12700">
            <a:solidFill>
              <a:srgbClr val="38BDF8"/>
            </a:solidFill>
            <a:prstDash val="solid"/>
          </a:ln>
        </p:spPr>
      </p:sp>
      <p:sp>
        <p:nvSpPr>
          <p:cNvPr id="12" name="Text 10"/>
          <p:cNvSpPr/>
          <p:nvPr/>
        </p:nvSpPr>
        <p:spPr>
          <a:xfrm>
            <a:off x="1490472" y="297180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The model must run on mobile, web, or edge</a:t>
            </a:r>
            <a:endParaRPr lang="en-US" sz="1450" dirty="0"/>
          </a:p>
        </p:txBody>
      </p:sp>
      <p:sp>
        <p:nvSpPr>
          <p:cNvPr id="13" name="Shape 11"/>
          <p:cNvSpPr/>
          <p:nvPr/>
        </p:nvSpPr>
        <p:spPr>
          <a:xfrm>
            <a:off x="1325880" y="3666744"/>
            <a:ext cx="73152" cy="73152"/>
          </a:xfrm>
          <a:prstGeom prst="ellipse">
            <a:avLst/>
          </a:prstGeom>
          <a:solidFill>
            <a:srgbClr val="38BDF8"/>
          </a:solidFill>
          <a:ln w="12700">
            <a:solidFill>
              <a:srgbClr val="38BDF8"/>
            </a:solidFill>
            <a:prstDash val="solid"/>
          </a:ln>
        </p:spPr>
      </p:sp>
      <p:sp>
        <p:nvSpPr>
          <p:cNvPr id="14" name="Text 12"/>
          <p:cNvSpPr/>
          <p:nvPr/>
        </p:nvSpPr>
        <p:spPr>
          <a:xfrm>
            <a:off x="1490472" y="361188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want a complete ML platform</a:t>
            </a:r>
            <a:endParaRPr lang="en-US" sz="1450" dirty="0"/>
          </a:p>
        </p:txBody>
      </p:sp>
      <p:sp>
        <p:nvSpPr>
          <p:cNvPr id="15" name="Shape 13"/>
          <p:cNvSpPr/>
          <p:nvPr/>
        </p:nvSpPr>
        <p:spPr>
          <a:xfrm>
            <a:off x="1325880" y="4306824"/>
            <a:ext cx="73152" cy="73152"/>
          </a:xfrm>
          <a:prstGeom prst="ellipse">
            <a:avLst/>
          </a:prstGeom>
          <a:solidFill>
            <a:srgbClr val="38BDF8"/>
          </a:solidFill>
          <a:ln w="12700">
            <a:solidFill>
              <a:srgbClr val="38BDF8"/>
            </a:solidFill>
            <a:prstDash val="solid"/>
          </a:ln>
        </p:spPr>
      </p:sp>
      <p:sp>
        <p:nvSpPr>
          <p:cNvPr id="16" name="Text 14"/>
          <p:cNvSpPr/>
          <p:nvPr/>
        </p:nvSpPr>
        <p:spPr>
          <a:xfrm>
            <a:off x="1490472" y="425196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use Google Cloud / TPU workflows</a:t>
            </a:r>
            <a:endParaRPr lang="en-US" sz="1450" dirty="0"/>
          </a:p>
        </p:txBody>
      </p:sp>
      <p:sp>
        <p:nvSpPr>
          <p:cNvPr id="17" name="Shape 15"/>
          <p:cNvSpPr/>
          <p:nvPr/>
        </p:nvSpPr>
        <p:spPr>
          <a:xfrm>
            <a:off x="6858000" y="2386584"/>
            <a:ext cx="73152" cy="73152"/>
          </a:xfrm>
          <a:prstGeom prst="ellipse">
            <a:avLst/>
          </a:prstGeom>
          <a:solidFill>
            <a:srgbClr val="38BDF8"/>
          </a:solidFill>
          <a:ln w="12700">
            <a:solidFill>
              <a:srgbClr val="38BDF8"/>
            </a:solidFill>
            <a:prstDash val="solid"/>
          </a:ln>
        </p:spPr>
      </p:sp>
      <p:sp>
        <p:nvSpPr>
          <p:cNvPr id="18" name="Text 16"/>
          <p:cNvSpPr/>
          <p:nvPr/>
        </p:nvSpPr>
        <p:spPr>
          <a:xfrm>
            <a:off x="7022592" y="233172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are learning deep learning</a:t>
            </a:r>
            <a:endParaRPr lang="en-US" sz="1450" dirty="0"/>
          </a:p>
        </p:txBody>
      </p:sp>
      <p:sp>
        <p:nvSpPr>
          <p:cNvPr id="19" name="Shape 17"/>
          <p:cNvSpPr/>
          <p:nvPr/>
        </p:nvSpPr>
        <p:spPr>
          <a:xfrm>
            <a:off x="6858000" y="3026664"/>
            <a:ext cx="73152" cy="73152"/>
          </a:xfrm>
          <a:prstGeom prst="ellipse">
            <a:avLst/>
          </a:prstGeom>
          <a:solidFill>
            <a:srgbClr val="38BDF8"/>
          </a:solidFill>
          <a:ln w="12700">
            <a:solidFill>
              <a:srgbClr val="38BDF8"/>
            </a:solidFill>
            <a:prstDash val="solid"/>
          </a:ln>
        </p:spPr>
      </p:sp>
      <p:sp>
        <p:nvSpPr>
          <p:cNvPr id="20" name="Text 18"/>
          <p:cNvSpPr/>
          <p:nvPr/>
        </p:nvSpPr>
        <p:spPr>
          <a:xfrm>
            <a:off x="7022592" y="297180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want flexible experimentation</a:t>
            </a:r>
            <a:endParaRPr lang="en-US" sz="1450" dirty="0"/>
          </a:p>
        </p:txBody>
      </p:sp>
      <p:sp>
        <p:nvSpPr>
          <p:cNvPr id="21" name="Shape 19"/>
          <p:cNvSpPr/>
          <p:nvPr/>
        </p:nvSpPr>
        <p:spPr>
          <a:xfrm>
            <a:off x="6858000" y="3666744"/>
            <a:ext cx="73152" cy="73152"/>
          </a:xfrm>
          <a:prstGeom prst="ellipse">
            <a:avLst/>
          </a:prstGeom>
          <a:solidFill>
            <a:srgbClr val="38BDF8"/>
          </a:solidFill>
          <a:ln w="12700">
            <a:solidFill>
              <a:srgbClr val="38BDF8"/>
            </a:solidFill>
            <a:prstDash val="solid"/>
          </a:ln>
        </p:spPr>
      </p:sp>
      <p:sp>
        <p:nvSpPr>
          <p:cNvPr id="22" name="Text 20"/>
          <p:cNvSpPr/>
          <p:nvPr/>
        </p:nvSpPr>
        <p:spPr>
          <a:xfrm>
            <a:off x="7022592" y="361188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need easy debugging</a:t>
            </a:r>
            <a:endParaRPr lang="en-US" sz="1450" dirty="0"/>
          </a:p>
        </p:txBody>
      </p:sp>
      <p:sp>
        <p:nvSpPr>
          <p:cNvPr id="23" name="Shape 21"/>
          <p:cNvSpPr/>
          <p:nvPr/>
        </p:nvSpPr>
        <p:spPr>
          <a:xfrm>
            <a:off x="6858000" y="4306824"/>
            <a:ext cx="73152" cy="73152"/>
          </a:xfrm>
          <a:prstGeom prst="ellipse">
            <a:avLst/>
          </a:prstGeom>
          <a:solidFill>
            <a:srgbClr val="38BDF8"/>
          </a:solidFill>
          <a:ln w="12700">
            <a:solidFill>
              <a:srgbClr val="38BDF8"/>
            </a:solidFill>
            <a:prstDash val="solid"/>
          </a:ln>
        </p:spPr>
      </p:sp>
      <p:sp>
        <p:nvSpPr>
          <p:cNvPr id="24" name="Text 22"/>
          <p:cNvSpPr/>
          <p:nvPr/>
        </p:nvSpPr>
        <p:spPr>
          <a:xfrm>
            <a:off x="7022592" y="4251960"/>
            <a:ext cx="3977640" cy="347472"/>
          </a:xfrm>
          <a:prstGeom prst="rect">
            <a:avLst/>
          </a:prstGeom>
          <a:noFill/>
          <a:ln/>
        </p:spPr>
        <p:txBody>
          <a:bodyPr wrap="square" lIns="0" tIns="0" rIns="0" bIns="0" rtlCol="0" anchor="ctr">
            <a:normAutofit/>
          </a:bodyPr>
          <a:lstStyle/>
          <a:p>
            <a:pPr indent="0" marL="0">
              <a:buNone/>
            </a:pPr>
            <a:r>
              <a:rPr lang="en-US" sz="1450" dirty="0">
                <a:solidFill>
                  <a:srgbClr val="111827"/>
                </a:solidFill>
              </a:rPr>
              <a:t>You are building research-style models</a:t>
            </a:r>
            <a:endParaRPr lang="en-US" sz="1450" dirty="0"/>
          </a:p>
        </p:txBody>
      </p:sp>
      <p:sp>
        <p:nvSpPr>
          <p:cNvPr id="25" name="Shape 23"/>
          <p:cNvSpPr/>
          <p:nvPr/>
        </p:nvSpPr>
        <p:spPr>
          <a:xfrm>
            <a:off x="3017520" y="5806440"/>
            <a:ext cx="6126480" cy="438912"/>
          </a:xfrm>
          <a:prstGeom prst="roundRect">
            <a:avLst>
              <a:gd name="adj" fmla="val 25000"/>
            </a:avLst>
          </a:prstGeom>
          <a:solidFill>
            <a:srgbClr val="38BDF8"/>
          </a:solidFill>
          <a:ln w="12700">
            <a:solidFill>
              <a:srgbClr val="38BDF8"/>
            </a:solidFill>
            <a:prstDash val="solid"/>
          </a:ln>
        </p:spPr>
      </p:sp>
      <p:sp>
        <p:nvSpPr>
          <p:cNvPr id="26" name="Text 24"/>
          <p:cNvSpPr/>
          <p:nvPr/>
        </p:nvSpPr>
        <p:spPr>
          <a:xfrm>
            <a:off x="3218688" y="5943600"/>
            <a:ext cx="5715000" cy="146304"/>
          </a:xfrm>
          <a:prstGeom prst="rect">
            <a:avLst/>
          </a:prstGeom>
          <a:noFill/>
          <a:ln/>
        </p:spPr>
        <p:txBody>
          <a:bodyPr wrap="square" lIns="0" tIns="0" rIns="0" bIns="0" rtlCol="0" anchor="ctr"/>
          <a:lstStyle/>
          <a:p>
            <a:pPr algn="ctr" indent="0" marL="0">
              <a:buNone/>
            </a:pPr>
            <a:r>
              <a:rPr lang="en-US" sz="1150" b="1" dirty="0">
                <a:solidFill>
                  <a:srgbClr val="0B1020"/>
                </a:solidFill>
              </a:rPr>
              <a:t>My pick for a class demo: PyTorch. My pick for a production deployment project: TensorFlow.</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8. Conclusion + Discussion</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A strong comparison is about tradeoffs, not just popularity.</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Text 3"/>
          <p:cNvSpPr/>
          <p:nvPr/>
        </p:nvSpPr>
        <p:spPr>
          <a:xfrm>
            <a:off x="868680" y="1280160"/>
            <a:ext cx="3200400" cy="384048"/>
          </a:xfrm>
          <a:prstGeom prst="rect">
            <a:avLst/>
          </a:prstGeom>
          <a:noFill/>
          <a:ln/>
        </p:spPr>
        <p:txBody>
          <a:bodyPr wrap="square" lIns="0" tIns="0" rIns="0" bIns="0" rtlCol="0" anchor="ctr"/>
          <a:lstStyle/>
          <a:p>
            <a:pPr indent="0" marL="0">
              <a:buNone/>
            </a:pPr>
            <a:r>
              <a:rPr lang="en-US" sz="2400" b="1" dirty="0">
                <a:solidFill>
                  <a:srgbClr val="F8FAFC"/>
                </a:solidFill>
              </a:rPr>
              <a:t>Main takeaway</a:t>
            </a:r>
            <a:endParaRPr lang="en-US" sz="2400" dirty="0"/>
          </a:p>
        </p:txBody>
      </p:sp>
      <p:sp>
        <p:nvSpPr>
          <p:cNvPr id="6" name="Shape 4"/>
          <p:cNvSpPr/>
          <p:nvPr/>
        </p:nvSpPr>
        <p:spPr>
          <a:xfrm>
            <a:off x="868680" y="1920240"/>
            <a:ext cx="10469880" cy="960120"/>
          </a:xfrm>
          <a:prstGeom prst="roundRect">
            <a:avLst>
              <a:gd name="adj" fmla="val 11429"/>
            </a:avLst>
          </a:prstGeom>
          <a:solidFill>
            <a:srgbClr val="FFFFFF">
              <a:alpha val="96000"/>
            </a:srgbClr>
          </a:solidFill>
          <a:ln w="12700">
            <a:solidFill>
              <a:srgbClr val="38BDF8"/>
            </a:solidFill>
            <a:prstDash val="solid"/>
          </a:ln>
        </p:spPr>
      </p:sp>
      <p:sp>
        <p:nvSpPr>
          <p:cNvPr id="7" name="Text 5"/>
          <p:cNvSpPr/>
          <p:nvPr/>
        </p:nvSpPr>
        <p:spPr>
          <a:xfrm>
            <a:off x="1143000" y="2212848"/>
            <a:ext cx="9921240" cy="256032"/>
          </a:xfrm>
          <a:prstGeom prst="rect">
            <a:avLst/>
          </a:prstGeom>
          <a:noFill/>
          <a:ln/>
        </p:spPr>
        <p:txBody>
          <a:bodyPr wrap="square" lIns="0" tIns="0" rIns="0" bIns="0" rtlCol="0" anchor="ctr"/>
          <a:lstStyle/>
          <a:p>
            <a:pPr algn="ctr" indent="0" marL="0">
              <a:buNone/>
            </a:pPr>
            <a:r>
              <a:rPr lang="en-US" sz="1700" b="1" dirty="0">
                <a:solidFill>
                  <a:srgbClr val="111827"/>
                </a:solidFill>
              </a:rPr>
              <a:t>TensorFlow is strongest when the goal is deployment at scale. PyTorch is strongest when the goal is flexible development, research, and easy debugging.</a:t>
            </a:r>
            <a:endParaRPr lang="en-US" sz="1700" dirty="0"/>
          </a:p>
        </p:txBody>
      </p:sp>
      <p:sp>
        <p:nvSpPr>
          <p:cNvPr id="8" name="Text 6"/>
          <p:cNvSpPr/>
          <p:nvPr/>
        </p:nvSpPr>
        <p:spPr>
          <a:xfrm>
            <a:off x="868680" y="3657600"/>
            <a:ext cx="3200400" cy="384048"/>
          </a:xfrm>
          <a:prstGeom prst="rect">
            <a:avLst/>
          </a:prstGeom>
          <a:noFill/>
          <a:ln/>
        </p:spPr>
        <p:txBody>
          <a:bodyPr wrap="square" lIns="0" tIns="0" rIns="0" bIns="0" rtlCol="0" anchor="ctr"/>
          <a:lstStyle/>
          <a:p>
            <a:pPr indent="0" marL="0">
              <a:buNone/>
            </a:pPr>
            <a:r>
              <a:rPr lang="en-US" sz="2400" b="1" dirty="0">
                <a:solidFill>
                  <a:srgbClr val="F8FAFC"/>
                </a:solidFill>
              </a:rPr>
              <a:t>Audience question</a:t>
            </a:r>
            <a:endParaRPr lang="en-US" sz="2400" dirty="0"/>
          </a:p>
        </p:txBody>
      </p:sp>
      <p:sp>
        <p:nvSpPr>
          <p:cNvPr id="9" name="Text 7"/>
          <p:cNvSpPr/>
          <p:nvPr/>
        </p:nvSpPr>
        <p:spPr>
          <a:xfrm>
            <a:off x="1051560" y="4297680"/>
            <a:ext cx="10058400" cy="566928"/>
          </a:xfrm>
          <a:prstGeom prst="rect">
            <a:avLst/>
          </a:prstGeom>
          <a:noFill/>
          <a:ln/>
        </p:spPr>
        <p:txBody>
          <a:bodyPr wrap="square" lIns="0" tIns="0" rIns="0" bIns="0" rtlCol="0" anchor="ctr">
            <a:normAutofit/>
          </a:bodyPr>
          <a:lstStyle/>
          <a:p>
            <a:pPr algn="ctr" indent="0" marL="0">
              <a:buNone/>
            </a:pPr>
            <a:r>
              <a:rPr lang="en-US" sz="2000" dirty="0">
                <a:solidFill>
                  <a:srgbClr val="CBD5E1"/>
                </a:solidFill>
              </a:rPr>
              <a:t>If your team had to build an AI app this semester, would you choose the easier research workflow or the stronger deployment ecosystem? Why?</a:t>
            </a:r>
            <a:endParaRPr lang="en-US" sz="2000" dirty="0"/>
          </a:p>
        </p:txBody>
      </p:sp>
      <p:sp>
        <p:nvSpPr>
          <p:cNvPr id="10" name="Shape 8"/>
          <p:cNvSpPr/>
          <p:nvPr/>
        </p:nvSpPr>
        <p:spPr>
          <a:xfrm>
            <a:off x="5257800" y="5532120"/>
            <a:ext cx="1600200" cy="320040"/>
          </a:xfrm>
          <a:prstGeom prst="roundRect">
            <a:avLst>
              <a:gd name="adj" fmla="val 22857"/>
            </a:avLst>
          </a:prstGeom>
          <a:solidFill>
            <a:srgbClr val="FBBF24"/>
          </a:solidFill>
          <a:ln w="12700">
            <a:solidFill>
              <a:srgbClr val="FBBF24"/>
            </a:solidFill>
            <a:prstDash val="solid"/>
          </a:ln>
        </p:spPr>
      </p:sp>
      <p:sp>
        <p:nvSpPr>
          <p:cNvPr id="11" name="Text 9"/>
          <p:cNvSpPr/>
          <p:nvPr/>
        </p:nvSpPr>
        <p:spPr>
          <a:xfrm>
            <a:off x="5330952" y="5614416"/>
            <a:ext cx="1453896" cy="146304"/>
          </a:xfrm>
          <a:prstGeom prst="rect">
            <a:avLst/>
          </a:prstGeom>
          <a:noFill/>
          <a:ln/>
        </p:spPr>
        <p:txBody>
          <a:bodyPr wrap="square" lIns="0" tIns="0" rIns="0" bIns="0" rtlCol="0" anchor="ctr"/>
          <a:lstStyle/>
          <a:p>
            <a:pPr algn="ctr" indent="0" marL="0">
              <a:buNone/>
            </a:pPr>
            <a:r>
              <a:rPr lang="en-US" sz="800" b="1" dirty="0">
                <a:solidFill>
                  <a:srgbClr val="0B1020"/>
                </a:solidFill>
              </a:rPr>
              <a:t>Q&amp;A</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020"/>
        </a:solidFill>
      </p:bgPr>
    </p:bg>
    <p:spTree>
      <p:nvGrpSpPr>
        <p:cNvPr id="1" name=""/>
        <p:cNvGrpSpPr/>
        <p:nvPr/>
      </p:nvGrpSpPr>
      <p:grpSpPr>
        <a:xfrm>
          <a:off x="0" y="0"/>
          <a:ext cx="0" cy="0"/>
          <a:chOff x="0" y="0"/>
          <a:chExt cx="0" cy="0"/>
        </a:xfrm>
      </p:grpSpPr>
      <p:sp>
        <p:nvSpPr>
          <p:cNvPr id="2" name="Text 0"/>
          <p:cNvSpPr/>
          <p:nvPr/>
        </p:nvSpPr>
        <p:spPr>
          <a:xfrm>
            <a:off x="502920" y="320040"/>
            <a:ext cx="7863840" cy="438912"/>
          </a:xfrm>
          <a:prstGeom prst="rect">
            <a:avLst/>
          </a:prstGeom>
          <a:noFill/>
          <a:ln/>
        </p:spPr>
        <p:txBody>
          <a:bodyPr wrap="square" lIns="0" tIns="0" rIns="0" bIns="0" rtlCol="0" anchor="ctr"/>
          <a:lstStyle/>
          <a:p>
            <a:pPr indent="0" marL="0">
              <a:buNone/>
            </a:pPr>
            <a:r>
              <a:rPr lang="en-US" sz="2600" b="1" dirty="0">
                <a:solidFill>
                  <a:srgbClr val="F8FAFC"/>
                </a:solidFill>
                <a:latin typeface="Aptos Display" pitchFamily="34" charset="0"/>
                <a:ea typeface="Aptos Display" pitchFamily="34" charset="-122"/>
                <a:cs typeface="Aptos Display" pitchFamily="34" charset="-120"/>
              </a:rPr>
              <a:t>Sources</a:t>
            </a:r>
            <a:endParaRPr lang="en-US" sz="2600" dirty="0"/>
          </a:p>
        </p:txBody>
      </p:sp>
      <p:sp>
        <p:nvSpPr>
          <p:cNvPr id="3" name="Text 1"/>
          <p:cNvSpPr/>
          <p:nvPr/>
        </p:nvSpPr>
        <p:spPr>
          <a:xfrm>
            <a:off x="521208" y="822960"/>
            <a:ext cx="7863840" cy="256032"/>
          </a:xfrm>
          <a:prstGeom prst="rect">
            <a:avLst/>
          </a:prstGeom>
          <a:noFill/>
          <a:ln/>
        </p:spPr>
        <p:txBody>
          <a:bodyPr wrap="square" lIns="0" tIns="0" rIns="0" bIns="0" rtlCol="0" anchor="ctr"/>
          <a:lstStyle/>
          <a:p>
            <a:pPr indent="0" marL="0">
              <a:buNone/>
            </a:pPr>
            <a:r>
              <a:rPr lang="en-US" sz="950" dirty="0">
                <a:solidFill>
                  <a:srgbClr val="CBD5E1"/>
                </a:solidFill>
              </a:rPr>
              <a:t>Reliable references used for the research.</a:t>
            </a:r>
            <a:endParaRPr lang="en-US" sz="950" dirty="0"/>
          </a:p>
        </p:txBody>
      </p:sp>
      <p:sp>
        <p:nvSpPr>
          <p:cNvPr id="4" name="Text 2"/>
          <p:cNvSpPr/>
          <p:nvPr/>
        </p:nvSpPr>
        <p:spPr>
          <a:xfrm>
            <a:off x="9555480" y="438912"/>
            <a:ext cx="2057400" cy="201168"/>
          </a:xfrm>
          <a:prstGeom prst="rect">
            <a:avLst/>
          </a:prstGeom>
          <a:noFill/>
          <a:ln/>
        </p:spPr>
        <p:txBody>
          <a:bodyPr wrap="square" lIns="0" tIns="0" rIns="0" bIns="0" rtlCol="0" anchor="ctr"/>
          <a:lstStyle/>
          <a:p>
            <a:pPr algn="r" indent="0" marL="0">
              <a:buNone/>
            </a:pPr>
            <a:r>
              <a:rPr lang="en-US" sz="850" dirty="0">
                <a:solidFill>
                  <a:srgbClr val="94A3B8"/>
                </a:solidFill>
              </a:rPr>
              <a:t>TensorFlow vs PyTorch</a:t>
            </a:r>
            <a:endParaRPr lang="en-US" sz="850" dirty="0"/>
          </a:p>
        </p:txBody>
      </p:sp>
      <p:sp>
        <p:nvSpPr>
          <p:cNvPr id="5" name="Shape 3"/>
          <p:cNvSpPr/>
          <p:nvPr/>
        </p:nvSpPr>
        <p:spPr>
          <a:xfrm>
            <a:off x="822960" y="1143000"/>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6" name="Text 4"/>
          <p:cNvSpPr/>
          <p:nvPr/>
        </p:nvSpPr>
        <p:spPr>
          <a:xfrm>
            <a:off x="1051560" y="1252728"/>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TensorFlow official documentation — “An end-to-end platform for machine learning.” https://www.tensorflow.org/</a:t>
            </a:r>
            <a:endParaRPr lang="en-US" sz="880" dirty="0"/>
          </a:p>
        </p:txBody>
      </p:sp>
      <p:sp>
        <p:nvSpPr>
          <p:cNvPr id="7" name="Shape 5"/>
          <p:cNvSpPr/>
          <p:nvPr/>
        </p:nvSpPr>
        <p:spPr>
          <a:xfrm>
            <a:off x="822960" y="1810512"/>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8" name="Text 6"/>
          <p:cNvSpPr/>
          <p:nvPr/>
        </p:nvSpPr>
        <p:spPr>
          <a:xfrm>
            <a:off x="1051560" y="1920240"/>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TensorFlow Learn / Deployment docs — Serving, Lite, mobile, browser, cloud, and edge deployment. https://www.tensorflow.org/learn</a:t>
            </a:r>
            <a:endParaRPr lang="en-US" sz="880" dirty="0"/>
          </a:p>
        </p:txBody>
      </p:sp>
      <p:sp>
        <p:nvSpPr>
          <p:cNvPr id="9" name="Shape 7"/>
          <p:cNvSpPr/>
          <p:nvPr/>
        </p:nvSpPr>
        <p:spPr>
          <a:xfrm>
            <a:off x="822960" y="2478024"/>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10" name="Text 8"/>
          <p:cNvSpPr/>
          <p:nvPr/>
        </p:nvSpPr>
        <p:spPr>
          <a:xfrm>
            <a:off x="1051560" y="2587752"/>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Google Open Source Blog — TensorFlow open-source release and Google product examples. https://opensource.googleblog.com/2015/11/tensorflow-googles-latest-machine.html</a:t>
            </a:r>
            <a:endParaRPr lang="en-US" sz="880" dirty="0"/>
          </a:p>
        </p:txBody>
      </p:sp>
      <p:sp>
        <p:nvSpPr>
          <p:cNvPr id="11" name="Shape 9"/>
          <p:cNvSpPr/>
          <p:nvPr/>
        </p:nvSpPr>
        <p:spPr>
          <a:xfrm>
            <a:off x="822960" y="3145536"/>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12" name="Text 10"/>
          <p:cNvSpPr/>
          <p:nvPr/>
        </p:nvSpPr>
        <p:spPr>
          <a:xfrm>
            <a:off x="1051560" y="3255264"/>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TensorFlow white paper — Large-scale ML system released in November 2015. https://download.tensorflow.org/paper/whitepaper2015.pdf</a:t>
            </a:r>
            <a:endParaRPr lang="en-US" sz="880" dirty="0"/>
          </a:p>
        </p:txBody>
      </p:sp>
      <p:sp>
        <p:nvSpPr>
          <p:cNvPr id="13" name="Shape 11"/>
          <p:cNvSpPr/>
          <p:nvPr/>
        </p:nvSpPr>
        <p:spPr>
          <a:xfrm>
            <a:off x="822960" y="3813048"/>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14" name="Text 12"/>
          <p:cNvSpPr/>
          <p:nvPr/>
        </p:nvSpPr>
        <p:spPr>
          <a:xfrm>
            <a:off x="1051560" y="3922776"/>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PyTorch official website and 2.x docs — ecosystem and torch.compile. https://pytorch.org/</a:t>
            </a:r>
            <a:endParaRPr lang="en-US" sz="880" dirty="0"/>
          </a:p>
        </p:txBody>
      </p:sp>
      <p:sp>
        <p:nvSpPr>
          <p:cNvPr id="15" name="Shape 13"/>
          <p:cNvSpPr/>
          <p:nvPr/>
        </p:nvSpPr>
        <p:spPr>
          <a:xfrm>
            <a:off x="822960" y="4480560"/>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16" name="Text 14"/>
          <p:cNvSpPr/>
          <p:nvPr/>
        </p:nvSpPr>
        <p:spPr>
          <a:xfrm>
            <a:off x="1051560" y="4590288"/>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Paszke et al. (2019), “PyTorch: An Imperative Style, High-Performance Deep Learning Library,” NeurIPS.</a:t>
            </a:r>
            <a:endParaRPr lang="en-US" sz="880" dirty="0"/>
          </a:p>
        </p:txBody>
      </p:sp>
      <p:sp>
        <p:nvSpPr>
          <p:cNvPr id="17" name="Shape 15"/>
          <p:cNvSpPr/>
          <p:nvPr/>
        </p:nvSpPr>
        <p:spPr>
          <a:xfrm>
            <a:off x="822960" y="5148072"/>
            <a:ext cx="10561320" cy="420624"/>
          </a:xfrm>
          <a:prstGeom prst="roundRect">
            <a:avLst>
              <a:gd name="adj" fmla="val 17391"/>
            </a:avLst>
          </a:prstGeom>
          <a:solidFill>
            <a:srgbClr val="FFFFFF">
              <a:alpha val="93000"/>
            </a:srgbClr>
          </a:solidFill>
          <a:ln w="12700">
            <a:solidFill>
              <a:srgbClr val="334155">
                <a:alpha val="45000"/>
              </a:srgbClr>
            </a:solidFill>
            <a:prstDash val="solid"/>
          </a:ln>
        </p:spPr>
      </p:sp>
      <p:sp>
        <p:nvSpPr>
          <p:cNvPr id="18" name="Text 16"/>
          <p:cNvSpPr/>
          <p:nvPr/>
        </p:nvSpPr>
        <p:spPr>
          <a:xfrm>
            <a:off x="1051560" y="5257800"/>
            <a:ext cx="10104120" cy="164592"/>
          </a:xfrm>
          <a:prstGeom prst="rect">
            <a:avLst/>
          </a:prstGeom>
          <a:noFill/>
          <a:ln/>
        </p:spPr>
        <p:txBody>
          <a:bodyPr wrap="square" lIns="0" tIns="0" rIns="0" bIns="0" rtlCol="0" anchor="ctr">
            <a:normAutofit/>
          </a:bodyPr>
          <a:lstStyle/>
          <a:p>
            <a:pPr indent="0" marL="0">
              <a:buNone/>
            </a:pPr>
            <a:r>
              <a:rPr lang="en-US" sz="880" dirty="0">
                <a:solidFill>
                  <a:srgbClr val="64748B"/>
                </a:solidFill>
              </a:rPr>
              <a:t>Meta AI Blog — PyTorch history and dynamic computational graph benefits. https://ai.meta.com/blog/pytorch-builds-the-future-of-ai-and-machine-learning-at-facebook/</a:t>
            </a:r>
            <a:endParaRPr lang="en-US" sz="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TensorFlow vs PyTorch</dc:title>
  <dc:subject>TensorFlow vs PyTorch comparison presentation</dc:subject>
  <dc:creator>OpenAI</dc:creator>
  <cp:lastModifiedBy>OpenAI</cp:lastModifiedBy>
  <cp:revision>1</cp:revision>
  <dcterms:created xsi:type="dcterms:W3CDTF">2026-08-30T22:03:11Z</dcterms:created>
  <dcterms:modified xsi:type="dcterms:W3CDTF">2026-08-30T22:03:11Z</dcterms:modified>
</cp:coreProperties>
</file>