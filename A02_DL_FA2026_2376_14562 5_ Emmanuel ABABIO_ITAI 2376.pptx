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ptos Bold" charset="1" panose="020B0004020202020204"/>
      <p:regular r:id="rId18"/>
    </p:embeddedFont>
    <p:embeddedFont>
      <p:font typeface="Aptos" charset="1" panose="020B0004020202020204"/>
      <p:regular r:id="rId19"/>
    </p:embeddedFont>
    <p:embeddedFont>
      <p:font typeface="Aptos Italics" charset="1" panose="020B000402020209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367" y="196367"/>
            <a:ext cx="540677" cy="540677"/>
            <a:chOff x="0" y="0"/>
            <a:chExt cx="720903" cy="720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0852" cy="720852"/>
            </a:xfrm>
            <a:custGeom>
              <a:avLst/>
              <a:gdLst/>
              <a:ahLst/>
              <a:cxnLst/>
              <a:rect r="r" b="b" t="t" l="l"/>
              <a:pathLst>
                <a:path h="720852" w="720852">
                  <a:moveTo>
                    <a:pt x="0" y="0"/>
                  </a:moveTo>
                  <a:lnTo>
                    <a:pt x="720852" y="0"/>
                  </a:lnTo>
                  <a:lnTo>
                    <a:pt x="720852" y="720852"/>
                  </a:lnTo>
                  <a:lnTo>
                    <a:pt x="0" y="720852"/>
                  </a:lnTo>
                  <a:close/>
                </a:path>
              </a:pathLst>
            </a:custGeom>
            <a:solidFill>
              <a:srgbClr val="FFF2B8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54769" y="9530544"/>
            <a:ext cx="499501" cy="499501"/>
            <a:chOff x="0" y="0"/>
            <a:chExt cx="666001" cy="666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5988" cy="665988"/>
            </a:xfrm>
            <a:custGeom>
              <a:avLst/>
              <a:gdLst/>
              <a:ahLst/>
              <a:cxnLst/>
              <a:rect r="r" b="b" t="t" l="l"/>
              <a:pathLst>
                <a:path h="665988" w="665988">
                  <a:moveTo>
                    <a:pt x="0" y="0"/>
                  </a:moveTo>
                  <a:lnTo>
                    <a:pt x="665988" y="0"/>
                  </a:lnTo>
                  <a:lnTo>
                    <a:pt x="665988" y="665988"/>
                  </a:lnTo>
                  <a:lnTo>
                    <a:pt x="0" y="665988"/>
                  </a:lnTo>
                  <a:close/>
                </a:path>
              </a:pathLst>
            </a:custGeom>
            <a:solidFill>
              <a:srgbClr val="DFF7EF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9500" y="1441304"/>
            <a:ext cx="7549696" cy="1715843"/>
            <a:chOff x="0" y="0"/>
            <a:chExt cx="10066261" cy="22877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66265" cy="2287787"/>
            </a:xfrm>
            <a:custGeom>
              <a:avLst/>
              <a:gdLst/>
              <a:ahLst/>
              <a:cxnLst/>
              <a:rect r="r" b="b" t="t" l="l"/>
              <a:pathLst>
                <a:path h="2287787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2287787"/>
                  </a:lnTo>
                  <a:lnTo>
                    <a:pt x="0" y="22877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066261" cy="2287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466"/>
                </a:lnSpc>
              </a:pPr>
              <a:r>
                <a:rPr lang="en-US" sz="7055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PLATFORM</a:t>
              </a:r>
            </a:p>
            <a:p>
              <a:pPr algn="l">
                <a:lnSpc>
                  <a:spcPts val="8466"/>
                </a:lnSpc>
              </a:pPr>
              <a:r>
                <a:rPr lang="en-US" sz="7055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COMPARISON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84412" y="3678765"/>
            <a:ext cx="7961500" cy="494167"/>
            <a:chOff x="0" y="0"/>
            <a:chExt cx="10615333" cy="6588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15333" cy="658883"/>
            </a:xfrm>
            <a:custGeom>
              <a:avLst/>
              <a:gdLst/>
              <a:ahLst/>
              <a:cxnLst/>
              <a:rect r="r" b="b" t="t" l="l"/>
              <a:pathLst>
                <a:path h="658883" w="10615333">
                  <a:moveTo>
                    <a:pt x="0" y="0"/>
                  </a:moveTo>
                  <a:lnTo>
                    <a:pt x="10615333" y="0"/>
                  </a:lnTo>
                  <a:lnTo>
                    <a:pt x="10615333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925" r="0" b="-26392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0615333" cy="658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>
                  <a:solidFill>
                    <a:srgbClr val="586174"/>
                  </a:solidFill>
                  <a:latin typeface="Aptos"/>
                  <a:ea typeface="Aptos"/>
                  <a:cs typeface="Aptos"/>
                  <a:sym typeface="Aptos"/>
                </a:rPr>
                <a:t>Hugging Face Transformers vs OpenAI API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51872" y="1853108"/>
            <a:ext cx="3912118" cy="1070686"/>
            <a:chOff x="0" y="0"/>
            <a:chExt cx="5216157" cy="14275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6144" cy="1427607"/>
            </a:xfrm>
            <a:custGeom>
              <a:avLst/>
              <a:gdLst/>
              <a:ahLst/>
              <a:cxnLst/>
              <a:rect r="r" b="b" t="t" l="l"/>
              <a:pathLst>
                <a:path h="1427607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427607"/>
                  </a:lnTo>
                  <a:lnTo>
                    <a:pt x="0" y="1427607"/>
                  </a:lnTo>
                  <a:close/>
                </a:path>
              </a:pathLst>
            </a:custGeom>
            <a:solidFill>
              <a:srgbClr val="FFF2B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216157" cy="1427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🤗  Hugging Face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51872" y="3225784"/>
            <a:ext cx="3912118" cy="1070686"/>
            <a:chOff x="0" y="0"/>
            <a:chExt cx="5216157" cy="14275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16144" cy="1427607"/>
            </a:xfrm>
            <a:custGeom>
              <a:avLst/>
              <a:gdLst/>
              <a:ahLst/>
              <a:cxnLst/>
              <a:rect r="r" b="b" t="t" l="l"/>
              <a:pathLst>
                <a:path h="1427607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427607"/>
                  </a:lnTo>
                  <a:lnTo>
                    <a:pt x="0" y="1427607"/>
                  </a:lnTo>
                  <a:close/>
                </a:path>
              </a:pathLst>
            </a:custGeom>
            <a:solidFill>
              <a:srgbClr val="DFF7E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16157" cy="1427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◎  OpenAI API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5383920">
            <a:off x="6672967" y="3962257"/>
            <a:ext cx="5102771" cy="0"/>
          </a:xfrm>
          <a:prstGeom prst="line">
            <a:avLst/>
          </a:prstGeom>
          <a:ln cap="rnd" w="9525">
            <a:solidFill>
              <a:srgbClr val="D2D8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070686" y="7892863"/>
            <a:ext cx="10706843" cy="343167"/>
            <a:chOff x="0" y="0"/>
            <a:chExt cx="14275791" cy="4575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275794" cy="457557"/>
            </a:xfrm>
            <a:custGeom>
              <a:avLst/>
              <a:gdLst/>
              <a:ahLst/>
              <a:cxnLst/>
              <a:rect r="r" b="b" t="t" l="l"/>
              <a:pathLst>
                <a:path h="457557" w="14275794">
                  <a:moveTo>
                    <a:pt x="0" y="0"/>
                  </a:moveTo>
                  <a:lnTo>
                    <a:pt x="14275794" y="0"/>
                  </a:lnTo>
                  <a:lnTo>
                    <a:pt x="14275794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933" r="0" b="-55793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4275791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586174"/>
                  </a:solidFill>
                  <a:latin typeface="Aptos"/>
                  <a:ea typeface="Aptos"/>
                  <a:cs typeface="Aptos"/>
                  <a:sym typeface="Aptos"/>
                </a:rPr>
                <a:t>Background  •  Key features  •  Comparison  •  Best use cases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70686" y="8510568"/>
            <a:ext cx="10432313" cy="343167"/>
            <a:chOff x="0" y="0"/>
            <a:chExt cx="13909751" cy="4575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909746" cy="457557"/>
            </a:xfrm>
            <a:custGeom>
              <a:avLst/>
              <a:gdLst/>
              <a:ahLst/>
              <a:cxnLst/>
              <a:rect r="r" b="b" t="t" l="l"/>
              <a:pathLst>
                <a:path h="457557" w="13909746">
                  <a:moveTo>
                    <a:pt x="0" y="0"/>
                  </a:moveTo>
                  <a:lnTo>
                    <a:pt x="13909746" y="0"/>
                  </a:lnTo>
                  <a:lnTo>
                    <a:pt x="13909746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345" r="0" b="-54234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3909751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778195"/>
                  </a:solidFill>
                  <a:latin typeface="Aptos"/>
                  <a:ea typeface="Aptos"/>
                  <a:cs typeface="Aptos"/>
                  <a:sym typeface="Aptos"/>
                </a:rPr>
                <a:t>ITAI Deep Learning | Houston Community College | September 2026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952500" y="9636157"/>
            <a:ext cx="343167" cy="301990"/>
            <a:chOff x="0" y="0"/>
            <a:chExt cx="457556" cy="40265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7557" cy="402651"/>
            </a:xfrm>
            <a:custGeom>
              <a:avLst/>
              <a:gdLst/>
              <a:ahLst/>
              <a:cxnLst/>
              <a:rect r="r" b="b" t="t" l="l"/>
              <a:pathLst>
                <a:path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908" t="0" r="-62907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778195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87573" y="9422797"/>
            <a:ext cx="569927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</a:t>
            </a: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ames : Emmanuel ABABIO, Robert Thompson, Olis Bahari</a:t>
            </a:r>
          </a:p>
          <a:p>
            <a:pPr algn="l">
              <a:lnSpc>
                <a:spcPts val="167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367" y="196367"/>
            <a:ext cx="540677" cy="540677"/>
            <a:chOff x="0" y="0"/>
            <a:chExt cx="720903" cy="720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0852" cy="720852"/>
            </a:xfrm>
            <a:custGeom>
              <a:avLst/>
              <a:gdLst/>
              <a:ahLst/>
              <a:cxnLst/>
              <a:rect r="r" b="b" t="t" l="l"/>
              <a:pathLst>
                <a:path h="720852" w="720852">
                  <a:moveTo>
                    <a:pt x="0" y="0"/>
                  </a:moveTo>
                  <a:lnTo>
                    <a:pt x="720852" y="0"/>
                  </a:lnTo>
                  <a:lnTo>
                    <a:pt x="720852" y="720852"/>
                  </a:lnTo>
                  <a:lnTo>
                    <a:pt x="0" y="720852"/>
                  </a:lnTo>
                  <a:close/>
                </a:path>
              </a:pathLst>
            </a:custGeom>
            <a:solidFill>
              <a:srgbClr val="FFF2B8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54769" y="9530544"/>
            <a:ext cx="499501" cy="499501"/>
            <a:chOff x="0" y="0"/>
            <a:chExt cx="666001" cy="666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5988" cy="665988"/>
            </a:xfrm>
            <a:custGeom>
              <a:avLst/>
              <a:gdLst/>
              <a:ahLst/>
              <a:cxnLst/>
              <a:rect r="r" b="b" t="t" l="l"/>
              <a:pathLst>
                <a:path h="665988" w="665988">
                  <a:moveTo>
                    <a:pt x="0" y="0"/>
                  </a:moveTo>
                  <a:lnTo>
                    <a:pt x="665988" y="0"/>
                  </a:lnTo>
                  <a:lnTo>
                    <a:pt x="665988" y="665988"/>
                  </a:lnTo>
                  <a:lnTo>
                    <a:pt x="0" y="665988"/>
                  </a:lnTo>
                  <a:close/>
                </a:path>
              </a:pathLst>
            </a:custGeom>
            <a:solidFill>
              <a:srgbClr val="DFF7EF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521618"/>
            <a:ext cx="13040392" cy="576520"/>
            <a:chOff x="0" y="0"/>
            <a:chExt cx="17387189" cy="768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87184" cy="768697"/>
            </a:xfrm>
            <a:custGeom>
              <a:avLst/>
              <a:gdLst/>
              <a:ahLst/>
              <a:cxnLst/>
              <a:rect r="r" b="b" t="t" l="l"/>
              <a:pathLst>
                <a:path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33" r="0" b="-3907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big question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5961" y="1194225"/>
            <a:ext cx="14275794" cy="411804"/>
            <a:chOff x="0" y="0"/>
            <a:chExt cx="19034392" cy="549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34390" cy="549069"/>
            </a:xfrm>
            <a:custGeom>
              <a:avLst/>
              <a:gdLst/>
              <a:ahLst/>
              <a:cxnLst/>
              <a:rect r="r" b="b" t="t" l="l"/>
              <a:pathLst>
                <a:path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5481" r="0" b="-62548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86174"/>
                  </a:solidFill>
                  <a:latin typeface="Aptos"/>
                  <a:ea typeface="Aptos"/>
                  <a:cs typeface="Aptos"/>
                  <a:sym typeface="Aptos"/>
                </a:rPr>
                <a:t>Both tools are powerful, but they solve different problems.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66774" y="2402176"/>
            <a:ext cx="7137892" cy="1978852"/>
            <a:chOff x="0" y="0"/>
            <a:chExt cx="9517190" cy="26384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17195" cy="2638462"/>
            </a:xfrm>
            <a:custGeom>
              <a:avLst/>
              <a:gdLst/>
              <a:ahLst/>
              <a:cxnLst/>
              <a:rect r="r" b="b" t="t" l="l"/>
              <a:pathLst>
                <a:path h="2638462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2638462"/>
                  </a:lnTo>
                  <a:lnTo>
                    <a:pt x="0" y="26384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00" r="0" b="-496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9517190" cy="2628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 I need more control,</a:t>
              </a:r>
            </a:p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 do I need faster production results?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4323921"/>
            <a:ext cx="7412431" cy="769162"/>
            <a:chOff x="0" y="0"/>
            <a:chExt cx="9883242" cy="10255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83241" cy="1025555"/>
            </a:xfrm>
            <a:custGeom>
              <a:avLst/>
              <a:gdLst/>
              <a:ahLst/>
              <a:cxnLst/>
              <a:rect r="r" b="b" t="t" l="l"/>
              <a:pathLst>
                <a:path h="1025555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1025555"/>
                  </a:lnTo>
                  <a:lnTo>
                    <a:pt x="0" y="10255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546" r="0" b="-11900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9883242" cy="102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This presentation compares the two platforms using four lenses: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3716" y="5401466"/>
            <a:ext cx="1400127" cy="494162"/>
            <a:chOff x="0" y="0"/>
            <a:chExt cx="1866836" cy="6588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66773" cy="658870"/>
            </a:xfrm>
            <a:custGeom>
              <a:avLst/>
              <a:gdLst/>
              <a:ahLst/>
              <a:cxnLst/>
              <a:rect r="r" b="b" t="t" l="l"/>
              <a:pathLst>
                <a:path h="658870" w="1866773">
                  <a:moveTo>
                    <a:pt x="0" y="0"/>
                  </a:moveTo>
                  <a:lnTo>
                    <a:pt x="1866773" y="0"/>
                  </a:lnTo>
                  <a:lnTo>
                    <a:pt x="1866773" y="658870"/>
                  </a:lnTo>
                  <a:lnTo>
                    <a:pt x="0" y="65887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866836" cy="658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7"/>
                </a:lnSpc>
              </a:pPr>
              <a:r>
                <a:rPr lang="en-US" sz="160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Origin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908373" y="5401466"/>
            <a:ext cx="1400127" cy="494162"/>
            <a:chOff x="0" y="0"/>
            <a:chExt cx="1866836" cy="6588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66773" cy="658870"/>
            </a:xfrm>
            <a:custGeom>
              <a:avLst/>
              <a:gdLst/>
              <a:ahLst/>
              <a:cxnLst/>
              <a:rect r="r" b="b" t="t" l="l"/>
              <a:pathLst>
                <a:path h="658870" w="1866773">
                  <a:moveTo>
                    <a:pt x="0" y="0"/>
                  </a:moveTo>
                  <a:lnTo>
                    <a:pt x="1866773" y="0"/>
                  </a:lnTo>
                  <a:lnTo>
                    <a:pt x="1866773" y="658870"/>
                  </a:lnTo>
                  <a:lnTo>
                    <a:pt x="0" y="65887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866836" cy="658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7"/>
                </a:lnSpc>
              </a:pPr>
              <a:r>
                <a:rPr lang="en-US" sz="160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Features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584725" y="5401470"/>
            <a:ext cx="1400127" cy="494162"/>
            <a:chOff x="0" y="0"/>
            <a:chExt cx="1866836" cy="65888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66773" cy="658870"/>
            </a:xfrm>
            <a:custGeom>
              <a:avLst/>
              <a:gdLst/>
              <a:ahLst/>
              <a:cxnLst/>
              <a:rect r="r" b="b" t="t" l="l"/>
              <a:pathLst>
                <a:path h="658870" w="1866773">
                  <a:moveTo>
                    <a:pt x="0" y="0"/>
                  </a:moveTo>
                  <a:lnTo>
                    <a:pt x="1866773" y="0"/>
                  </a:lnTo>
                  <a:lnTo>
                    <a:pt x="1866773" y="658870"/>
                  </a:lnTo>
                  <a:lnTo>
                    <a:pt x="0" y="658870"/>
                  </a:lnTo>
                  <a:close/>
                </a:path>
              </a:pathLst>
            </a:custGeom>
            <a:solidFill>
              <a:srgbClr val="10A37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866836" cy="658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7"/>
                </a:lnSpc>
              </a:pPr>
              <a:r>
                <a:rPr lang="en-US" sz="160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Usability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261078" y="5401466"/>
            <a:ext cx="1400127" cy="494162"/>
            <a:chOff x="0" y="0"/>
            <a:chExt cx="1866836" cy="65888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66773" cy="658870"/>
            </a:xfrm>
            <a:custGeom>
              <a:avLst/>
              <a:gdLst/>
              <a:ahLst/>
              <a:cxnLst/>
              <a:rect r="r" b="b" t="t" l="l"/>
              <a:pathLst>
                <a:path h="658870" w="1866773">
                  <a:moveTo>
                    <a:pt x="0" y="0"/>
                  </a:moveTo>
                  <a:lnTo>
                    <a:pt x="1866773" y="0"/>
                  </a:lnTo>
                  <a:lnTo>
                    <a:pt x="1866773" y="658870"/>
                  </a:lnTo>
                  <a:lnTo>
                    <a:pt x="0" y="65887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866836" cy="658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7"/>
                </a:lnSpc>
              </a:pPr>
              <a:r>
                <a:rPr lang="en-US" sz="160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Scalability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45970" y="2813980"/>
            <a:ext cx="2470814" cy="576520"/>
            <a:chOff x="0" y="0"/>
            <a:chExt cx="3294418" cy="7686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94380" cy="768731"/>
            </a:xfrm>
            <a:custGeom>
              <a:avLst/>
              <a:gdLst/>
              <a:ahLst/>
              <a:cxnLst/>
              <a:rect r="r" b="b" t="t" l="l"/>
              <a:pathLst>
                <a:path h="76873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FF2B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294418" cy="768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CONTROL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246284" y="2813980"/>
            <a:ext cx="2470814" cy="576520"/>
            <a:chOff x="0" y="0"/>
            <a:chExt cx="3294418" cy="7686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94380" cy="768731"/>
            </a:xfrm>
            <a:custGeom>
              <a:avLst/>
              <a:gdLst/>
              <a:ahLst/>
              <a:cxnLst/>
              <a:rect r="r" b="b" t="t" l="l"/>
              <a:pathLst>
                <a:path h="76873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DFF7E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294418" cy="768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SPEED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77343" y="4186647"/>
            <a:ext cx="6108392" cy="892235"/>
            <a:chOff x="0" y="0"/>
            <a:chExt cx="8144523" cy="118964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44523" cy="1189649"/>
            </a:xfrm>
            <a:custGeom>
              <a:avLst/>
              <a:gdLst/>
              <a:ahLst/>
              <a:cxnLst/>
              <a:rect r="r" b="b" t="t" l="l"/>
              <a:pathLst>
                <a:path h="1189649" w="8144523">
                  <a:moveTo>
                    <a:pt x="0" y="0"/>
                  </a:moveTo>
                  <a:lnTo>
                    <a:pt x="8144523" y="0"/>
                  </a:lnTo>
                  <a:lnTo>
                    <a:pt x="8144523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397" r="0" b="-8339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8144523" cy="1189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The right answer depends on what your project values more.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952500" y="9636157"/>
            <a:ext cx="343167" cy="301990"/>
            <a:chOff x="0" y="0"/>
            <a:chExt cx="457556" cy="40265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57557" cy="402651"/>
            </a:xfrm>
            <a:custGeom>
              <a:avLst/>
              <a:gdLst/>
              <a:ahLst/>
              <a:cxnLst/>
              <a:rect r="r" b="b" t="t" l="l"/>
              <a:pathLst>
                <a:path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908" t="0" r="-62907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778195"/>
                  </a:solidFill>
                  <a:latin typeface="Aptos"/>
                  <a:ea typeface="Aptos"/>
                  <a:cs typeface="Aptos"/>
                  <a:sym typeface="Aptos"/>
                </a:rPr>
                <a:t>2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587573" y="9422797"/>
            <a:ext cx="569927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</a:t>
            </a: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ames : Emmanuel ABABIO, Robert Thompson, Olis Bahari</a:t>
            </a:r>
          </a:p>
          <a:p>
            <a:pPr algn="l">
              <a:lnSpc>
                <a:spcPts val="16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367" y="196367"/>
            <a:ext cx="540677" cy="540677"/>
            <a:chOff x="0" y="0"/>
            <a:chExt cx="720903" cy="720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0852" cy="720852"/>
            </a:xfrm>
            <a:custGeom>
              <a:avLst/>
              <a:gdLst/>
              <a:ahLst/>
              <a:cxnLst/>
              <a:rect r="r" b="b" t="t" l="l"/>
              <a:pathLst>
                <a:path h="720852" w="720852">
                  <a:moveTo>
                    <a:pt x="0" y="0"/>
                  </a:moveTo>
                  <a:lnTo>
                    <a:pt x="720852" y="0"/>
                  </a:lnTo>
                  <a:lnTo>
                    <a:pt x="720852" y="720852"/>
                  </a:lnTo>
                  <a:lnTo>
                    <a:pt x="0" y="720852"/>
                  </a:lnTo>
                  <a:close/>
                </a:path>
              </a:pathLst>
            </a:custGeom>
            <a:solidFill>
              <a:srgbClr val="FFF2B8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54769" y="9530544"/>
            <a:ext cx="499501" cy="499501"/>
            <a:chOff x="0" y="0"/>
            <a:chExt cx="666001" cy="666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5988" cy="665988"/>
            </a:xfrm>
            <a:custGeom>
              <a:avLst/>
              <a:gdLst/>
              <a:ahLst/>
              <a:cxnLst/>
              <a:rect r="r" b="b" t="t" l="l"/>
              <a:pathLst>
                <a:path h="665988" w="665988">
                  <a:moveTo>
                    <a:pt x="0" y="0"/>
                  </a:moveTo>
                  <a:lnTo>
                    <a:pt x="665988" y="0"/>
                  </a:lnTo>
                  <a:lnTo>
                    <a:pt x="665988" y="665988"/>
                  </a:lnTo>
                  <a:lnTo>
                    <a:pt x="0" y="665988"/>
                  </a:lnTo>
                  <a:close/>
                </a:path>
              </a:pathLst>
            </a:custGeom>
            <a:solidFill>
              <a:srgbClr val="DFF7EF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521618"/>
            <a:ext cx="13040392" cy="576520"/>
            <a:chOff x="0" y="0"/>
            <a:chExt cx="17387189" cy="768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87184" cy="768697"/>
            </a:xfrm>
            <a:custGeom>
              <a:avLst/>
              <a:gdLst/>
              <a:ahLst/>
              <a:cxnLst/>
              <a:rect r="r" b="b" t="t" l="l"/>
              <a:pathLst>
                <a:path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33" r="0" b="-3907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Background: where each tool came from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5961" y="1194225"/>
            <a:ext cx="14275794" cy="411804"/>
            <a:chOff x="0" y="0"/>
            <a:chExt cx="19034392" cy="549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34390" cy="549069"/>
            </a:xfrm>
            <a:custGeom>
              <a:avLst/>
              <a:gdLst/>
              <a:ahLst/>
              <a:cxnLst/>
              <a:rect r="r" b="b" t="t" l="l"/>
              <a:pathLst>
                <a:path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5481" r="0" b="-62548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Hugging Face grew from open-source model sharing; OpenAI grew from frontier models delivered through products and APIs.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353603" y="4648022"/>
            <a:ext cx="14754287" cy="19067"/>
          </a:xfrm>
          <a:prstGeom prst="line">
            <a:avLst/>
          </a:prstGeom>
          <a:ln cap="rnd" w="19050">
            <a:solidFill>
              <a:srgbClr val="BFC7D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980838" y="4410475"/>
            <a:ext cx="513226" cy="513226"/>
            <a:chOff x="0" y="0"/>
            <a:chExt cx="684301" cy="6843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10A37F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578569" y="3623853"/>
            <a:ext cx="1304039" cy="343167"/>
            <a:chOff x="0" y="0"/>
            <a:chExt cx="1738719" cy="4575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38718" cy="457557"/>
            </a:xfrm>
            <a:custGeom>
              <a:avLst/>
              <a:gdLst/>
              <a:ahLst/>
              <a:cxnLst/>
              <a:rect r="r" b="b" t="t" l="l"/>
              <a:pathLst>
                <a:path h="457557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73871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2015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92235" y="5188706"/>
            <a:ext cx="2608078" cy="713794"/>
            <a:chOff x="0" y="0"/>
            <a:chExt cx="3477438" cy="9517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77437" cy="951720"/>
            </a:xfrm>
            <a:custGeom>
              <a:avLst/>
              <a:gdLst/>
              <a:ahLst/>
              <a:cxnLst/>
              <a:rect r="r" b="b" t="t" l="l"/>
              <a:pathLst>
                <a:path h="951720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477438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OpenAI</a:t>
              </a:r>
            </a:p>
            <a:p>
              <a:pPr algn="ctr">
                <a:lnSpc>
                  <a:spcPts val="2071"/>
                </a:lnSpc>
              </a:pPr>
              <a:r>
                <a:rPr lang="en-US" sz="172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founded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383014" y="4410475"/>
            <a:ext cx="513226" cy="513226"/>
            <a:chOff x="0" y="0"/>
            <a:chExt cx="684301" cy="6843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FFCC4D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980755" y="3623853"/>
            <a:ext cx="1304039" cy="343167"/>
            <a:chOff x="0" y="0"/>
            <a:chExt cx="1738719" cy="4575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38718" cy="457557"/>
            </a:xfrm>
            <a:custGeom>
              <a:avLst/>
              <a:gdLst/>
              <a:ahLst/>
              <a:cxnLst/>
              <a:rect r="r" b="b" t="t" l="l"/>
              <a:pathLst>
                <a:path h="457557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73871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2016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294412" y="2402176"/>
            <a:ext cx="2608078" cy="713794"/>
            <a:chOff x="0" y="0"/>
            <a:chExt cx="3477438" cy="9517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77437" cy="951720"/>
            </a:xfrm>
            <a:custGeom>
              <a:avLst/>
              <a:gdLst/>
              <a:ahLst/>
              <a:cxnLst/>
              <a:rect r="r" b="b" t="t" l="l"/>
              <a:pathLst>
                <a:path h="951720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477438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Hugging Face</a:t>
              </a:r>
            </a:p>
            <a:p>
              <a:pPr algn="ctr">
                <a:lnSpc>
                  <a:spcPts val="2071"/>
                </a:lnSpc>
              </a:pPr>
              <a:r>
                <a:rPr lang="en-US" sz="172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founded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785200" y="4410475"/>
            <a:ext cx="513226" cy="513226"/>
            <a:chOff x="0" y="0"/>
            <a:chExt cx="684301" cy="6843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3B82F6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382931" y="3623853"/>
            <a:ext cx="1304039" cy="343167"/>
            <a:chOff x="0" y="0"/>
            <a:chExt cx="1738719" cy="4575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38718" cy="457557"/>
            </a:xfrm>
            <a:custGeom>
              <a:avLst/>
              <a:gdLst/>
              <a:ahLst/>
              <a:cxnLst/>
              <a:rect r="r" b="b" t="t" l="l"/>
              <a:pathLst>
                <a:path h="457557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73871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2017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696588" y="5188706"/>
            <a:ext cx="2608078" cy="713794"/>
            <a:chOff x="0" y="0"/>
            <a:chExt cx="3477438" cy="95172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77437" cy="951720"/>
            </a:xfrm>
            <a:custGeom>
              <a:avLst/>
              <a:gdLst/>
              <a:ahLst/>
              <a:cxnLst/>
              <a:rect r="r" b="b" t="t" l="l"/>
              <a:pathLst>
                <a:path h="951720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477438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Transformer</a:t>
              </a:r>
            </a:p>
            <a:p>
              <a:pPr algn="ctr">
                <a:lnSpc>
                  <a:spcPts val="2071"/>
                </a:lnSpc>
              </a:pPr>
              <a:r>
                <a:rPr lang="en-US" sz="172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paper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599171" y="4410475"/>
            <a:ext cx="513226" cy="513226"/>
            <a:chOff x="0" y="0"/>
            <a:chExt cx="684301" cy="68430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7C3AED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196902" y="3623853"/>
            <a:ext cx="1304039" cy="343167"/>
            <a:chOff x="0" y="0"/>
            <a:chExt cx="1738719" cy="4575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38718" cy="457557"/>
            </a:xfrm>
            <a:custGeom>
              <a:avLst/>
              <a:gdLst/>
              <a:ahLst/>
              <a:cxnLst/>
              <a:rect r="r" b="b" t="t" l="l"/>
              <a:pathLst>
                <a:path h="457557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73871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2020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510568" y="2402176"/>
            <a:ext cx="2608078" cy="713794"/>
            <a:chOff x="0" y="0"/>
            <a:chExt cx="3477438" cy="95172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77437" cy="951720"/>
            </a:xfrm>
            <a:custGeom>
              <a:avLst/>
              <a:gdLst/>
              <a:ahLst/>
              <a:cxnLst/>
              <a:rect r="r" b="b" t="t" l="l"/>
              <a:pathLst>
                <a:path h="951720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477438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OpenAI API</a:t>
              </a:r>
            </a:p>
            <a:p>
              <a:pPr algn="ctr">
                <a:lnSpc>
                  <a:spcPts val="2071"/>
                </a:lnSpc>
              </a:pPr>
              <a:r>
                <a:rPr lang="en-US" sz="172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beta / HF grows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099485" y="4410475"/>
            <a:ext cx="513226" cy="513226"/>
            <a:chOff x="0" y="0"/>
            <a:chExt cx="684301" cy="68430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172033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2697216" y="3623853"/>
            <a:ext cx="1304039" cy="343167"/>
            <a:chOff x="0" y="0"/>
            <a:chExt cx="1738719" cy="4575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38718" cy="457557"/>
            </a:xfrm>
            <a:custGeom>
              <a:avLst/>
              <a:gdLst/>
              <a:ahLst/>
              <a:cxnLst/>
              <a:rect r="r" b="b" t="t" l="l"/>
              <a:pathLst>
                <a:path h="457557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73871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Today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010882" y="5188706"/>
            <a:ext cx="2608078" cy="713794"/>
            <a:chOff x="0" y="0"/>
            <a:chExt cx="3477438" cy="95172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477437" cy="951720"/>
            </a:xfrm>
            <a:custGeom>
              <a:avLst/>
              <a:gdLst/>
              <a:ahLst/>
              <a:cxnLst/>
              <a:rect r="r" b="b" t="t" l="l"/>
              <a:pathLst>
                <a:path h="951720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3477438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Millions of models</a:t>
              </a:r>
            </a:p>
            <a:p>
              <a:pPr algn="ctr">
                <a:lnSpc>
                  <a:spcPts val="2071"/>
                </a:lnSpc>
              </a:pPr>
              <a:r>
                <a:rPr lang="en-US" sz="172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+ managed AI APIs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41304" y="7618333"/>
            <a:ext cx="4392549" cy="343167"/>
            <a:chOff x="0" y="0"/>
            <a:chExt cx="5856732" cy="4575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56736" cy="457557"/>
            </a:xfrm>
            <a:custGeom>
              <a:avLst/>
              <a:gdLst/>
              <a:ahLst/>
              <a:cxnLst/>
              <a:rect r="r" b="b" t="t" l="l"/>
              <a:pathLst>
                <a:path h="457557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408" r="0" b="-19940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585673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Hugging Face Transformers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41304" y="8098765"/>
            <a:ext cx="6588824" cy="713794"/>
            <a:chOff x="0" y="0"/>
            <a:chExt cx="8785098" cy="95172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785103" cy="951720"/>
            </a:xfrm>
            <a:custGeom>
              <a:avLst/>
              <a:gdLst/>
              <a:ahLst/>
              <a:cxnLst/>
              <a:rect r="r" b="b" t="t" l="l"/>
              <a:pathLst>
                <a:path h="951720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861" r="0" b="-12986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8785098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An open-source Python library and model ecosystem for loading, training, sharing, and deploying pretrained models.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677343" y="7618333"/>
            <a:ext cx="3294412" cy="343167"/>
            <a:chOff x="0" y="0"/>
            <a:chExt cx="4392549" cy="4575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92552" cy="457557"/>
            </a:xfrm>
            <a:custGeom>
              <a:avLst/>
              <a:gdLst/>
              <a:ahLst/>
              <a:cxnLst/>
              <a:rect r="r" b="b" t="t" l="l"/>
              <a:pathLst>
                <a:path h="457557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439254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OpenAI API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77343" y="8098765"/>
            <a:ext cx="6588824" cy="713794"/>
            <a:chOff x="0" y="0"/>
            <a:chExt cx="8785098" cy="95172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85103" cy="951720"/>
            </a:xfrm>
            <a:custGeom>
              <a:avLst/>
              <a:gdLst/>
              <a:ahLst/>
              <a:cxnLst/>
              <a:rect r="r" b="b" t="t" l="l"/>
              <a:pathLst>
                <a:path h="951720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861" r="0" b="-12986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8785098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 hosted model platform that lets developers call advanced language, vision, audio, and tool-using models through APIs.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6952500" y="9636157"/>
            <a:ext cx="343167" cy="301990"/>
            <a:chOff x="0" y="0"/>
            <a:chExt cx="457556" cy="40265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57557" cy="402651"/>
            </a:xfrm>
            <a:custGeom>
              <a:avLst/>
              <a:gdLst/>
              <a:ahLst/>
              <a:cxnLst/>
              <a:rect r="r" b="b" t="t" l="l"/>
              <a:pathLst>
                <a:path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908" t="0" r="-62907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778195"/>
                  </a:solidFill>
                  <a:latin typeface="Aptos"/>
                  <a:ea typeface="Aptos"/>
                  <a:cs typeface="Aptos"/>
                  <a:sym typeface="Aptos"/>
                </a:rPr>
                <a:t>3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587573" y="9422797"/>
            <a:ext cx="569927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</a:t>
            </a: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ames : Emmanuel ABABIO, Robert Thompson, Olis Bahari</a:t>
            </a:r>
          </a:p>
          <a:p>
            <a:pPr algn="l">
              <a:lnSpc>
                <a:spcPts val="16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367" y="196367"/>
            <a:ext cx="540677" cy="540677"/>
            <a:chOff x="0" y="0"/>
            <a:chExt cx="720903" cy="720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0852" cy="720852"/>
            </a:xfrm>
            <a:custGeom>
              <a:avLst/>
              <a:gdLst/>
              <a:ahLst/>
              <a:cxnLst/>
              <a:rect r="r" b="b" t="t" l="l"/>
              <a:pathLst>
                <a:path h="720852" w="720852">
                  <a:moveTo>
                    <a:pt x="0" y="0"/>
                  </a:moveTo>
                  <a:lnTo>
                    <a:pt x="720852" y="0"/>
                  </a:lnTo>
                  <a:lnTo>
                    <a:pt x="720852" y="720852"/>
                  </a:lnTo>
                  <a:lnTo>
                    <a:pt x="0" y="720852"/>
                  </a:lnTo>
                  <a:close/>
                </a:path>
              </a:pathLst>
            </a:custGeom>
            <a:solidFill>
              <a:srgbClr val="FFF2B8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54769" y="9530544"/>
            <a:ext cx="499501" cy="499501"/>
            <a:chOff x="0" y="0"/>
            <a:chExt cx="666001" cy="666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5988" cy="665988"/>
            </a:xfrm>
            <a:custGeom>
              <a:avLst/>
              <a:gdLst/>
              <a:ahLst/>
              <a:cxnLst/>
              <a:rect r="r" b="b" t="t" l="l"/>
              <a:pathLst>
                <a:path h="665988" w="665988">
                  <a:moveTo>
                    <a:pt x="0" y="0"/>
                  </a:moveTo>
                  <a:lnTo>
                    <a:pt x="665988" y="0"/>
                  </a:lnTo>
                  <a:lnTo>
                    <a:pt x="665988" y="665988"/>
                  </a:lnTo>
                  <a:lnTo>
                    <a:pt x="0" y="665988"/>
                  </a:lnTo>
                  <a:close/>
                </a:path>
              </a:pathLst>
            </a:custGeom>
            <a:solidFill>
              <a:srgbClr val="DFF7EF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521618"/>
            <a:ext cx="13040392" cy="576520"/>
            <a:chOff x="0" y="0"/>
            <a:chExt cx="17387189" cy="768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87184" cy="768697"/>
            </a:xfrm>
            <a:custGeom>
              <a:avLst/>
              <a:gdLst/>
              <a:ahLst/>
              <a:cxnLst/>
              <a:rect r="r" b="b" t="t" l="l"/>
              <a:pathLst>
                <a:path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33" r="0" b="-3907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Hugging Face Transformers: the open model path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5961" y="1194225"/>
            <a:ext cx="14275794" cy="411804"/>
            <a:chOff x="0" y="0"/>
            <a:chExt cx="19034392" cy="549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34390" cy="549069"/>
            </a:xfrm>
            <a:custGeom>
              <a:avLst/>
              <a:gdLst/>
              <a:ahLst/>
              <a:cxnLst/>
              <a:rect r="r" b="b" t="t" l="l"/>
              <a:pathLst>
                <a:path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5481" r="0" b="-62548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86174"/>
                  </a:solidFill>
                  <a:latin typeface="Aptos"/>
                  <a:ea typeface="Aptos"/>
                  <a:cs typeface="Aptos"/>
                  <a:sym typeface="Aptos"/>
                </a:rPr>
                <a:t>Best when the project needs access to model weights, local control, or custom fine-tuning.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2986726" y="4466525"/>
            <a:ext cx="965250" cy="0"/>
          </a:xfrm>
          <a:prstGeom prst="line">
            <a:avLst/>
          </a:prstGeom>
          <a:ln cap="rnd" w="19050">
            <a:solidFill>
              <a:srgbClr val="FFCC4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3" id="13"/>
          <p:cNvGrpSpPr/>
          <p:nvPr/>
        </p:nvGrpSpPr>
        <p:grpSpPr>
          <a:xfrm rot="0">
            <a:off x="859126" y="4068452"/>
            <a:ext cx="2127647" cy="796147"/>
            <a:chOff x="0" y="0"/>
            <a:chExt cx="2836862" cy="10615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36799" cy="1061593"/>
            </a:xfrm>
            <a:custGeom>
              <a:avLst/>
              <a:gdLst/>
              <a:ahLst/>
              <a:cxnLst/>
              <a:rect r="r" b="b" t="t" l="l"/>
              <a:pathLst>
                <a:path h="1061593" w="2836799">
                  <a:moveTo>
                    <a:pt x="0" y="0"/>
                  </a:moveTo>
                  <a:lnTo>
                    <a:pt x="2836799" y="0"/>
                  </a:lnTo>
                  <a:lnTo>
                    <a:pt x="2836799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FCC4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836862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Hub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9686" y="5696588"/>
            <a:ext cx="2539441" cy="960872"/>
            <a:chOff x="0" y="0"/>
            <a:chExt cx="3385922" cy="12811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85925" cy="1281161"/>
            </a:xfrm>
            <a:custGeom>
              <a:avLst/>
              <a:gdLst/>
              <a:ahLst/>
              <a:cxnLst/>
              <a:rect r="r" b="b" t="t" l="l"/>
              <a:pathLst>
                <a:path h="1281161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6" r="0" b="-149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385922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models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datasets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Spaces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5876314" y="4466525"/>
            <a:ext cx="1319214" cy="0"/>
          </a:xfrm>
          <a:prstGeom prst="line">
            <a:avLst/>
          </a:prstGeom>
          <a:ln cap="rnd" w="19050">
            <a:solidFill>
              <a:srgbClr val="FFCC4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3951976" y="4106482"/>
            <a:ext cx="1924381" cy="720087"/>
            <a:chOff x="0" y="0"/>
            <a:chExt cx="2836862" cy="10615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36799" cy="1061593"/>
            </a:xfrm>
            <a:custGeom>
              <a:avLst/>
              <a:gdLst/>
              <a:ahLst/>
              <a:cxnLst/>
              <a:rect r="r" b="b" t="t" l="l"/>
              <a:pathLst>
                <a:path h="1061593" w="2836799">
                  <a:moveTo>
                    <a:pt x="0" y="0"/>
                  </a:moveTo>
                  <a:lnTo>
                    <a:pt x="2836799" y="0"/>
                  </a:lnTo>
                  <a:lnTo>
                    <a:pt x="2836799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836862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Load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351372" y="5696588"/>
            <a:ext cx="2539441" cy="960872"/>
            <a:chOff x="0" y="0"/>
            <a:chExt cx="3385922" cy="12811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85925" cy="1281161"/>
            </a:xfrm>
            <a:custGeom>
              <a:avLst/>
              <a:gdLst/>
              <a:ahLst/>
              <a:cxnLst/>
              <a:rect r="r" b="b" t="t" l="l"/>
              <a:pathLst>
                <a:path h="1281161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6" r="0" b="-149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385922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pipeline()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AutoModel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Tokenizer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9143952" y="4482925"/>
            <a:ext cx="1648973" cy="110406"/>
          </a:xfrm>
          <a:prstGeom prst="line">
            <a:avLst/>
          </a:prstGeom>
          <a:ln cap="rnd" w="19050">
            <a:solidFill>
              <a:srgbClr val="FFCC4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7" id="27"/>
          <p:cNvGrpSpPr/>
          <p:nvPr/>
        </p:nvGrpSpPr>
        <p:grpSpPr>
          <a:xfrm rot="0">
            <a:off x="7016353" y="4068452"/>
            <a:ext cx="2127647" cy="828947"/>
            <a:chOff x="0" y="0"/>
            <a:chExt cx="2836862" cy="11052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36799" cy="1105326"/>
            </a:xfrm>
            <a:custGeom>
              <a:avLst/>
              <a:gdLst/>
              <a:ahLst/>
              <a:cxnLst/>
              <a:rect r="r" b="b" t="t" l="l"/>
              <a:pathLst>
                <a:path h="1105326" w="2836799">
                  <a:moveTo>
                    <a:pt x="0" y="0"/>
                  </a:moveTo>
                  <a:lnTo>
                    <a:pt x="2836799" y="0"/>
                  </a:lnTo>
                  <a:lnTo>
                    <a:pt x="2836799" y="1105326"/>
                  </a:lnTo>
                  <a:lnTo>
                    <a:pt x="0" y="11053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836862" cy="1105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Fine-tune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783049" y="5696588"/>
            <a:ext cx="2539441" cy="960872"/>
            <a:chOff x="0" y="0"/>
            <a:chExt cx="3385922" cy="128116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85925" cy="1281161"/>
            </a:xfrm>
            <a:custGeom>
              <a:avLst/>
              <a:gdLst/>
              <a:ahLst/>
              <a:cxnLst/>
              <a:rect r="r" b="b" t="t" l="l"/>
              <a:pathLst>
                <a:path h="1281161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6" r="0" b="-149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385922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Trainer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PEFT / LoRA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Accelerate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flipV="true">
            <a:off x="13048207" y="4466525"/>
            <a:ext cx="1143048" cy="16400"/>
          </a:xfrm>
          <a:prstGeom prst="line">
            <a:avLst/>
          </a:prstGeom>
          <a:ln cap="rnd" w="19050">
            <a:solidFill>
              <a:srgbClr val="FFCC4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10920608" y="4084852"/>
            <a:ext cx="2127647" cy="796147"/>
            <a:chOff x="0" y="0"/>
            <a:chExt cx="2836862" cy="106153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36799" cy="1061593"/>
            </a:xfrm>
            <a:custGeom>
              <a:avLst/>
              <a:gdLst/>
              <a:ahLst/>
              <a:cxnLst/>
              <a:rect r="r" b="b" t="t" l="l"/>
              <a:pathLst>
                <a:path h="1061593" w="2836799">
                  <a:moveTo>
                    <a:pt x="0" y="0"/>
                  </a:moveTo>
                  <a:lnTo>
                    <a:pt x="2836799" y="0"/>
                  </a:lnTo>
                  <a:lnTo>
                    <a:pt x="2836799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836862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Evaluate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214735" y="5696588"/>
            <a:ext cx="2539441" cy="960872"/>
            <a:chOff x="0" y="0"/>
            <a:chExt cx="3385922" cy="12811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385925" cy="1281161"/>
            </a:xfrm>
            <a:custGeom>
              <a:avLst/>
              <a:gdLst/>
              <a:ahLst/>
              <a:cxnLst/>
              <a:rect r="r" b="b" t="t" l="l"/>
              <a:pathLst>
                <a:path h="1281161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6" r="0" b="-149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385922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metrics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experiments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benchmarks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191255" y="4068452"/>
            <a:ext cx="2127647" cy="796147"/>
            <a:chOff x="0" y="0"/>
            <a:chExt cx="2836862" cy="106153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836799" cy="1061593"/>
            </a:xfrm>
            <a:custGeom>
              <a:avLst/>
              <a:gdLst/>
              <a:ahLst/>
              <a:cxnLst/>
              <a:rect r="r" b="b" t="t" l="l"/>
              <a:pathLst>
                <a:path h="1061593" w="2836799">
                  <a:moveTo>
                    <a:pt x="0" y="0"/>
                  </a:moveTo>
                  <a:lnTo>
                    <a:pt x="2836799" y="0"/>
                  </a:lnTo>
                  <a:lnTo>
                    <a:pt x="2836799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836862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Deploy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646412" y="5696588"/>
            <a:ext cx="2539441" cy="960872"/>
            <a:chOff x="0" y="0"/>
            <a:chExt cx="3385922" cy="128116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85925" cy="1281161"/>
            </a:xfrm>
            <a:custGeom>
              <a:avLst/>
              <a:gdLst/>
              <a:ahLst/>
              <a:cxnLst/>
              <a:rect r="r" b="b" t="t" l="l"/>
              <a:pathLst>
                <a:path h="1281161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6" r="0" b="-149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3385922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local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cloud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endpoint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63142" y="7649975"/>
            <a:ext cx="128883" cy="128883"/>
            <a:chOff x="0" y="0"/>
            <a:chExt cx="171844" cy="1718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FFCC4D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619755" y="7549696"/>
            <a:ext cx="6588824" cy="384353"/>
            <a:chOff x="0" y="0"/>
            <a:chExt cx="8785098" cy="51247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85103" cy="512464"/>
            </a:xfrm>
            <a:custGeom>
              <a:avLst/>
              <a:gdLst/>
              <a:ahLst/>
              <a:cxnLst/>
              <a:rect r="r" b="b" t="t" l="l"/>
              <a:pathLst>
                <a:path h="51246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8" r="0" b="-28402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Pretrained models reduce the need to train from zero.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63142" y="8267681"/>
            <a:ext cx="128883" cy="128883"/>
            <a:chOff x="0" y="0"/>
            <a:chExt cx="171844" cy="1718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FFCC4D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619755" y="8167402"/>
            <a:ext cx="7137892" cy="384353"/>
            <a:chOff x="0" y="0"/>
            <a:chExt cx="9517190" cy="51247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517195" cy="512464"/>
            </a:xfrm>
            <a:custGeom>
              <a:avLst/>
              <a:gdLst/>
              <a:ahLst/>
              <a:cxnLst/>
              <a:rect r="r" b="b" t="t" l="l"/>
              <a:pathLst>
                <a:path h="512464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64" r="0" b="-31186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9517190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The Pipeline API makes common tasks easier to run.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599171" y="7649975"/>
            <a:ext cx="128883" cy="128883"/>
            <a:chOff x="0" y="0"/>
            <a:chExt cx="171844" cy="1718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FFCC4D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855784" y="7549696"/>
            <a:ext cx="7137892" cy="728284"/>
            <a:chOff x="0" y="0"/>
            <a:chExt cx="9517190" cy="9710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17195" cy="971033"/>
            </a:xfrm>
            <a:custGeom>
              <a:avLst/>
              <a:gdLst/>
              <a:ahLst/>
              <a:cxnLst/>
              <a:rect r="r" b="b" t="t" l="l"/>
              <a:pathLst>
                <a:path h="971033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971033"/>
                  </a:lnTo>
                  <a:lnTo>
                    <a:pt x="0" y="9710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586" r="0" b="-11736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9517190" cy="97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Trainer, PEFT, and Accelerate support serious customization.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599171" y="8267681"/>
            <a:ext cx="128883" cy="128883"/>
            <a:chOff x="0" y="0"/>
            <a:chExt cx="171844" cy="1718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FFCC4D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855784" y="8167402"/>
            <a:ext cx="7275166" cy="764770"/>
            <a:chOff x="0" y="0"/>
            <a:chExt cx="9700222" cy="101969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700218" cy="1019681"/>
            </a:xfrm>
            <a:custGeom>
              <a:avLst/>
              <a:gdLst/>
              <a:ahLst/>
              <a:cxnLst/>
              <a:rect r="r" b="b" t="t" l="l"/>
              <a:pathLst>
                <a:path h="1019681" w="9700218">
                  <a:moveTo>
                    <a:pt x="0" y="0"/>
                  </a:moveTo>
                  <a:lnTo>
                    <a:pt x="9700218" y="0"/>
                  </a:lnTo>
                  <a:lnTo>
                    <a:pt x="9700218" y="1019681"/>
                  </a:lnTo>
                  <a:lnTo>
                    <a:pt x="0" y="10196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232" r="0" b="-11049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9700222" cy="1019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You control the deployment: laptop, server, cloud, or hosted service.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6952500" y="9636157"/>
            <a:ext cx="343167" cy="301990"/>
            <a:chOff x="0" y="0"/>
            <a:chExt cx="457556" cy="40265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57557" cy="402651"/>
            </a:xfrm>
            <a:custGeom>
              <a:avLst/>
              <a:gdLst/>
              <a:ahLst/>
              <a:cxnLst/>
              <a:rect r="r" b="b" t="t" l="l"/>
              <a:pathLst>
                <a:path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908" t="0" r="-62907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778195"/>
                  </a:solidFill>
                  <a:latin typeface="Aptos"/>
                  <a:ea typeface="Aptos"/>
                  <a:cs typeface="Aptos"/>
                  <a:sym typeface="Aptos"/>
                </a:rPr>
                <a:t>4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587573" y="9422797"/>
            <a:ext cx="569927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</a:t>
            </a: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ames : Emmanuel ABABIO, Robert Thompson, Olis Bahari</a:t>
            </a:r>
          </a:p>
          <a:p>
            <a:pPr algn="l">
              <a:lnSpc>
                <a:spcPts val="16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367" y="196367"/>
            <a:ext cx="540677" cy="540677"/>
            <a:chOff x="0" y="0"/>
            <a:chExt cx="720903" cy="720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0852" cy="720852"/>
            </a:xfrm>
            <a:custGeom>
              <a:avLst/>
              <a:gdLst/>
              <a:ahLst/>
              <a:cxnLst/>
              <a:rect r="r" b="b" t="t" l="l"/>
              <a:pathLst>
                <a:path h="720852" w="720852">
                  <a:moveTo>
                    <a:pt x="0" y="0"/>
                  </a:moveTo>
                  <a:lnTo>
                    <a:pt x="720852" y="0"/>
                  </a:lnTo>
                  <a:lnTo>
                    <a:pt x="720852" y="720852"/>
                  </a:lnTo>
                  <a:lnTo>
                    <a:pt x="0" y="720852"/>
                  </a:lnTo>
                  <a:close/>
                </a:path>
              </a:pathLst>
            </a:custGeom>
            <a:solidFill>
              <a:srgbClr val="FFF2B8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54769" y="9530544"/>
            <a:ext cx="499501" cy="499501"/>
            <a:chOff x="0" y="0"/>
            <a:chExt cx="666001" cy="666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5988" cy="665988"/>
            </a:xfrm>
            <a:custGeom>
              <a:avLst/>
              <a:gdLst/>
              <a:ahLst/>
              <a:cxnLst/>
              <a:rect r="r" b="b" t="t" l="l"/>
              <a:pathLst>
                <a:path h="665988" w="665988">
                  <a:moveTo>
                    <a:pt x="0" y="0"/>
                  </a:moveTo>
                  <a:lnTo>
                    <a:pt x="665988" y="0"/>
                  </a:lnTo>
                  <a:lnTo>
                    <a:pt x="665988" y="665988"/>
                  </a:lnTo>
                  <a:lnTo>
                    <a:pt x="0" y="665988"/>
                  </a:lnTo>
                  <a:close/>
                </a:path>
              </a:pathLst>
            </a:custGeom>
            <a:solidFill>
              <a:srgbClr val="DFF7EF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521618"/>
            <a:ext cx="13040392" cy="576520"/>
            <a:chOff x="0" y="0"/>
            <a:chExt cx="17387189" cy="768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87184" cy="768697"/>
            </a:xfrm>
            <a:custGeom>
              <a:avLst/>
              <a:gdLst/>
              <a:ahLst/>
              <a:cxnLst/>
              <a:rect r="r" b="b" t="t" l="l"/>
              <a:pathLst>
                <a:path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33" r="0" b="-3907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OpenAI API: the managed model path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5961" y="1194225"/>
            <a:ext cx="14275794" cy="411804"/>
            <a:chOff x="0" y="0"/>
            <a:chExt cx="19034392" cy="549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34390" cy="549069"/>
            </a:xfrm>
            <a:custGeom>
              <a:avLst/>
              <a:gdLst/>
              <a:ahLst/>
              <a:cxnLst/>
              <a:rect r="r" b="b" t="t" l="l"/>
              <a:pathLst>
                <a:path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5481" r="0" b="-62548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86174"/>
                  </a:solidFill>
                  <a:latin typeface="Aptos"/>
                  <a:ea typeface="Aptos"/>
                  <a:cs typeface="Aptos"/>
                  <a:sym typeface="Aptos"/>
                </a:rPr>
                <a:t>Best when the project needs strong performance quickly without managing model infrastructure.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3368002" y="5078892"/>
            <a:ext cx="1493549" cy="0"/>
          </a:xfrm>
          <a:prstGeom prst="line">
            <a:avLst/>
          </a:prstGeom>
          <a:ln cap="rnd" w="19050">
            <a:solidFill>
              <a:srgbClr val="10A37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" id="13"/>
          <p:cNvSpPr/>
          <p:nvPr/>
        </p:nvSpPr>
        <p:spPr>
          <a:xfrm>
            <a:off x="7492508" y="5078892"/>
            <a:ext cx="1651492" cy="0"/>
          </a:xfrm>
          <a:prstGeom prst="line">
            <a:avLst/>
          </a:prstGeom>
          <a:ln cap="rnd" w="19050">
            <a:solidFill>
              <a:srgbClr val="10A37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" id="14"/>
          <p:cNvSpPr/>
          <p:nvPr/>
        </p:nvSpPr>
        <p:spPr>
          <a:xfrm>
            <a:off x="11774957" y="5078892"/>
            <a:ext cx="1634884" cy="0"/>
          </a:xfrm>
          <a:prstGeom prst="line">
            <a:avLst/>
          </a:prstGeom>
          <a:ln cap="rnd" w="19050">
            <a:solidFill>
              <a:srgbClr val="10A37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5" id="15"/>
          <p:cNvGrpSpPr/>
          <p:nvPr/>
        </p:nvGrpSpPr>
        <p:grpSpPr>
          <a:xfrm rot="0">
            <a:off x="737044" y="4312482"/>
            <a:ext cx="2630957" cy="1532820"/>
            <a:chOff x="0" y="0"/>
            <a:chExt cx="3507943" cy="20437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07994" cy="2043811"/>
            </a:xfrm>
            <a:custGeom>
              <a:avLst/>
              <a:gdLst/>
              <a:ahLst/>
              <a:cxnLst/>
              <a:rect r="r" b="b" t="t" l="l"/>
              <a:pathLst>
                <a:path h="2043811" w="3507994">
                  <a:moveTo>
                    <a:pt x="0" y="0"/>
                  </a:moveTo>
                  <a:lnTo>
                    <a:pt x="3507994" y="0"/>
                  </a:lnTo>
                  <a:lnTo>
                    <a:pt x="3507994" y="2043811"/>
                  </a:lnTo>
                  <a:lnTo>
                    <a:pt x="0" y="2043811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10A37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3507943" cy="2053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</a:t>
              </a:r>
            </a:p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website</a:t>
              </a:r>
            </a:p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chatbot</a:t>
              </a:r>
            </a:p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workflow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61550" y="4312482"/>
            <a:ext cx="2630957" cy="1532820"/>
            <a:chOff x="0" y="0"/>
            <a:chExt cx="3507943" cy="204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07994" cy="2043811"/>
            </a:xfrm>
            <a:custGeom>
              <a:avLst/>
              <a:gdLst/>
              <a:ahLst/>
              <a:cxnLst/>
              <a:rect r="r" b="b" t="t" l="l"/>
              <a:pathLst>
                <a:path h="2043811" w="3507994">
                  <a:moveTo>
                    <a:pt x="0" y="0"/>
                  </a:moveTo>
                  <a:lnTo>
                    <a:pt x="3507994" y="0"/>
                  </a:lnTo>
                  <a:lnTo>
                    <a:pt x="3507994" y="2043811"/>
                  </a:lnTo>
                  <a:lnTo>
                    <a:pt x="0" y="2043811"/>
                  </a:lnTo>
                  <a:close/>
                </a:path>
              </a:pathLst>
            </a:custGeom>
            <a:solidFill>
              <a:srgbClr val="DFF7EF"/>
            </a:solidFill>
            <a:ln w="22878" cap="sq">
              <a:solidFill>
                <a:srgbClr val="10A37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3507943" cy="2053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Responses API</a:t>
              </a:r>
            </a:p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prompt</a:t>
              </a:r>
            </a:p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messages</a:t>
              </a:r>
            </a:p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tools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0" y="4312482"/>
            <a:ext cx="2630957" cy="1532820"/>
            <a:chOff x="0" y="0"/>
            <a:chExt cx="3507943" cy="2043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07994" cy="2043811"/>
            </a:xfrm>
            <a:custGeom>
              <a:avLst/>
              <a:gdLst/>
              <a:ahLst/>
              <a:cxnLst/>
              <a:rect r="r" b="b" t="t" l="l"/>
              <a:pathLst>
                <a:path h="2043811" w="3507994">
                  <a:moveTo>
                    <a:pt x="0" y="0"/>
                  </a:moveTo>
                  <a:lnTo>
                    <a:pt x="3507994" y="0"/>
                  </a:lnTo>
                  <a:lnTo>
                    <a:pt x="3507994" y="2043811"/>
                  </a:lnTo>
                  <a:lnTo>
                    <a:pt x="0" y="2043811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10A37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507943" cy="2053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OpenAI models</a:t>
              </a:r>
            </a:p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reasoning</a:t>
              </a:r>
            </a:p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vision</a:t>
              </a:r>
            </a:p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audio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409841" y="4312482"/>
            <a:ext cx="2630957" cy="1532820"/>
            <a:chOff x="0" y="0"/>
            <a:chExt cx="3507943" cy="2043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07994" cy="2043811"/>
            </a:xfrm>
            <a:custGeom>
              <a:avLst/>
              <a:gdLst/>
              <a:ahLst/>
              <a:cxnLst/>
              <a:rect r="r" b="b" t="t" l="l"/>
              <a:pathLst>
                <a:path h="2043811" w="3507994">
                  <a:moveTo>
                    <a:pt x="0" y="0"/>
                  </a:moveTo>
                  <a:lnTo>
                    <a:pt x="3507994" y="0"/>
                  </a:lnTo>
                  <a:lnTo>
                    <a:pt x="3507994" y="2043811"/>
                  </a:lnTo>
                  <a:lnTo>
                    <a:pt x="0" y="2043811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10A37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3507943" cy="2053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Output</a:t>
              </a:r>
            </a:p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answer</a:t>
              </a:r>
            </a:p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JSON</a:t>
              </a:r>
            </a:p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09941" y="7041813"/>
            <a:ext cx="5765225" cy="439255"/>
            <a:chOff x="0" y="0"/>
            <a:chExt cx="7686967" cy="5856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86966" cy="585674"/>
            </a:xfrm>
            <a:custGeom>
              <a:avLst/>
              <a:gdLst/>
              <a:ahLst/>
              <a:cxnLst/>
              <a:rect r="r" b="b" t="t" l="l"/>
              <a:pathLst>
                <a:path h="585674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7686967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Built-in tools can extend the model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09941" y="7851681"/>
            <a:ext cx="2608078" cy="494162"/>
            <a:chOff x="0" y="0"/>
            <a:chExt cx="3477438" cy="65888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77387" cy="658870"/>
            </a:xfrm>
            <a:custGeom>
              <a:avLst/>
              <a:gdLst/>
              <a:ahLst/>
              <a:cxnLst/>
              <a:rect r="r" b="b" t="t" l="l"/>
              <a:pathLst>
                <a:path h="658870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658870"/>
                  </a:lnTo>
                  <a:lnTo>
                    <a:pt x="0" y="658870"/>
                  </a:lnTo>
                  <a:close/>
                </a:path>
              </a:pathLst>
            </a:custGeom>
            <a:solidFill>
              <a:srgbClr val="10A37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477438" cy="658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7"/>
                </a:lnSpc>
              </a:pPr>
              <a:r>
                <a:rPr lang="en-US" sz="160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Web search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598451" y="7851681"/>
            <a:ext cx="2608078" cy="494162"/>
            <a:chOff x="0" y="0"/>
            <a:chExt cx="3477438" cy="6588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77387" cy="658870"/>
            </a:xfrm>
            <a:custGeom>
              <a:avLst/>
              <a:gdLst/>
              <a:ahLst/>
              <a:cxnLst/>
              <a:rect r="r" b="b" t="t" l="l"/>
              <a:pathLst>
                <a:path h="658870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658870"/>
                  </a:lnTo>
                  <a:lnTo>
                    <a:pt x="0" y="65887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477438" cy="658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7"/>
                </a:lnSpc>
              </a:pPr>
              <a:r>
                <a:rPr lang="en-US" sz="160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File search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09941" y="8592931"/>
            <a:ext cx="2608078" cy="494162"/>
            <a:chOff x="0" y="0"/>
            <a:chExt cx="3477438" cy="6588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77387" cy="658870"/>
            </a:xfrm>
            <a:custGeom>
              <a:avLst/>
              <a:gdLst/>
              <a:ahLst/>
              <a:cxnLst/>
              <a:rect r="r" b="b" t="t" l="l"/>
              <a:pathLst>
                <a:path h="658870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658870"/>
                  </a:lnTo>
                  <a:lnTo>
                    <a:pt x="0" y="658870"/>
                  </a:lnTo>
                  <a:close/>
                </a:path>
              </a:pathLst>
            </a:custGeom>
            <a:solidFill>
              <a:srgbClr val="10A37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477438" cy="658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7"/>
                </a:lnSpc>
              </a:pPr>
              <a:r>
                <a:rPr lang="en-US" sz="160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Code execution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648025" y="8592931"/>
            <a:ext cx="2608078" cy="494162"/>
            <a:chOff x="0" y="0"/>
            <a:chExt cx="3477438" cy="65888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77387" cy="658870"/>
            </a:xfrm>
            <a:custGeom>
              <a:avLst/>
              <a:gdLst/>
              <a:ahLst/>
              <a:cxnLst/>
              <a:rect r="r" b="b" t="t" l="l"/>
              <a:pathLst>
                <a:path h="658870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658870"/>
                  </a:lnTo>
                  <a:lnTo>
                    <a:pt x="0" y="65887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3477438" cy="658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7"/>
                </a:lnSpc>
              </a:pPr>
              <a:r>
                <a:rPr lang="en-US" sz="160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Structured output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77343" y="7385964"/>
            <a:ext cx="6726098" cy="1083428"/>
            <a:chOff x="0" y="0"/>
            <a:chExt cx="8968130" cy="144457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968126" cy="1444571"/>
            </a:xfrm>
            <a:custGeom>
              <a:avLst/>
              <a:gdLst/>
              <a:ahLst/>
              <a:cxnLst/>
              <a:rect r="r" b="b" t="t" l="l"/>
              <a:pathLst>
                <a:path h="1444571" w="8968126">
                  <a:moveTo>
                    <a:pt x="0" y="0"/>
                  </a:moveTo>
                  <a:lnTo>
                    <a:pt x="8968126" y="0"/>
                  </a:lnTo>
                  <a:lnTo>
                    <a:pt x="8968126" y="1444571"/>
                  </a:lnTo>
                  <a:lnTo>
                    <a:pt x="0" y="14445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355" r="0" b="-6657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8968130" cy="1454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The tradeoff: you get operational simplicity, but you do not host or directly modify the main model weights.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952500" y="9636157"/>
            <a:ext cx="343167" cy="301990"/>
            <a:chOff x="0" y="0"/>
            <a:chExt cx="457556" cy="40265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57557" cy="402651"/>
            </a:xfrm>
            <a:custGeom>
              <a:avLst/>
              <a:gdLst/>
              <a:ahLst/>
              <a:cxnLst/>
              <a:rect r="r" b="b" t="t" l="l"/>
              <a:pathLst>
                <a:path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908" t="0" r="-6290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778195"/>
                  </a:solidFill>
                  <a:latin typeface="Aptos"/>
                  <a:ea typeface="Aptos"/>
                  <a:cs typeface="Aptos"/>
                  <a:sym typeface="Aptos"/>
                </a:rPr>
                <a:t>5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477759" y="9617107"/>
            <a:ext cx="569927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</a:t>
            </a: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ames : Emmanuel ABABIO, Robert Thompson, Olis Bahari</a:t>
            </a:r>
          </a:p>
          <a:p>
            <a:pPr algn="l">
              <a:lnSpc>
                <a:spcPts val="16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367" y="196367"/>
            <a:ext cx="540677" cy="540677"/>
            <a:chOff x="0" y="0"/>
            <a:chExt cx="720903" cy="720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0852" cy="720852"/>
            </a:xfrm>
            <a:custGeom>
              <a:avLst/>
              <a:gdLst/>
              <a:ahLst/>
              <a:cxnLst/>
              <a:rect r="r" b="b" t="t" l="l"/>
              <a:pathLst>
                <a:path h="720852" w="720852">
                  <a:moveTo>
                    <a:pt x="0" y="0"/>
                  </a:moveTo>
                  <a:lnTo>
                    <a:pt x="720852" y="0"/>
                  </a:lnTo>
                  <a:lnTo>
                    <a:pt x="720852" y="720852"/>
                  </a:lnTo>
                  <a:lnTo>
                    <a:pt x="0" y="720852"/>
                  </a:lnTo>
                  <a:close/>
                </a:path>
              </a:pathLst>
            </a:custGeom>
            <a:solidFill>
              <a:srgbClr val="FFF2B8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54769" y="9530544"/>
            <a:ext cx="499501" cy="499501"/>
            <a:chOff x="0" y="0"/>
            <a:chExt cx="666001" cy="666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5988" cy="665988"/>
            </a:xfrm>
            <a:custGeom>
              <a:avLst/>
              <a:gdLst/>
              <a:ahLst/>
              <a:cxnLst/>
              <a:rect r="r" b="b" t="t" l="l"/>
              <a:pathLst>
                <a:path h="665988" w="665988">
                  <a:moveTo>
                    <a:pt x="0" y="0"/>
                  </a:moveTo>
                  <a:lnTo>
                    <a:pt x="665988" y="0"/>
                  </a:lnTo>
                  <a:lnTo>
                    <a:pt x="665988" y="665988"/>
                  </a:lnTo>
                  <a:lnTo>
                    <a:pt x="0" y="665988"/>
                  </a:lnTo>
                  <a:close/>
                </a:path>
              </a:pathLst>
            </a:custGeom>
            <a:solidFill>
              <a:srgbClr val="DFF7EF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521618"/>
            <a:ext cx="13040392" cy="576520"/>
            <a:chOff x="0" y="0"/>
            <a:chExt cx="17387189" cy="768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87184" cy="768697"/>
            </a:xfrm>
            <a:custGeom>
              <a:avLst/>
              <a:gdLst/>
              <a:ahLst/>
              <a:cxnLst/>
              <a:rect r="r" b="b" t="t" l="l"/>
              <a:pathLst>
                <a:path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33" r="0" b="-3907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Key features side-by-side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5961" y="1194225"/>
            <a:ext cx="14275794" cy="411804"/>
            <a:chOff x="0" y="0"/>
            <a:chExt cx="19034392" cy="549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34390" cy="549069"/>
            </a:xfrm>
            <a:custGeom>
              <a:avLst/>
              <a:gdLst/>
              <a:ahLst/>
              <a:cxnLst/>
              <a:rect r="r" b="b" t="t" l="l"/>
              <a:pathLst>
                <a:path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5481" r="0" b="-62548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86174"/>
                  </a:solidFill>
                  <a:latin typeface="Aptos"/>
                  <a:ea typeface="Aptos"/>
                  <a:cs typeface="Aptos"/>
                  <a:sym typeface="Aptos"/>
                </a:rPr>
                <a:t>The difference is mostly open customization versus managed capability.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2676" y="1990373"/>
            <a:ext cx="3912118" cy="1070686"/>
            <a:chOff x="0" y="0"/>
            <a:chExt cx="5216157" cy="14275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6144" cy="1427607"/>
            </a:xfrm>
            <a:custGeom>
              <a:avLst/>
              <a:gdLst/>
              <a:ahLst/>
              <a:cxnLst/>
              <a:rect r="r" b="b" t="t" l="l"/>
              <a:pathLst>
                <a:path h="1427607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427607"/>
                  </a:lnTo>
                  <a:lnTo>
                    <a:pt x="0" y="1427607"/>
                  </a:lnTo>
                  <a:close/>
                </a:path>
              </a:pathLst>
            </a:custGeom>
            <a:solidFill>
              <a:srgbClr val="FFF2B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216157" cy="1427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🤗  Hugging Face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883245" y="1990373"/>
            <a:ext cx="3912118" cy="1070686"/>
            <a:chOff x="0" y="0"/>
            <a:chExt cx="5216157" cy="14275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16144" cy="1427607"/>
            </a:xfrm>
            <a:custGeom>
              <a:avLst/>
              <a:gdLst/>
              <a:ahLst/>
              <a:cxnLst/>
              <a:rect r="r" b="b" t="t" l="l"/>
              <a:pathLst>
                <a:path h="1427607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427607"/>
                  </a:lnTo>
                  <a:lnTo>
                    <a:pt x="0" y="1427607"/>
                  </a:lnTo>
                  <a:close/>
                </a:path>
              </a:pathLst>
            </a:custGeom>
            <a:solidFill>
              <a:srgbClr val="DFF7E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16157" cy="1427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◎  OpenAI API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27858" y="3737867"/>
            <a:ext cx="128883" cy="128883"/>
            <a:chOff x="0" y="0"/>
            <a:chExt cx="171844" cy="1718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FFCC4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84471" y="3637578"/>
            <a:ext cx="6451559" cy="384353"/>
            <a:chOff x="0" y="0"/>
            <a:chExt cx="8602078" cy="5124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02080" cy="512464"/>
            </a:xfrm>
            <a:custGeom>
              <a:avLst/>
              <a:gdLst/>
              <a:ahLst/>
              <a:cxnLst/>
              <a:rect r="r" b="b" t="t" l="l"/>
              <a:pathLst>
                <a:path h="512464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069" r="0" b="-27707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860207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Open-source ecosystem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27858" y="4492838"/>
            <a:ext cx="128883" cy="128883"/>
            <a:chOff x="0" y="0"/>
            <a:chExt cx="171844" cy="1718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FFCC4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784471" y="4392549"/>
            <a:ext cx="6451559" cy="384353"/>
            <a:chOff x="0" y="0"/>
            <a:chExt cx="8602078" cy="5124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02080" cy="512464"/>
            </a:xfrm>
            <a:custGeom>
              <a:avLst/>
              <a:gdLst/>
              <a:ahLst/>
              <a:cxnLst/>
              <a:rect r="r" b="b" t="t" l="l"/>
              <a:pathLst>
                <a:path h="512464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069" r="0" b="-2770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860207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Access to many model families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27858" y="5247799"/>
            <a:ext cx="128883" cy="128883"/>
            <a:chOff x="0" y="0"/>
            <a:chExt cx="171844" cy="1718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FFCC4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784471" y="5147520"/>
            <a:ext cx="6451559" cy="384353"/>
            <a:chOff x="0" y="0"/>
            <a:chExt cx="8602078" cy="5124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602080" cy="512464"/>
            </a:xfrm>
            <a:custGeom>
              <a:avLst/>
              <a:gdLst/>
              <a:ahLst/>
              <a:cxnLst/>
              <a:rect r="r" b="b" t="t" l="l"/>
              <a:pathLst>
                <a:path h="512464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069" r="0" b="-27707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60207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Local fine-tuning and PEFT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27858" y="6002769"/>
            <a:ext cx="128883" cy="128883"/>
            <a:chOff x="0" y="0"/>
            <a:chExt cx="171844" cy="1718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FFCC4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84471" y="5902490"/>
            <a:ext cx="6451559" cy="384353"/>
            <a:chOff x="0" y="0"/>
            <a:chExt cx="8602078" cy="5124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602080" cy="512464"/>
            </a:xfrm>
            <a:custGeom>
              <a:avLst/>
              <a:gdLst/>
              <a:ahLst/>
              <a:cxnLst/>
              <a:rect r="r" b="b" t="t" l="l"/>
              <a:pathLst>
                <a:path h="512464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069" r="0" b="-27707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860207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Deploy locally, on-prem, edge, or cloud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27858" y="6757740"/>
            <a:ext cx="128883" cy="128883"/>
            <a:chOff x="0" y="0"/>
            <a:chExt cx="171844" cy="1718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FFCC4D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784471" y="6657461"/>
            <a:ext cx="6451559" cy="384353"/>
            <a:chOff x="0" y="0"/>
            <a:chExt cx="8602078" cy="51247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602080" cy="512464"/>
            </a:xfrm>
            <a:custGeom>
              <a:avLst/>
              <a:gdLst/>
              <a:ahLst/>
              <a:cxnLst/>
              <a:rect r="r" b="b" t="t" l="l"/>
              <a:pathLst>
                <a:path h="512464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069" r="0" b="-27707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860207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Compute cost depends on your hardware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038426" y="3737867"/>
            <a:ext cx="128883" cy="128883"/>
            <a:chOff x="0" y="0"/>
            <a:chExt cx="171844" cy="1718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10A37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295039" y="3637578"/>
            <a:ext cx="6588824" cy="384353"/>
            <a:chOff x="0" y="0"/>
            <a:chExt cx="8785098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85103" cy="512464"/>
            </a:xfrm>
            <a:custGeom>
              <a:avLst/>
              <a:gdLst/>
              <a:ahLst/>
              <a:cxnLst/>
              <a:rect r="r" b="b" t="t" l="l"/>
              <a:pathLst>
                <a:path h="51246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8" r="0" b="-28402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Hosted frontier models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038426" y="4492838"/>
            <a:ext cx="128883" cy="128883"/>
            <a:chOff x="0" y="0"/>
            <a:chExt cx="171844" cy="1718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10A37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295039" y="4392549"/>
            <a:ext cx="6588824" cy="384353"/>
            <a:chOff x="0" y="0"/>
            <a:chExt cx="8785098" cy="51247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85103" cy="512464"/>
            </a:xfrm>
            <a:custGeom>
              <a:avLst/>
              <a:gdLst/>
              <a:ahLst/>
              <a:cxnLst/>
              <a:rect r="r" b="b" t="t" l="l"/>
              <a:pathLst>
                <a:path h="51246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8" r="0" b="-28402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Simple API integration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038426" y="5247799"/>
            <a:ext cx="128883" cy="128883"/>
            <a:chOff x="0" y="0"/>
            <a:chExt cx="171844" cy="17184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10A37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295039" y="5147520"/>
            <a:ext cx="6588824" cy="384353"/>
            <a:chOff x="0" y="0"/>
            <a:chExt cx="8785098" cy="51247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785103" cy="512464"/>
            </a:xfrm>
            <a:custGeom>
              <a:avLst/>
              <a:gdLst/>
              <a:ahLst/>
              <a:cxnLst/>
              <a:rect r="r" b="b" t="t" l="l"/>
              <a:pathLst>
                <a:path h="51246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8" r="0" b="-28402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Built-in tools and structured outputs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038426" y="6002769"/>
            <a:ext cx="128883" cy="128883"/>
            <a:chOff x="0" y="0"/>
            <a:chExt cx="171844" cy="1718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10A37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295039" y="5902490"/>
            <a:ext cx="6588824" cy="384353"/>
            <a:chOff x="0" y="0"/>
            <a:chExt cx="8785098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85103" cy="512464"/>
            </a:xfrm>
            <a:custGeom>
              <a:avLst/>
              <a:gdLst/>
              <a:ahLst/>
              <a:cxnLst/>
              <a:rect r="r" b="b" t="t" l="l"/>
              <a:pathLst>
                <a:path h="51246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8" r="0" b="-28402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Text, image, audio, and agent workflows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038426" y="6757740"/>
            <a:ext cx="128883" cy="128883"/>
            <a:chOff x="0" y="0"/>
            <a:chExt cx="171844" cy="17184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10A37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295039" y="6657461"/>
            <a:ext cx="6588824" cy="384353"/>
            <a:chOff x="0" y="0"/>
            <a:chExt cx="8785098" cy="51247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785103" cy="512464"/>
            </a:xfrm>
            <a:custGeom>
              <a:avLst/>
              <a:gdLst/>
              <a:ahLst/>
              <a:cxnLst/>
              <a:rect r="r" b="b" t="t" l="l"/>
              <a:pathLst>
                <a:path h="51246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8" r="0" b="-28402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Pay-per-token usage pricing</a:t>
              </a:r>
            </a:p>
          </p:txBody>
        </p:sp>
      </p:grpSp>
      <p:sp>
        <p:nvSpPr>
          <p:cNvPr name="AutoShape 68" id="68"/>
          <p:cNvSpPr/>
          <p:nvPr/>
        </p:nvSpPr>
        <p:spPr>
          <a:xfrm rot="5389680">
            <a:off x="5824309" y="5280022"/>
            <a:ext cx="6333382" cy="0"/>
          </a:xfrm>
          <a:prstGeom prst="line">
            <a:avLst/>
          </a:prstGeom>
          <a:ln cap="rnd" w="9525">
            <a:solidFill>
              <a:srgbClr val="D7DD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9" id="69"/>
          <p:cNvGrpSpPr/>
          <p:nvPr/>
        </p:nvGrpSpPr>
        <p:grpSpPr>
          <a:xfrm rot="0">
            <a:off x="16952500" y="9636157"/>
            <a:ext cx="343167" cy="301990"/>
            <a:chOff x="0" y="0"/>
            <a:chExt cx="457556" cy="40265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7557" cy="402651"/>
            </a:xfrm>
            <a:custGeom>
              <a:avLst/>
              <a:gdLst/>
              <a:ahLst/>
              <a:cxnLst/>
              <a:rect r="r" b="b" t="t" l="l"/>
              <a:pathLst>
                <a:path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908" t="0" r="-62907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778195"/>
                  </a:solidFill>
                  <a:latin typeface="Aptos"/>
                  <a:ea typeface="Aptos"/>
                  <a:cs typeface="Aptos"/>
                  <a:sym typeface="Aptos"/>
                </a:rPr>
                <a:t>6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587573" y="9422797"/>
            <a:ext cx="569927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</a:t>
            </a: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ames : Emmanuel ABABIO, Robert Thompson, Olis Bahari</a:t>
            </a:r>
          </a:p>
          <a:p>
            <a:pPr algn="l">
              <a:lnSpc>
                <a:spcPts val="16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367" y="196367"/>
            <a:ext cx="540677" cy="540677"/>
            <a:chOff x="0" y="0"/>
            <a:chExt cx="720903" cy="720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0852" cy="720852"/>
            </a:xfrm>
            <a:custGeom>
              <a:avLst/>
              <a:gdLst/>
              <a:ahLst/>
              <a:cxnLst/>
              <a:rect r="r" b="b" t="t" l="l"/>
              <a:pathLst>
                <a:path h="720852" w="720852">
                  <a:moveTo>
                    <a:pt x="0" y="0"/>
                  </a:moveTo>
                  <a:lnTo>
                    <a:pt x="720852" y="0"/>
                  </a:lnTo>
                  <a:lnTo>
                    <a:pt x="720852" y="720852"/>
                  </a:lnTo>
                  <a:lnTo>
                    <a:pt x="0" y="720852"/>
                  </a:lnTo>
                  <a:close/>
                </a:path>
              </a:pathLst>
            </a:custGeom>
            <a:solidFill>
              <a:srgbClr val="FFF2B8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54769" y="9530544"/>
            <a:ext cx="499501" cy="499501"/>
            <a:chOff x="0" y="0"/>
            <a:chExt cx="666001" cy="666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5988" cy="665988"/>
            </a:xfrm>
            <a:custGeom>
              <a:avLst/>
              <a:gdLst/>
              <a:ahLst/>
              <a:cxnLst/>
              <a:rect r="r" b="b" t="t" l="l"/>
              <a:pathLst>
                <a:path h="665988" w="665988">
                  <a:moveTo>
                    <a:pt x="0" y="0"/>
                  </a:moveTo>
                  <a:lnTo>
                    <a:pt x="665988" y="0"/>
                  </a:lnTo>
                  <a:lnTo>
                    <a:pt x="665988" y="665988"/>
                  </a:lnTo>
                  <a:lnTo>
                    <a:pt x="0" y="665988"/>
                  </a:lnTo>
                  <a:close/>
                </a:path>
              </a:pathLst>
            </a:custGeom>
            <a:solidFill>
              <a:srgbClr val="DFF7EF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521618"/>
            <a:ext cx="13040392" cy="576520"/>
            <a:chOff x="0" y="0"/>
            <a:chExt cx="17387189" cy="768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87184" cy="768697"/>
            </a:xfrm>
            <a:custGeom>
              <a:avLst/>
              <a:gdLst/>
              <a:ahLst/>
              <a:cxnLst/>
              <a:rect r="r" b="b" t="t" l="l"/>
              <a:pathLst>
                <a:path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33" r="0" b="-3907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Comparative perspective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5961" y="1194225"/>
            <a:ext cx="14275794" cy="411804"/>
            <a:chOff x="0" y="0"/>
            <a:chExt cx="19034392" cy="549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34390" cy="549069"/>
            </a:xfrm>
            <a:custGeom>
              <a:avLst/>
              <a:gdLst/>
              <a:ahLst/>
              <a:cxnLst/>
              <a:rect r="r" b="b" t="t" l="l"/>
              <a:pathLst>
                <a:path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5481" r="0" b="-62548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 clean way to choose is to compare what the project needs most.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52500" y="9636157"/>
            <a:ext cx="343167" cy="301990"/>
            <a:chOff x="0" y="0"/>
            <a:chExt cx="457556" cy="4026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557" cy="402651"/>
            </a:xfrm>
            <a:custGeom>
              <a:avLst/>
              <a:gdLst/>
              <a:ahLst/>
              <a:cxnLst/>
              <a:rect r="r" b="b" t="t" l="l"/>
              <a:pathLst>
                <a:path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908" t="0" r="-6290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778195"/>
                  </a:solidFill>
                  <a:latin typeface="Aptos"/>
                  <a:ea typeface="Aptos"/>
                  <a:cs typeface="Aptos"/>
                  <a:sym typeface="Aptos"/>
                </a:rPr>
                <a:t>7</a:t>
              </a:r>
            </a:p>
          </p:txBody>
        </p:sp>
      </p:grpSp>
      <p:graphicFrame>
        <p:nvGraphicFramePr>
          <p:cNvPr name="Object 15" id="15"/>
          <p:cNvGraphicFramePr/>
          <p:nvPr/>
        </p:nvGraphicFramePr>
        <p:xfrm>
          <a:off x="1613874" y="2235218"/>
          <a:ext cx="5657850" cy="3771900"/>
        </p:xfrm>
        <a:graphic>
          <a:graphicData uri="http://schemas.openxmlformats.org/presentationml/2006/ole">
            <p:oleObj imgW="6781800" imgH="4902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587573" y="9422797"/>
            <a:ext cx="569927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</a:t>
            </a: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ames : Emmanuel ABABIO, Robert Thompson, Olis Bahari</a:t>
            </a:r>
          </a:p>
          <a:p>
            <a:pPr algn="l">
              <a:lnSpc>
                <a:spcPts val="16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367" y="196367"/>
            <a:ext cx="540677" cy="540677"/>
            <a:chOff x="0" y="0"/>
            <a:chExt cx="720903" cy="720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0852" cy="720852"/>
            </a:xfrm>
            <a:custGeom>
              <a:avLst/>
              <a:gdLst/>
              <a:ahLst/>
              <a:cxnLst/>
              <a:rect r="r" b="b" t="t" l="l"/>
              <a:pathLst>
                <a:path h="720852" w="720852">
                  <a:moveTo>
                    <a:pt x="0" y="0"/>
                  </a:moveTo>
                  <a:lnTo>
                    <a:pt x="720852" y="0"/>
                  </a:lnTo>
                  <a:lnTo>
                    <a:pt x="720852" y="720852"/>
                  </a:lnTo>
                  <a:lnTo>
                    <a:pt x="0" y="720852"/>
                  </a:lnTo>
                  <a:close/>
                </a:path>
              </a:pathLst>
            </a:custGeom>
            <a:solidFill>
              <a:srgbClr val="FFF2B8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54769" y="9530544"/>
            <a:ext cx="499501" cy="499501"/>
            <a:chOff x="0" y="0"/>
            <a:chExt cx="666001" cy="666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5988" cy="665988"/>
            </a:xfrm>
            <a:custGeom>
              <a:avLst/>
              <a:gdLst/>
              <a:ahLst/>
              <a:cxnLst/>
              <a:rect r="r" b="b" t="t" l="l"/>
              <a:pathLst>
                <a:path h="665988" w="665988">
                  <a:moveTo>
                    <a:pt x="0" y="0"/>
                  </a:moveTo>
                  <a:lnTo>
                    <a:pt x="665988" y="0"/>
                  </a:lnTo>
                  <a:lnTo>
                    <a:pt x="665988" y="665988"/>
                  </a:lnTo>
                  <a:lnTo>
                    <a:pt x="0" y="665988"/>
                  </a:lnTo>
                  <a:close/>
                </a:path>
              </a:pathLst>
            </a:custGeom>
            <a:solidFill>
              <a:srgbClr val="DFF7EF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521618"/>
            <a:ext cx="13040392" cy="576520"/>
            <a:chOff x="0" y="0"/>
            <a:chExt cx="17387189" cy="768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87184" cy="768697"/>
            </a:xfrm>
            <a:custGeom>
              <a:avLst/>
              <a:gdLst/>
              <a:ahLst/>
              <a:cxnLst/>
              <a:rect r="r" b="b" t="t" l="l"/>
              <a:pathLst>
                <a:path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33" r="0" b="-3907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Which should you choose?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5961" y="1194225"/>
            <a:ext cx="14275794" cy="411804"/>
            <a:chOff x="0" y="0"/>
            <a:chExt cx="19034392" cy="549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34390" cy="549069"/>
            </a:xfrm>
            <a:custGeom>
              <a:avLst/>
              <a:gdLst/>
              <a:ahLst/>
              <a:cxnLst/>
              <a:rect r="r" b="b" t="t" l="l"/>
              <a:pathLst>
                <a:path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5481" r="0" b="-62548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86174"/>
                  </a:solidFill>
                  <a:latin typeface="Aptos"/>
                  <a:ea typeface="Aptos"/>
                  <a:cs typeface="Aptos"/>
                  <a:sym typeface="Aptos"/>
                </a:rPr>
                <a:t>Choose based on the constraint that matters most.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2676" y="2127647"/>
            <a:ext cx="5765225" cy="439255"/>
            <a:chOff x="0" y="0"/>
            <a:chExt cx="7686967" cy="5856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86966" cy="585674"/>
            </a:xfrm>
            <a:custGeom>
              <a:avLst/>
              <a:gdLst/>
              <a:ahLst/>
              <a:cxnLst/>
              <a:rect r="r" b="b" t="t" l="l"/>
              <a:pathLst>
                <a:path h="585674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7686967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Choose Hugging Face when…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31769" y="3147612"/>
            <a:ext cx="128883" cy="128883"/>
            <a:chOff x="0" y="0"/>
            <a:chExt cx="171844" cy="1718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FFCC4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8382" y="3047333"/>
            <a:ext cx="6863363" cy="384353"/>
            <a:chOff x="0" y="0"/>
            <a:chExt cx="9151150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51149" cy="512464"/>
            </a:xfrm>
            <a:custGeom>
              <a:avLst/>
              <a:gdLst/>
              <a:ahLst/>
              <a:cxnLst/>
              <a:rect r="r" b="b" t="t" l="l"/>
              <a:pathLst>
                <a:path h="512464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46" r="0" b="-2979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9151150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You need model-weight access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31769" y="3902583"/>
            <a:ext cx="128883" cy="128883"/>
            <a:chOff x="0" y="0"/>
            <a:chExt cx="171844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FFCC4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88382" y="3802304"/>
            <a:ext cx="6863363" cy="384353"/>
            <a:chOff x="0" y="0"/>
            <a:chExt cx="9151150" cy="5124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51149" cy="512464"/>
            </a:xfrm>
            <a:custGeom>
              <a:avLst/>
              <a:gdLst/>
              <a:ahLst/>
              <a:cxnLst/>
              <a:rect r="r" b="b" t="t" l="l"/>
              <a:pathLst>
                <a:path h="512464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46" r="0" b="-29794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9151150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Privacy or offline use matters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31769" y="4657554"/>
            <a:ext cx="128883" cy="128883"/>
            <a:chOff x="0" y="0"/>
            <a:chExt cx="171844" cy="1718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FFCC4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688382" y="4557274"/>
            <a:ext cx="6863363" cy="384353"/>
            <a:chOff x="0" y="0"/>
            <a:chExt cx="9151150" cy="5124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51149" cy="512464"/>
            </a:xfrm>
            <a:custGeom>
              <a:avLst/>
              <a:gdLst/>
              <a:ahLst/>
              <a:cxnLst/>
              <a:rect r="r" b="b" t="t" l="l"/>
              <a:pathLst>
                <a:path h="512464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46" r="0" b="-29794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9151150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You want to test many model families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31769" y="5412524"/>
            <a:ext cx="128883" cy="128883"/>
            <a:chOff x="0" y="0"/>
            <a:chExt cx="171844" cy="1718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FFCC4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688382" y="5312245"/>
            <a:ext cx="6863363" cy="384353"/>
            <a:chOff x="0" y="0"/>
            <a:chExt cx="9151150" cy="5124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51149" cy="512464"/>
            </a:xfrm>
            <a:custGeom>
              <a:avLst/>
              <a:gdLst/>
              <a:ahLst/>
              <a:cxnLst/>
              <a:rect r="r" b="b" t="t" l="l"/>
              <a:pathLst>
                <a:path h="512464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46" r="0" b="-29794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9151150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Your team can manage compute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08706" y="2127647"/>
            <a:ext cx="5765225" cy="439255"/>
            <a:chOff x="0" y="0"/>
            <a:chExt cx="7686967" cy="58567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86966" cy="585674"/>
            </a:xfrm>
            <a:custGeom>
              <a:avLst/>
              <a:gdLst/>
              <a:ahLst/>
              <a:cxnLst/>
              <a:rect r="r" b="b" t="t" l="l"/>
              <a:pathLst>
                <a:path h="585674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7686967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Choose OpenAI when…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67808" y="3147612"/>
            <a:ext cx="128883" cy="128883"/>
            <a:chOff x="0" y="0"/>
            <a:chExt cx="171844" cy="1718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10A37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924421" y="3047333"/>
            <a:ext cx="7000627" cy="384353"/>
            <a:chOff x="0" y="0"/>
            <a:chExt cx="9334170" cy="51247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334172" cy="512464"/>
            </a:xfrm>
            <a:custGeom>
              <a:avLst/>
              <a:gdLst/>
              <a:ahLst/>
              <a:cxnLst/>
              <a:rect r="r" b="b" t="t" l="l"/>
              <a:pathLst>
                <a:path h="512464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905" r="0" b="-30490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9334170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You need the fastest path to a good app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67808" y="3902583"/>
            <a:ext cx="128883" cy="128883"/>
            <a:chOff x="0" y="0"/>
            <a:chExt cx="171844" cy="1718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10A37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924421" y="3802304"/>
            <a:ext cx="7000627" cy="384353"/>
            <a:chOff x="0" y="0"/>
            <a:chExt cx="9334170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334172" cy="512464"/>
            </a:xfrm>
            <a:custGeom>
              <a:avLst/>
              <a:gdLst/>
              <a:ahLst/>
              <a:cxnLst/>
              <a:rect r="r" b="b" t="t" l="l"/>
              <a:pathLst>
                <a:path h="512464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905" r="0" b="-30490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9334170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Managed scaling is valuable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67808" y="4657554"/>
            <a:ext cx="128883" cy="128883"/>
            <a:chOff x="0" y="0"/>
            <a:chExt cx="171844" cy="1718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10A37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924421" y="4557274"/>
            <a:ext cx="7000627" cy="384353"/>
            <a:chOff x="0" y="0"/>
            <a:chExt cx="9334170" cy="51247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334172" cy="512464"/>
            </a:xfrm>
            <a:custGeom>
              <a:avLst/>
              <a:gdLst/>
              <a:ahLst/>
              <a:cxnLst/>
              <a:rect r="r" b="b" t="t" l="l"/>
              <a:pathLst>
                <a:path h="512464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905" r="0" b="-30490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9334170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API access is easier than hosting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67808" y="5412524"/>
            <a:ext cx="128883" cy="128883"/>
            <a:chOff x="0" y="0"/>
            <a:chExt cx="171844" cy="17184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1958" cy="171958"/>
            </a:xfrm>
            <a:custGeom>
              <a:avLst/>
              <a:gdLst/>
              <a:ahLst/>
              <a:cxnLst/>
              <a:rect r="r" b="b" t="t" l="l"/>
              <a:pathLst>
                <a:path h="171958" w="171958">
                  <a:moveTo>
                    <a:pt x="0" y="85979"/>
                  </a:moveTo>
                  <a:cubicBezTo>
                    <a:pt x="0" y="38481"/>
                    <a:pt x="38481" y="0"/>
                    <a:pt x="85979" y="0"/>
                  </a:cubicBezTo>
                  <a:cubicBezTo>
                    <a:pt x="133477" y="0"/>
                    <a:pt x="171958" y="38481"/>
                    <a:pt x="171958" y="85979"/>
                  </a:cubicBezTo>
                  <a:cubicBezTo>
                    <a:pt x="171958" y="133477"/>
                    <a:pt x="133477" y="171958"/>
                    <a:pt x="85979" y="171958"/>
                  </a:cubicBezTo>
                  <a:cubicBezTo>
                    <a:pt x="38481" y="171958"/>
                    <a:pt x="0" y="133350"/>
                    <a:pt x="0" y="85979"/>
                  </a:cubicBezTo>
                  <a:close/>
                </a:path>
              </a:pathLst>
            </a:custGeom>
            <a:solidFill>
              <a:srgbClr val="10A37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924421" y="5312245"/>
            <a:ext cx="7000627" cy="384353"/>
            <a:chOff x="0" y="0"/>
            <a:chExt cx="9334170" cy="51247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334172" cy="512464"/>
            </a:xfrm>
            <a:custGeom>
              <a:avLst/>
              <a:gdLst/>
              <a:ahLst/>
              <a:cxnLst/>
              <a:rect r="r" b="b" t="t" l="l"/>
              <a:pathLst>
                <a:path h="512464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905" r="0" b="-30490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9334170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Multimodal or agentic workflows matter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3363049" y="8030137"/>
            <a:ext cx="12079519" cy="576520"/>
            <a:chOff x="0" y="0"/>
            <a:chExt cx="16106026" cy="76869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106012" cy="768731"/>
            </a:xfrm>
            <a:custGeom>
              <a:avLst/>
              <a:gdLst/>
              <a:ahLst/>
              <a:cxnLst/>
              <a:rect r="r" b="b" t="t" l="l"/>
              <a:pathLst>
                <a:path h="768731" w="16106012">
                  <a:moveTo>
                    <a:pt x="0" y="0"/>
                  </a:moveTo>
                  <a:lnTo>
                    <a:pt x="16106012" y="0"/>
                  </a:lnTo>
                  <a:lnTo>
                    <a:pt x="1610601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16106026" cy="768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Many real projects use both: open models for control + hosted models for hardest tasks.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6952500" y="9636157"/>
            <a:ext cx="343167" cy="301990"/>
            <a:chOff x="0" y="0"/>
            <a:chExt cx="457556" cy="40265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57557" cy="402651"/>
            </a:xfrm>
            <a:custGeom>
              <a:avLst/>
              <a:gdLst/>
              <a:ahLst/>
              <a:cxnLst/>
              <a:rect r="r" b="b" t="t" l="l"/>
              <a:pathLst>
                <a:path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908" t="0" r="-62907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778195"/>
                  </a:solidFill>
                  <a:latin typeface="Aptos"/>
                  <a:ea typeface="Aptos"/>
                  <a:cs typeface="Aptos"/>
                  <a:sym typeface="Aptos"/>
                </a:rPr>
                <a:t>8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587573" y="9422797"/>
            <a:ext cx="569927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</a:t>
            </a: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ames : Emmanuel ABABIO, Robert Thompson, Olis Bahari</a:t>
            </a:r>
          </a:p>
          <a:p>
            <a:pPr algn="l">
              <a:lnSpc>
                <a:spcPts val="167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367" y="196367"/>
            <a:ext cx="540677" cy="540677"/>
            <a:chOff x="0" y="0"/>
            <a:chExt cx="720903" cy="720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0852" cy="720852"/>
            </a:xfrm>
            <a:custGeom>
              <a:avLst/>
              <a:gdLst/>
              <a:ahLst/>
              <a:cxnLst/>
              <a:rect r="r" b="b" t="t" l="l"/>
              <a:pathLst>
                <a:path h="720852" w="720852">
                  <a:moveTo>
                    <a:pt x="0" y="0"/>
                  </a:moveTo>
                  <a:lnTo>
                    <a:pt x="720852" y="0"/>
                  </a:lnTo>
                  <a:lnTo>
                    <a:pt x="720852" y="720852"/>
                  </a:lnTo>
                  <a:lnTo>
                    <a:pt x="0" y="720852"/>
                  </a:lnTo>
                  <a:close/>
                </a:path>
              </a:pathLst>
            </a:custGeom>
            <a:solidFill>
              <a:srgbClr val="FFF2B8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54769" y="9530544"/>
            <a:ext cx="499501" cy="499501"/>
            <a:chOff x="0" y="0"/>
            <a:chExt cx="666001" cy="666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5988" cy="665988"/>
            </a:xfrm>
            <a:custGeom>
              <a:avLst/>
              <a:gdLst/>
              <a:ahLst/>
              <a:cxnLst/>
              <a:rect r="r" b="b" t="t" l="l"/>
              <a:pathLst>
                <a:path h="665988" w="665988">
                  <a:moveTo>
                    <a:pt x="0" y="0"/>
                  </a:moveTo>
                  <a:lnTo>
                    <a:pt x="665988" y="0"/>
                  </a:lnTo>
                  <a:lnTo>
                    <a:pt x="665988" y="665988"/>
                  </a:lnTo>
                  <a:lnTo>
                    <a:pt x="0" y="665988"/>
                  </a:lnTo>
                  <a:close/>
                </a:path>
              </a:pathLst>
            </a:custGeom>
            <a:solidFill>
              <a:srgbClr val="DFF7EF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521618"/>
            <a:ext cx="13040392" cy="576520"/>
            <a:chOff x="0" y="0"/>
            <a:chExt cx="17387189" cy="768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87184" cy="768697"/>
            </a:xfrm>
            <a:custGeom>
              <a:avLst/>
              <a:gdLst/>
              <a:ahLst/>
              <a:cxnLst/>
              <a:rect r="r" b="b" t="t" l="l"/>
              <a:pathLst>
                <a:path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33" r="0" b="-3907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Real-world application examples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5961" y="1194225"/>
            <a:ext cx="14275794" cy="411804"/>
            <a:chOff x="0" y="0"/>
            <a:chExt cx="19034392" cy="549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34390" cy="549069"/>
            </a:xfrm>
            <a:custGeom>
              <a:avLst/>
              <a:gdLst/>
              <a:ahLst/>
              <a:cxnLst/>
              <a:rect r="r" b="b" t="t" l="l"/>
              <a:pathLst>
                <a:path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5481" r="0" b="-62548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86174"/>
                  </a:solidFill>
                  <a:latin typeface="Aptos"/>
                  <a:ea typeface="Aptos"/>
                  <a:cs typeface="Aptos"/>
                  <a:sym typeface="Aptos"/>
                </a:rPr>
                <a:t>Both platforms are used in production, but often for different reasons.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5402" y="2264912"/>
            <a:ext cx="6794725" cy="1853108"/>
            <a:chOff x="0" y="0"/>
            <a:chExt cx="9059634" cy="24708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59672" cy="2470785"/>
            </a:xfrm>
            <a:custGeom>
              <a:avLst/>
              <a:gdLst/>
              <a:ahLst/>
              <a:cxnLst/>
              <a:rect r="r" b="b" t="t" l="l"/>
              <a:pathLst>
                <a:path h="2470785" w="9059672">
                  <a:moveTo>
                    <a:pt x="0" y="0"/>
                  </a:moveTo>
                  <a:lnTo>
                    <a:pt x="9059672" y="0"/>
                  </a:lnTo>
                  <a:lnTo>
                    <a:pt x="9059672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FFF2B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9059634" cy="246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Prophia</a:t>
              </a:r>
            </a:p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Hugging Face: Extracting named entities from commercial real-estate documents.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71441" y="2264912"/>
            <a:ext cx="6794725" cy="1853108"/>
            <a:chOff x="0" y="0"/>
            <a:chExt cx="9059634" cy="24708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59672" cy="2470785"/>
            </a:xfrm>
            <a:custGeom>
              <a:avLst/>
              <a:gdLst/>
              <a:ahLst/>
              <a:cxnLst/>
              <a:rect r="r" b="b" t="t" l="l"/>
              <a:pathLst>
                <a:path h="2470785" w="9059672">
                  <a:moveTo>
                    <a:pt x="0" y="0"/>
                  </a:moveTo>
                  <a:lnTo>
                    <a:pt x="9059672" y="0"/>
                  </a:lnTo>
                  <a:lnTo>
                    <a:pt x="9059672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FFF2B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9059634" cy="246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BLOOM Project</a:t>
              </a:r>
            </a:p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Hugging Face : Large open-science language model collaboration on the Hub.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5402" y="5078892"/>
            <a:ext cx="6794725" cy="1853108"/>
            <a:chOff x="0" y="0"/>
            <a:chExt cx="9059634" cy="24708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59672" cy="2470785"/>
            </a:xfrm>
            <a:custGeom>
              <a:avLst/>
              <a:gdLst/>
              <a:ahLst/>
              <a:cxnLst/>
              <a:rect r="r" b="b" t="t" l="l"/>
              <a:pathLst>
                <a:path h="2470785" w="9059672">
                  <a:moveTo>
                    <a:pt x="0" y="0"/>
                  </a:moveTo>
                  <a:lnTo>
                    <a:pt x="9059672" y="0"/>
                  </a:lnTo>
                  <a:lnTo>
                    <a:pt x="9059672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DFF7E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9059634" cy="246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Intercom</a:t>
              </a:r>
            </a:p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OpenAI API: AI support workflows using low-latency conversational models.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71441" y="5078892"/>
            <a:ext cx="6794725" cy="1853108"/>
            <a:chOff x="0" y="0"/>
            <a:chExt cx="9059634" cy="24708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59672" cy="2470785"/>
            </a:xfrm>
            <a:custGeom>
              <a:avLst/>
              <a:gdLst/>
              <a:ahLst/>
              <a:cxnLst/>
              <a:rect r="r" b="b" t="t" l="l"/>
              <a:pathLst>
                <a:path h="2470785" w="9059672">
                  <a:moveTo>
                    <a:pt x="0" y="0"/>
                  </a:moveTo>
                  <a:lnTo>
                    <a:pt x="9059672" y="0"/>
                  </a:lnTo>
                  <a:lnTo>
                    <a:pt x="9059672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DFF7E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9059634" cy="246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Financial reporting teams</a:t>
              </a:r>
            </a:p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OpenAI API:  Summarizing, analyzing, and drafting market/report content.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952500" y="9636157"/>
            <a:ext cx="343167" cy="301990"/>
            <a:chOff x="0" y="0"/>
            <a:chExt cx="457556" cy="40265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7557" cy="402651"/>
            </a:xfrm>
            <a:custGeom>
              <a:avLst/>
              <a:gdLst/>
              <a:ahLst/>
              <a:cxnLst/>
              <a:rect r="r" b="b" t="t" l="l"/>
              <a:pathLst>
                <a:path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908" t="0" r="-62907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778195"/>
                  </a:solidFill>
                  <a:latin typeface="Aptos"/>
                  <a:ea typeface="Aptos"/>
                  <a:cs typeface="Aptos"/>
                  <a:sym typeface="Aptos"/>
                </a:rPr>
                <a:t>9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87573" y="9422797"/>
            <a:ext cx="569927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</a:t>
            </a: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ames : Emmanuel ABABIO, Robert Thompson, Olis Bahari</a:t>
            </a:r>
          </a:p>
          <a:p>
            <a:pPr algn="l">
              <a:lnSpc>
                <a:spcPts val="167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367" y="196367"/>
            <a:ext cx="540677" cy="540677"/>
            <a:chOff x="0" y="0"/>
            <a:chExt cx="720903" cy="720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0852" cy="720852"/>
            </a:xfrm>
            <a:custGeom>
              <a:avLst/>
              <a:gdLst/>
              <a:ahLst/>
              <a:cxnLst/>
              <a:rect r="r" b="b" t="t" l="l"/>
              <a:pathLst>
                <a:path h="720852" w="720852">
                  <a:moveTo>
                    <a:pt x="0" y="0"/>
                  </a:moveTo>
                  <a:lnTo>
                    <a:pt x="720852" y="0"/>
                  </a:lnTo>
                  <a:lnTo>
                    <a:pt x="720852" y="720852"/>
                  </a:lnTo>
                  <a:lnTo>
                    <a:pt x="0" y="720852"/>
                  </a:lnTo>
                  <a:close/>
                </a:path>
              </a:pathLst>
            </a:custGeom>
            <a:solidFill>
              <a:srgbClr val="FFF2B8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54769" y="9530544"/>
            <a:ext cx="499501" cy="499501"/>
            <a:chOff x="0" y="0"/>
            <a:chExt cx="666001" cy="666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5988" cy="665988"/>
            </a:xfrm>
            <a:custGeom>
              <a:avLst/>
              <a:gdLst/>
              <a:ahLst/>
              <a:cxnLst/>
              <a:rect r="r" b="b" t="t" l="l"/>
              <a:pathLst>
                <a:path h="665988" w="665988">
                  <a:moveTo>
                    <a:pt x="0" y="0"/>
                  </a:moveTo>
                  <a:lnTo>
                    <a:pt x="665988" y="0"/>
                  </a:lnTo>
                  <a:lnTo>
                    <a:pt x="665988" y="665988"/>
                  </a:lnTo>
                  <a:lnTo>
                    <a:pt x="0" y="665988"/>
                  </a:lnTo>
                  <a:close/>
                </a:path>
              </a:pathLst>
            </a:custGeom>
            <a:solidFill>
              <a:srgbClr val="DFF7EF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521618"/>
            <a:ext cx="13040392" cy="576520"/>
            <a:chOff x="0" y="0"/>
            <a:chExt cx="17387189" cy="768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87184" cy="768697"/>
            </a:xfrm>
            <a:custGeom>
              <a:avLst/>
              <a:gdLst/>
              <a:ahLst/>
              <a:cxnLst/>
              <a:rect r="r" b="b" t="t" l="l"/>
              <a:pathLst>
                <a:path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33" r="0" b="-3907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Final takeaway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5961" y="1194225"/>
            <a:ext cx="14275794" cy="411804"/>
            <a:chOff x="0" y="0"/>
            <a:chExt cx="19034392" cy="549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34390" cy="549069"/>
            </a:xfrm>
            <a:custGeom>
              <a:avLst/>
              <a:gdLst/>
              <a:ahLst/>
              <a:cxnLst/>
              <a:rect r="r" b="b" t="t" l="l"/>
              <a:pathLst>
                <a:path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5481" r="0" b="-62548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586174"/>
                  </a:solidFill>
                  <a:latin typeface="Aptos"/>
                  <a:ea typeface="Aptos"/>
                  <a:cs typeface="Aptos"/>
                  <a:sym typeface="Aptos"/>
                </a:rPr>
                <a:t>The strongest answer is not “A beats B.” It is choosing the right tool for the job.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09941" y="2443353"/>
            <a:ext cx="11804980" cy="549069"/>
            <a:chOff x="0" y="0"/>
            <a:chExt cx="15739974" cy="7320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739977" cy="732092"/>
            </a:xfrm>
            <a:custGeom>
              <a:avLst/>
              <a:gdLst/>
              <a:ahLst/>
              <a:cxnLst/>
              <a:rect r="r" b="b" t="t" l="l"/>
              <a:pathLst>
                <a:path h="732092" w="15739977">
                  <a:moveTo>
                    <a:pt x="0" y="0"/>
                  </a:moveTo>
                  <a:lnTo>
                    <a:pt x="15739977" y="0"/>
                  </a:lnTo>
                  <a:lnTo>
                    <a:pt x="1573997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5739974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3"/>
                </a:lnSpc>
              </a:pPr>
              <a:r>
                <a:rPr lang="en-US" sz="3602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Hugging Face = control, transparency, experimentation.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09941" y="3500314"/>
            <a:ext cx="13452186" cy="549069"/>
            <a:chOff x="0" y="0"/>
            <a:chExt cx="17936248" cy="7320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936252" cy="732092"/>
            </a:xfrm>
            <a:custGeom>
              <a:avLst/>
              <a:gdLst/>
              <a:ahLst/>
              <a:cxnLst/>
              <a:rect r="r" b="b" t="t" l="l"/>
              <a:pathLst>
                <a:path h="732092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383" r="0" b="-42738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793624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3"/>
                </a:lnSpc>
              </a:pPr>
              <a:r>
                <a:rPr lang="en-US" sz="3602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OpenAI API = speed, managed infrastructure, strong ready-to-use models.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6480">
            <a:off x="1498492" y="4964316"/>
            <a:ext cx="12171055" cy="0"/>
          </a:xfrm>
          <a:prstGeom prst="line">
            <a:avLst/>
          </a:prstGeom>
          <a:ln cap="rnd" w="9525">
            <a:solidFill>
              <a:srgbClr val="D4DA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509941" y="5765225"/>
            <a:ext cx="3294412" cy="392130"/>
            <a:chOff x="0" y="0"/>
            <a:chExt cx="4392549" cy="522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92552" cy="522843"/>
            </a:xfrm>
            <a:custGeom>
              <a:avLst/>
              <a:gdLst/>
              <a:ahLst/>
              <a:cxnLst/>
              <a:rect r="r" b="b" t="t" l="l"/>
              <a:pathLst>
                <a:path h="522843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522843"/>
                  </a:lnTo>
                  <a:lnTo>
                    <a:pt x="0" y="5228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192" r="0" b="-10920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4392549" cy="532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Conclusion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09941" y="6341745"/>
            <a:ext cx="14756225" cy="1180500"/>
            <a:chOff x="0" y="0"/>
            <a:chExt cx="19674967" cy="157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674971" cy="1573998"/>
            </a:xfrm>
            <a:custGeom>
              <a:avLst/>
              <a:gdLst/>
              <a:ahLst/>
              <a:cxnLst/>
              <a:rect r="r" b="b" t="t" l="l"/>
              <a:pathLst>
                <a:path h="1573998" w="19674971">
                  <a:moveTo>
                    <a:pt x="0" y="0"/>
                  </a:moveTo>
                  <a:lnTo>
                    <a:pt x="19674971" y="0"/>
                  </a:lnTo>
                  <a:lnTo>
                    <a:pt x="19674971" y="1573998"/>
                  </a:lnTo>
                  <a:lnTo>
                    <a:pt x="0" y="15739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9674967" cy="1574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For learning, research, and custom deployments, I would start with Hugging Face. For a polished application that needs strong results quickly, I would start with OpenAI. In many serious projects, using both is the smartest move.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952500" y="9636157"/>
            <a:ext cx="343167" cy="301990"/>
            <a:chOff x="0" y="0"/>
            <a:chExt cx="457556" cy="40265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7557" cy="402651"/>
            </a:xfrm>
            <a:custGeom>
              <a:avLst/>
              <a:gdLst/>
              <a:ahLst/>
              <a:cxnLst/>
              <a:rect r="r" b="b" t="t" l="l"/>
              <a:pathLst>
                <a:path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908" t="0" r="-62907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778195"/>
                  </a:solidFill>
                  <a:latin typeface="Aptos"/>
                  <a:ea typeface="Aptos"/>
                  <a:cs typeface="Aptos"/>
                  <a:sym typeface="Aptos"/>
                </a:rPr>
                <a:t>10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87573" y="9422797"/>
            <a:ext cx="569927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</a:t>
            </a: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ames : Emmanuel ABABIO, Robert Thompson, Olis Bahari</a:t>
            </a:r>
          </a:p>
          <a:p>
            <a:pPr algn="l">
              <a:lnSpc>
                <a:spcPts val="167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367" y="196367"/>
            <a:ext cx="540677" cy="540677"/>
            <a:chOff x="0" y="0"/>
            <a:chExt cx="720903" cy="720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0852" cy="720852"/>
            </a:xfrm>
            <a:custGeom>
              <a:avLst/>
              <a:gdLst/>
              <a:ahLst/>
              <a:cxnLst/>
              <a:rect r="r" b="b" t="t" l="l"/>
              <a:pathLst>
                <a:path h="720852" w="720852">
                  <a:moveTo>
                    <a:pt x="0" y="0"/>
                  </a:moveTo>
                  <a:lnTo>
                    <a:pt x="720852" y="0"/>
                  </a:lnTo>
                  <a:lnTo>
                    <a:pt x="720852" y="720852"/>
                  </a:lnTo>
                  <a:lnTo>
                    <a:pt x="0" y="720852"/>
                  </a:lnTo>
                  <a:close/>
                </a:path>
              </a:pathLst>
            </a:custGeom>
            <a:solidFill>
              <a:srgbClr val="FFF2B8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54769" y="9530544"/>
            <a:ext cx="499501" cy="499501"/>
            <a:chOff x="0" y="0"/>
            <a:chExt cx="666001" cy="666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5988" cy="665988"/>
            </a:xfrm>
            <a:custGeom>
              <a:avLst/>
              <a:gdLst/>
              <a:ahLst/>
              <a:cxnLst/>
              <a:rect r="r" b="b" t="t" l="l"/>
              <a:pathLst>
                <a:path h="665988" w="665988">
                  <a:moveTo>
                    <a:pt x="0" y="0"/>
                  </a:moveTo>
                  <a:lnTo>
                    <a:pt x="665988" y="0"/>
                  </a:lnTo>
                  <a:lnTo>
                    <a:pt x="665988" y="665988"/>
                  </a:lnTo>
                  <a:lnTo>
                    <a:pt x="0" y="665988"/>
                  </a:lnTo>
                  <a:close/>
                </a:path>
              </a:pathLst>
            </a:custGeom>
            <a:solidFill>
              <a:srgbClr val="DFF7EF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521618"/>
            <a:ext cx="13040392" cy="576520"/>
            <a:chOff x="0" y="0"/>
            <a:chExt cx="17387189" cy="768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87184" cy="768697"/>
            </a:xfrm>
            <a:custGeom>
              <a:avLst/>
              <a:gdLst/>
              <a:ahLst/>
              <a:cxnLst/>
              <a:rect r="r" b="b" t="t" l="l"/>
              <a:pathLst>
                <a:path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733" r="0" b="-3907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References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5961" y="1194225"/>
            <a:ext cx="14275794" cy="411804"/>
            <a:chOff x="0" y="0"/>
            <a:chExt cx="19034392" cy="549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34390" cy="549069"/>
            </a:xfrm>
            <a:custGeom>
              <a:avLst/>
              <a:gdLst/>
              <a:ahLst/>
              <a:cxnLst/>
              <a:rect r="r" b="b" t="t" l="l"/>
              <a:pathLst>
                <a:path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5481" r="0" b="-62548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Credible sources used for this presentation.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2676" y="1949196"/>
            <a:ext cx="14962127" cy="439255"/>
            <a:chOff x="0" y="0"/>
            <a:chExt cx="19949503" cy="5856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49506" cy="585674"/>
            </a:xfrm>
            <a:custGeom>
              <a:avLst/>
              <a:gdLst/>
              <a:ahLst/>
              <a:cxnLst/>
              <a:rect r="r" b="b" t="t" l="l"/>
              <a:pathLst>
                <a:path h="585674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709" r="0" b="-61370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9949503" cy="576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9"/>
                </a:lnSpc>
              </a:pPr>
              <a:r>
                <a:rPr lang="en-US" sz="181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Hugging Face. Transformers documentation. https://huggingface.co/docs/transformers/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2676" y="2745343"/>
            <a:ext cx="14962127" cy="439255"/>
            <a:chOff x="0" y="0"/>
            <a:chExt cx="19949503" cy="5856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949506" cy="585674"/>
            </a:xfrm>
            <a:custGeom>
              <a:avLst/>
              <a:gdLst/>
              <a:ahLst/>
              <a:cxnLst/>
              <a:rect r="r" b="b" t="t" l="l"/>
              <a:pathLst>
                <a:path h="585674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709" r="0" b="-61370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19949503" cy="576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9"/>
                </a:lnSpc>
              </a:pPr>
              <a:r>
                <a:rPr lang="en-US" sz="181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Hugging Face. Hub documentation. https://huggingface.co/docs/hub/en/index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2676" y="3541490"/>
            <a:ext cx="14962127" cy="439255"/>
            <a:chOff x="0" y="0"/>
            <a:chExt cx="19949503" cy="5856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949506" cy="585674"/>
            </a:xfrm>
            <a:custGeom>
              <a:avLst/>
              <a:gdLst/>
              <a:ahLst/>
              <a:cxnLst/>
              <a:rect r="r" b="b" t="t" l="l"/>
              <a:pathLst>
                <a:path h="585674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709" r="0" b="-61370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19949503" cy="576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9"/>
                </a:lnSpc>
              </a:pPr>
              <a:r>
                <a:rPr lang="en-US" sz="181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Hugging Face. PEFT and Trainer documentation. https://huggingface.co/docs/transformers/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2676" y="4337647"/>
            <a:ext cx="14962127" cy="439255"/>
            <a:chOff x="0" y="0"/>
            <a:chExt cx="19949503" cy="58567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949506" cy="585674"/>
            </a:xfrm>
            <a:custGeom>
              <a:avLst/>
              <a:gdLst/>
              <a:ahLst/>
              <a:cxnLst/>
              <a:rect r="r" b="b" t="t" l="l"/>
              <a:pathLst>
                <a:path h="585674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709" r="0" b="-61370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19949503" cy="576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9"/>
                </a:lnSpc>
              </a:pPr>
              <a:r>
                <a:rPr lang="en-US" sz="181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OpenAI. OpenAI API documentation. https://platform.openai.com/docs/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98319" y="5143500"/>
            <a:ext cx="14962127" cy="439255"/>
            <a:chOff x="0" y="0"/>
            <a:chExt cx="19949503" cy="58567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949506" cy="585674"/>
            </a:xfrm>
            <a:custGeom>
              <a:avLst/>
              <a:gdLst/>
              <a:ahLst/>
              <a:cxnLst/>
              <a:rect r="r" b="b" t="t" l="l"/>
              <a:pathLst>
                <a:path h="585674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708" r="0" b="-61370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19949503" cy="576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9"/>
                </a:lnSpc>
              </a:pPr>
              <a:r>
                <a:rPr lang="en-US" sz="181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OpenAI. About OpenAI. https://openai.com/about/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2676" y="5929941"/>
            <a:ext cx="14962127" cy="439255"/>
            <a:chOff x="0" y="0"/>
            <a:chExt cx="19949503" cy="58567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949506" cy="585674"/>
            </a:xfrm>
            <a:custGeom>
              <a:avLst/>
              <a:gdLst/>
              <a:ahLst/>
              <a:cxnLst/>
              <a:rect r="r" b="b" t="t" l="l"/>
              <a:pathLst>
                <a:path h="585674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708" r="0" b="-61370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19949503" cy="576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9"/>
                </a:lnSpc>
              </a:pPr>
              <a:r>
                <a:rPr lang="en-US" sz="1816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OpenAI. GPT-4 / GPT-4o research and product posts. https://openai.com/index/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2676" y="6726098"/>
            <a:ext cx="14962127" cy="439255"/>
            <a:chOff x="0" y="0"/>
            <a:chExt cx="19949503" cy="5856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949506" cy="585674"/>
            </a:xfrm>
            <a:custGeom>
              <a:avLst/>
              <a:gdLst/>
              <a:ahLst/>
              <a:cxnLst/>
              <a:rect r="r" b="b" t="t" l="l"/>
              <a:pathLst>
                <a:path h="585674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709" r="0" b="-61370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19949503" cy="576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9"/>
                </a:lnSpc>
              </a:pPr>
              <a:r>
                <a:rPr lang="en-US" sz="181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Vaswani et al. (2017). Attention Is All You Need. NeurIPS.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72676" y="8510568"/>
            <a:ext cx="9883245" cy="384353"/>
            <a:chOff x="0" y="0"/>
            <a:chExt cx="13177660" cy="5124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177655" cy="512464"/>
            </a:xfrm>
            <a:custGeom>
              <a:avLst/>
              <a:gdLst/>
              <a:ahLst/>
              <a:cxnLst/>
              <a:rect r="r" b="b" t="t" l="l"/>
              <a:pathLst>
                <a:path h="512464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3177660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i="true">
                  <a:solidFill>
                    <a:srgbClr val="586174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Presentation structure adapted from the two provided model decks.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952500" y="9636157"/>
            <a:ext cx="343167" cy="301990"/>
            <a:chOff x="0" y="0"/>
            <a:chExt cx="457556" cy="40265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7557" cy="402651"/>
            </a:xfrm>
            <a:custGeom>
              <a:avLst/>
              <a:gdLst/>
              <a:ahLst/>
              <a:cxnLst/>
              <a:rect r="r" b="b" t="t" l="l"/>
              <a:pathLst>
                <a:path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908" t="0" r="-62907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778195"/>
                  </a:solidFill>
                  <a:latin typeface="Aptos"/>
                  <a:ea typeface="Aptos"/>
                  <a:cs typeface="Aptos"/>
                  <a:sym typeface="Aptos"/>
                </a:rPr>
                <a:t>11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587573" y="9422797"/>
            <a:ext cx="569927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</a:t>
            </a:r>
            <a:r>
              <a:rPr lang="en-US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ames : Emmanuel ABABIO, Robert Thompson, Olis Bahari</a:t>
            </a:r>
          </a:p>
          <a:p>
            <a:pPr algn="l">
              <a:lnSpc>
                <a:spcPts val="167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16491"/>
            <a:ext cx="18288000" cy="10170509"/>
            <a:chOff x="0" y="0"/>
            <a:chExt cx="1378699" cy="76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8602" cy="766682"/>
            </a:xfrm>
            <a:custGeom>
              <a:avLst/>
              <a:gdLst/>
              <a:ahLst/>
              <a:cxnLst/>
              <a:rect r="r" b="b" t="t" l="l"/>
              <a:pathLst>
                <a:path h="766682" w="1378602">
                  <a:moveTo>
                    <a:pt x="0" y="0"/>
                  </a:moveTo>
                  <a:lnTo>
                    <a:pt x="1378602" y="0"/>
                  </a:lnTo>
                  <a:lnTo>
                    <a:pt x="1378602" y="766682"/>
                  </a:lnTo>
                  <a:lnTo>
                    <a:pt x="0" y="766682"/>
                  </a:lnTo>
                  <a:close/>
                </a:path>
              </a:pathLst>
            </a:custGeom>
            <a:solidFill>
              <a:srgbClr val="FFF2B8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54769" y="9530544"/>
            <a:ext cx="499501" cy="499501"/>
            <a:chOff x="0" y="0"/>
            <a:chExt cx="666001" cy="666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5988" cy="665988"/>
            </a:xfrm>
            <a:custGeom>
              <a:avLst/>
              <a:gdLst/>
              <a:ahLst/>
              <a:cxnLst/>
              <a:rect r="r" b="b" t="t" l="l"/>
              <a:pathLst>
                <a:path h="665988" w="665988">
                  <a:moveTo>
                    <a:pt x="0" y="0"/>
                  </a:moveTo>
                  <a:lnTo>
                    <a:pt x="665988" y="0"/>
                  </a:lnTo>
                  <a:lnTo>
                    <a:pt x="665988" y="665988"/>
                  </a:lnTo>
                  <a:lnTo>
                    <a:pt x="0" y="665988"/>
                  </a:lnTo>
                  <a:close/>
                </a:path>
              </a:pathLst>
            </a:custGeom>
            <a:solidFill>
              <a:srgbClr val="DFF7EF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4979" y="2487105"/>
            <a:ext cx="13040392" cy="3033397"/>
            <a:chOff x="0" y="0"/>
            <a:chExt cx="17387189" cy="40445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87184" cy="4044533"/>
            </a:xfrm>
            <a:custGeom>
              <a:avLst/>
              <a:gdLst/>
              <a:ahLst/>
              <a:cxnLst/>
              <a:rect r="r" b="b" t="t" l="l"/>
              <a:pathLst>
                <a:path h="4044533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4044533"/>
                  </a:lnTo>
                  <a:lnTo>
                    <a:pt x="0" y="4044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262" r="0" b="67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7387189" cy="4054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3"/>
                </a:lnSpc>
              </a:pPr>
              <a:r>
                <a:rPr lang="en-US" sz="5203" b="true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Thank you For your Time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952500" y="9636157"/>
            <a:ext cx="343167" cy="301990"/>
            <a:chOff x="0" y="0"/>
            <a:chExt cx="457556" cy="4026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7557" cy="402651"/>
            </a:xfrm>
            <a:custGeom>
              <a:avLst/>
              <a:gdLst/>
              <a:ahLst/>
              <a:cxnLst/>
              <a:rect r="r" b="b" t="t" l="l"/>
              <a:pathLst>
                <a:path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908" t="0" r="-6290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1"/>
                </a:lnSpc>
              </a:pPr>
              <a:r>
                <a:rPr lang="en-US" sz="1275">
                  <a:solidFill>
                    <a:srgbClr val="778195"/>
                  </a:solidFill>
                  <a:latin typeface="Aptos"/>
                  <a:ea typeface="Aptos"/>
                  <a:cs typeface="Aptos"/>
                  <a:sym typeface="Aptos"/>
                </a:rPr>
                <a:t>4</a:t>
              </a: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4280375" y="822641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DAHUFmyITNU</dc:identifier>
  <dcterms:modified xsi:type="dcterms:W3CDTF">2011-08-01T06:04:30Z</dcterms:modified>
  <cp:revision>1</cp:revision>
  <dc:title>HuggingFace vs Open AI</dc:title>
</cp:coreProperties>
</file>