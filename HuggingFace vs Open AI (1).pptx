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hfVcy0iiCCrdKvZJJw6yOskvwQ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D24635-AAC9-4FE0-9679-C60B3300224D}">
  <a:tblStyle styleId="{25D24635-AAC9-4FE0-9679-C60B3300224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96367" y="196367"/>
            <a:ext cx="540639" cy="540639"/>
          </a:xfrm>
          <a:custGeom>
            <a:rect b="b" l="l" r="r" t="t"/>
            <a:pathLst>
              <a:path extrusionOk="0" h="720852" w="720852">
                <a:moveTo>
                  <a:pt x="0" y="0"/>
                </a:moveTo>
                <a:lnTo>
                  <a:pt x="720852" y="0"/>
                </a:lnTo>
                <a:lnTo>
                  <a:pt x="720852" y="720852"/>
                </a:lnTo>
                <a:lnTo>
                  <a:pt x="0" y="720852"/>
                </a:lnTo>
                <a:close/>
              </a:path>
            </a:pathLst>
          </a:custGeom>
          <a:solidFill>
            <a:srgbClr val="FFF2B8">
              <a:alpha val="35686"/>
            </a:srgbClr>
          </a:solid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7354769" y="9530544"/>
            <a:ext cx="499491" cy="499491"/>
          </a:xfrm>
          <a:custGeom>
            <a:rect b="b" l="l" r="r" t="t"/>
            <a:pathLst>
              <a:path extrusionOk="0" h="665988" w="665988">
                <a:moveTo>
                  <a:pt x="0" y="0"/>
                </a:moveTo>
                <a:lnTo>
                  <a:pt x="665988" y="0"/>
                </a:lnTo>
                <a:lnTo>
                  <a:pt x="665988" y="665988"/>
                </a:lnTo>
                <a:lnTo>
                  <a:pt x="0" y="665988"/>
                </a:lnTo>
                <a:close/>
              </a:path>
            </a:pathLst>
          </a:custGeom>
          <a:solidFill>
            <a:srgbClr val="DFF7EF">
              <a:alpha val="35686"/>
            </a:srgbClr>
          </a:solidFill>
          <a:ln>
            <a:noFill/>
          </a:ln>
        </p:spPr>
      </p:sp>
      <p:grpSp>
        <p:nvGrpSpPr>
          <p:cNvPr id="86" name="Google Shape;86;p1"/>
          <p:cNvGrpSpPr/>
          <p:nvPr/>
        </p:nvGrpSpPr>
        <p:grpSpPr>
          <a:xfrm>
            <a:off x="1029500" y="1441304"/>
            <a:ext cx="7549699" cy="1715843"/>
            <a:chOff x="0" y="0"/>
            <a:chExt cx="10066265" cy="2287791"/>
          </a:xfrm>
        </p:grpSpPr>
        <p:sp>
          <p:nvSpPr>
            <p:cNvPr id="87" name="Google Shape;87;p1"/>
            <p:cNvSpPr/>
            <p:nvPr/>
          </p:nvSpPr>
          <p:spPr>
            <a:xfrm>
              <a:off x="0" y="0"/>
              <a:ext cx="10066265" cy="2287787"/>
            </a:xfrm>
            <a:custGeom>
              <a:rect b="b" l="l" r="r" t="t"/>
              <a:pathLst>
                <a:path extrusionOk="0" h="2287787" w="10066265">
                  <a:moveTo>
                    <a:pt x="0" y="0"/>
                  </a:moveTo>
                  <a:lnTo>
                    <a:pt x="10066265" y="0"/>
                  </a:lnTo>
                  <a:lnTo>
                    <a:pt x="10066265" y="2287787"/>
                  </a:lnTo>
                  <a:lnTo>
                    <a:pt x="0" y="228778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5734" l="0" r="0" t="-35734"/>
              </a:stretch>
            </a:blipFill>
            <a:ln>
              <a:noFill/>
            </a:ln>
          </p:spPr>
        </p:sp>
        <p:sp>
          <p:nvSpPr>
            <p:cNvPr id="88" name="Google Shape;88;p1"/>
            <p:cNvSpPr txBox="1"/>
            <p:nvPr/>
          </p:nvSpPr>
          <p:spPr>
            <a:xfrm>
              <a:off x="0" y="0"/>
              <a:ext cx="10066261" cy="22877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055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AI PLATFORM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055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COMPARISON</a:t>
              </a:r>
              <a:endParaRPr/>
            </a:p>
          </p:txBody>
        </p:sp>
      </p:grpSp>
      <p:grpSp>
        <p:nvGrpSpPr>
          <p:cNvPr id="89" name="Google Shape;89;p1"/>
          <p:cNvGrpSpPr/>
          <p:nvPr/>
        </p:nvGrpSpPr>
        <p:grpSpPr>
          <a:xfrm>
            <a:off x="1084412" y="3678765"/>
            <a:ext cx="7961500" cy="494167"/>
            <a:chOff x="0" y="0"/>
            <a:chExt cx="10615333" cy="658889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10615333" cy="658883"/>
            </a:xfrm>
            <a:custGeom>
              <a:rect b="b" l="l" r="r" t="t"/>
              <a:pathLst>
                <a:path extrusionOk="0" h="658883" w="10615333">
                  <a:moveTo>
                    <a:pt x="0" y="0"/>
                  </a:moveTo>
                  <a:lnTo>
                    <a:pt x="10615333" y="0"/>
                  </a:lnTo>
                  <a:lnTo>
                    <a:pt x="10615333" y="658883"/>
                  </a:lnTo>
                  <a:lnTo>
                    <a:pt x="0" y="65888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3913" l="0" r="0" t="-263913"/>
              </a:stretch>
            </a:blipFill>
            <a:ln>
              <a:noFill/>
            </a:ln>
          </p:spPr>
        </p:sp>
        <p:sp>
          <p:nvSpPr>
            <p:cNvPr id="91" name="Google Shape;91;p1"/>
            <p:cNvSpPr txBox="1"/>
            <p:nvPr/>
          </p:nvSpPr>
          <p:spPr>
            <a:xfrm>
              <a:off x="0" y="0"/>
              <a:ext cx="10615333" cy="6588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51" u="none" cap="none" strike="noStrike">
                  <a:solidFill>
                    <a:srgbClr val="586174"/>
                  </a:solidFill>
                  <a:latin typeface="Arial"/>
                  <a:ea typeface="Arial"/>
                  <a:cs typeface="Arial"/>
                  <a:sym typeface="Arial"/>
                </a:rPr>
                <a:t>Hugging Face Transformers vs OpenAI API</a:t>
              </a:r>
              <a:endParaRPr/>
            </a:p>
          </p:txBody>
        </p:sp>
      </p:grpSp>
      <p:grpSp>
        <p:nvGrpSpPr>
          <p:cNvPr id="92" name="Google Shape;92;p1"/>
          <p:cNvGrpSpPr/>
          <p:nvPr/>
        </p:nvGrpSpPr>
        <p:grpSpPr>
          <a:xfrm>
            <a:off x="9951872" y="1853108"/>
            <a:ext cx="3912118" cy="1070705"/>
            <a:chOff x="0" y="0"/>
            <a:chExt cx="5216157" cy="1427607"/>
          </a:xfrm>
        </p:grpSpPr>
        <p:sp>
          <p:nvSpPr>
            <p:cNvPr id="93" name="Google Shape;93;p1"/>
            <p:cNvSpPr/>
            <p:nvPr/>
          </p:nvSpPr>
          <p:spPr>
            <a:xfrm>
              <a:off x="0" y="0"/>
              <a:ext cx="5216144" cy="1427607"/>
            </a:xfrm>
            <a:custGeom>
              <a:rect b="b" l="l" r="r" t="t"/>
              <a:pathLst>
                <a:path extrusionOk="0" h="1427607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1427607"/>
                  </a:lnTo>
                  <a:lnTo>
                    <a:pt x="0" y="1427607"/>
                  </a:lnTo>
                  <a:close/>
                </a:path>
              </a:pathLst>
            </a:custGeom>
            <a:solidFill>
              <a:srgbClr val="FFF2B8"/>
            </a:solidFill>
            <a:ln>
              <a:noFill/>
            </a:ln>
          </p:spPr>
        </p:sp>
        <p:sp>
          <p:nvSpPr>
            <p:cNvPr id="94" name="Google Shape;94;p1"/>
            <p:cNvSpPr txBox="1"/>
            <p:nvPr/>
          </p:nvSpPr>
          <p:spPr>
            <a:xfrm>
              <a:off x="0" y="0"/>
              <a:ext cx="5216157" cy="1427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2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🤗  Hugging Face</a:t>
              </a:r>
              <a:endParaRPr/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9951872" y="3225784"/>
            <a:ext cx="3912118" cy="1070705"/>
            <a:chOff x="0" y="0"/>
            <a:chExt cx="5216157" cy="1427607"/>
          </a:xfrm>
        </p:grpSpPr>
        <p:sp>
          <p:nvSpPr>
            <p:cNvPr id="96" name="Google Shape;96;p1"/>
            <p:cNvSpPr/>
            <p:nvPr/>
          </p:nvSpPr>
          <p:spPr>
            <a:xfrm>
              <a:off x="0" y="0"/>
              <a:ext cx="5216144" cy="1427607"/>
            </a:xfrm>
            <a:custGeom>
              <a:rect b="b" l="l" r="r" t="t"/>
              <a:pathLst>
                <a:path extrusionOk="0" h="1427607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1427607"/>
                  </a:lnTo>
                  <a:lnTo>
                    <a:pt x="0" y="1427607"/>
                  </a:lnTo>
                  <a:close/>
                </a:path>
              </a:pathLst>
            </a:custGeom>
            <a:solidFill>
              <a:srgbClr val="DFF7EF"/>
            </a:solidFill>
            <a:ln>
              <a:noFill/>
            </a:ln>
          </p:spPr>
        </p:sp>
        <p:sp>
          <p:nvSpPr>
            <p:cNvPr id="97" name="Google Shape;97;p1"/>
            <p:cNvSpPr txBox="1"/>
            <p:nvPr/>
          </p:nvSpPr>
          <p:spPr>
            <a:xfrm>
              <a:off x="0" y="0"/>
              <a:ext cx="5216157" cy="1427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2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◎  OpenAI API</a:t>
              </a:r>
              <a:endParaRPr/>
            </a:p>
          </p:txBody>
        </p:sp>
      </p:grpSp>
      <p:cxnSp>
        <p:nvCxnSpPr>
          <p:cNvPr id="98" name="Google Shape;98;p1"/>
          <p:cNvCxnSpPr/>
          <p:nvPr/>
        </p:nvCxnSpPr>
        <p:spPr>
          <a:xfrm rot="5383920">
            <a:off x="6672967" y="3962257"/>
            <a:ext cx="5102771" cy="0"/>
          </a:xfrm>
          <a:prstGeom prst="straightConnector1">
            <a:avLst/>
          </a:prstGeom>
          <a:noFill/>
          <a:ln cap="rnd" cmpd="sng" w="9525">
            <a:solidFill>
              <a:srgbClr val="D2D8E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9" name="Google Shape;99;p1"/>
          <p:cNvGrpSpPr/>
          <p:nvPr/>
        </p:nvGrpSpPr>
        <p:grpSpPr>
          <a:xfrm>
            <a:off x="1070686" y="7892863"/>
            <a:ext cx="10706845" cy="343168"/>
            <a:chOff x="0" y="0"/>
            <a:chExt cx="14275794" cy="457557"/>
          </a:xfrm>
        </p:grpSpPr>
        <p:sp>
          <p:nvSpPr>
            <p:cNvPr id="100" name="Google Shape;100;p1"/>
            <p:cNvSpPr/>
            <p:nvPr/>
          </p:nvSpPr>
          <p:spPr>
            <a:xfrm>
              <a:off x="0" y="0"/>
              <a:ext cx="14275794" cy="457557"/>
            </a:xfrm>
            <a:custGeom>
              <a:rect b="b" l="l" r="r" t="t"/>
              <a:pathLst>
                <a:path extrusionOk="0" h="457557" w="14275794">
                  <a:moveTo>
                    <a:pt x="0" y="0"/>
                  </a:moveTo>
                  <a:lnTo>
                    <a:pt x="14275794" y="0"/>
                  </a:lnTo>
                  <a:lnTo>
                    <a:pt x="14275794" y="457557"/>
                  </a:lnTo>
                  <a:lnTo>
                    <a:pt x="0" y="45755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57977" l="0" r="0" t="-557977"/>
              </a:stretch>
            </a:blipFill>
            <a:ln>
              <a:noFill/>
            </a:ln>
          </p:spPr>
        </p:sp>
        <p:sp>
          <p:nvSpPr>
            <p:cNvPr id="101" name="Google Shape;101;p1"/>
            <p:cNvSpPr txBox="1"/>
            <p:nvPr/>
          </p:nvSpPr>
          <p:spPr>
            <a:xfrm>
              <a:off x="0" y="0"/>
              <a:ext cx="14275791" cy="4575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6" u="none" cap="none" strike="noStrike">
                  <a:solidFill>
                    <a:srgbClr val="586174"/>
                  </a:solidFill>
                  <a:latin typeface="Arial"/>
                  <a:ea typeface="Arial"/>
                  <a:cs typeface="Arial"/>
                  <a:sym typeface="Arial"/>
                </a:rPr>
                <a:t>Background  •  Key features  •  Comparison  •  Best use cases</a:t>
              </a:r>
              <a:endParaRPr/>
            </a:p>
          </p:txBody>
        </p:sp>
      </p:grpSp>
      <p:grpSp>
        <p:nvGrpSpPr>
          <p:cNvPr id="102" name="Google Shape;102;p1"/>
          <p:cNvGrpSpPr/>
          <p:nvPr/>
        </p:nvGrpSpPr>
        <p:grpSpPr>
          <a:xfrm>
            <a:off x="1070686" y="8510568"/>
            <a:ext cx="10432313" cy="343168"/>
            <a:chOff x="0" y="0"/>
            <a:chExt cx="13909751" cy="457557"/>
          </a:xfrm>
        </p:grpSpPr>
        <p:sp>
          <p:nvSpPr>
            <p:cNvPr id="103" name="Google Shape;103;p1"/>
            <p:cNvSpPr/>
            <p:nvPr/>
          </p:nvSpPr>
          <p:spPr>
            <a:xfrm>
              <a:off x="0" y="0"/>
              <a:ext cx="13909746" cy="457557"/>
            </a:xfrm>
            <a:custGeom>
              <a:rect b="b" l="l" r="r" t="t"/>
              <a:pathLst>
                <a:path extrusionOk="0" h="457557" w="13909746">
                  <a:moveTo>
                    <a:pt x="0" y="0"/>
                  </a:moveTo>
                  <a:lnTo>
                    <a:pt x="13909746" y="0"/>
                  </a:lnTo>
                  <a:lnTo>
                    <a:pt x="13909746" y="457557"/>
                  </a:lnTo>
                  <a:lnTo>
                    <a:pt x="0" y="45755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42277" l="0" r="0" t="-542277"/>
              </a:stretch>
            </a:blipFill>
            <a:ln>
              <a:noFill/>
            </a:ln>
          </p:spPr>
        </p:sp>
        <p:sp>
          <p:nvSpPr>
            <p:cNvPr id="104" name="Google Shape;104;p1"/>
            <p:cNvSpPr txBox="1"/>
            <p:nvPr/>
          </p:nvSpPr>
          <p:spPr>
            <a:xfrm>
              <a:off x="0" y="0"/>
              <a:ext cx="13909751" cy="4575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1" u="none" cap="none" strike="noStrike">
                  <a:solidFill>
                    <a:srgbClr val="778195"/>
                  </a:solidFill>
                  <a:latin typeface="Arial"/>
                  <a:ea typeface="Arial"/>
                  <a:cs typeface="Arial"/>
                  <a:sym typeface="Arial"/>
                </a:rPr>
                <a:t>ITAI Deep Learning | Houston Community College | September 2026</a:t>
              </a:r>
              <a:endParaRPr/>
            </a:p>
          </p:txBody>
        </p:sp>
      </p:grpSp>
      <p:grpSp>
        <p:nvGrpSpPr>
          <p:cNvPr id="105" name="Google Shape;105;p1"/>
          <p:cNvGrpSpPr/>
          <p:nvPr/>
        </p:nvGrpSpPr>
        <p:grpSpPr>
          <a:xfrm>
            <a:off x="16952500" y="9629013"/>
            <a:ext cx="343168" cy="309134"/>
            <a:chOff x="0" y="-9525"/>
            <a:chExt cx="457557" cy="412179"/>
          </a:xfrm>
        </p:grpSpPr>
        <p:sp>
          <p:nvSpPr>
            <p:cNvPr id="106" name="Google Shape;106;p1"/>
            <p:cNvSpPr/>
            <p:nvPr/>
          </p:nvSpPr>
          <p:spPr>
            <a:xfrm>
              <a:off x="0" y="0"/>
              <a:ext cx="457557" cy="402651"/>
            </a:xfrm>
            <a:custGeom>
              <a:rect b="b" l="l" r="r" t="t"/>
              <a:pathLst>
                <a:path extrusionOk="0" h="402651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02651"/>
                  </a:lnTo>
                  <a:lnTo>
                    <a:pt x="0" y="40265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62908" r="-62908" t="0"/>
              </a:stretch>
            </a:blipFill>
            <a:ln>
              <a:noFill/>
            </a:ln>
          </p:spPr>
        </p:sp>
        <p:sp>
          <p:nvSpPr>
            <p:cNvPr id="107" name="Google Shape;107;p1"/>
            <p:cNvSpPr txBox="1"/>
            <p:nvPr/>
          </p:nvSpPr>
          <p:spPr>
            <a:xfrm>
              <a:off x="0" y="-9525"/>
              <a:ext cx="457556" cy="412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5" u="none" cap="none" strike="noStrike">
                  <a:solidFill>
                    <a:srgbClr val="778195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108" name="Google Shape;108;p1"/>
          <p:cNvSpPr txBox="1"/>
          <p:nvPr/>
        </p:nvSpPr>
        <p:spPr>
          <a:xfrm>
            <a:off x="587573" y="9422797"/>
            <a:ext cx="5699270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Names : Emmanuel ABABIO, Robert Thompson, Olis Bahari</a:t>
            </a:r>
            <a:endParaRPr/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B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/>
          <p:nvPr/>
        </p:nvSpPr>
        <p:spPr>
          <a:xfrm>
            <a:off x="196367" y="196367"/>
            <a:ext cx="540639" cy="540639"/>
          </a:xfrm>
          <a:custGeom>
            <a:rect b="b" l="l" r="r" t="t"/>
            <a:pathLst>
              <a:path extrusionOk="0" h="720852" w="720852">
                <a:moveTo>
                  <a:pt x="0" y="0"/>
                </a:moveTo>
                <a:lnTo>
                  <a:pt x="720852" y="0"/>
                </a:lnTo>
                <a:lnTo>
                  <a:pt x="720852" y="720852"/>
                </a:lnTo>
                <a:lnTo>
                  <a:pt x="0" y="720852"/>
                </a:lnTo>
                <a:close/>
              </a:path>
            </a:pathLst>
          </a:custGeom>
          <a:solidFill>
            <a:srgbClr val="FFF2B8">
              <a:alpha val="35686"/>
            </a:srgbClr>
          </a:solidFill>
          <a:ln>
            <a:noFill/>
          </a:ln>
        </p:spPr>
      </p:sp>
      <p:sp>
        <p:nvSpPr>
          <p:cNvPr id="114" name="Google Shape;114;p2"/>
          <p:cNvSpPr/>
          <p:nvPr/>
        </p:nvSpPr>
        <p:spPr>
          <a:xfrm>
            <a:off x="17354769" y="9530544"/>
            <a:ext cx="499491" cy="499491"/>
          </a:xfrm>
          <a:custGeom>
            <a:rect b="b" l="l" r="r" t="t"/>
            <a:pathLst>
              <a:path extrusionOk="0" h="665988" w="665988">
                <a:moveTo>
                  <a:pt x="0" y="0"/>
                </a:moveTo>
                <a:lnTo>
                  <a:pt x="665988" y="0"/>
                </a:lnTo>
                <a:lnTo>
                  <a:pt x="665988" y="665988"/>
                </a:lnTo>
                <a:lnTo>
                  <a:pt x="0" y="665988"/>
                </a:lnTo>
                <a:close/>
              </a:path>
            </a:pathLst>
          </a:custGeom>
          <a:solidFill>
            <a:srgbClr val="DFF7EF">
              <a:alpha val="35686"/>
            </a:srgbClr>
          </a:solidFill>
          <a:ln>
            <a:noFill/>
          </a:ln>
        </p:spPr>
      </p:sp>
      <p:grpSp>
        <p:nvGrpSpPr>
          <p:cNvPr id="115" name="Google Shape;115;p2"/>
          <p:cNvGrpSpPr/>
          <p:nvPr/>
        </p:nvGrpSpPr>
        <p:grpSpPr>
          <a:xfrm>
            <a:off x="892235" y="521618"/>
            <a:ext cx="13040392" cy="576523"/>
            <a:chOff x="0" y="0"/>
            <a:chExt cx="17387189" cy="768697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17387184" cy="768697"/>
            </a:xfrm>
            <a:custGeom>
              <a:rect b="b" l="l" r="r" t="t"/>
              <a:pathLst>
                <a:path extrusionOk="0" h="768697" w="17387184">
                  <a:moveTo>
                    <a:pt x="0" y="0"/>
                  </a:moveTo>
                  <a:lnTo>
                    <a:pt x="17387184" y="0"/>
                  </a:lnTo>
                  <a:lnTo>
                    <a:pt x="17387184" y="768697"/>
                  </a:lnTo>
                  <a:lnTo>
                    <a:pt x="0" y="76869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0761" l="0" r="0" t="-390761"/>
              </a:stretch>
            </a:blipFill>
            <a:ln>
              <a:noFill/>
            </a:ln>
          </p:spPr>
        </p:sp>
        <p:sp>
          <p:nvSpPr>
            <p:cNvPr id="117" name="Google Shape;117;p2"/>
            <p:cNvSpPr txBox="1"/>
            <p:nvPr/>
          </p:nvSpPr>
          <p:spPr>
            <a:xfrm>
              <a:off x="0" y="0"/>
              <a:ext cx="17387189" cy="768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03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The big question</a:t>
              </a:r>
              <a:endParaRPr/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905961" y="1194225"/>
            <a:ext cx="14275794" cy="411804"/>
            <a:chOff x="0" y="0"/>
            <a:chExt cx="19034392" cy="549072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19034390" cy="549069"/>
            </a:xfrm>
            <a:custGeom>
              <a:rect b="b" l="l" r="r" t="t"/>
              <a:pathLst>
                <a:path extrusionOk="0" h="549069" w="19034390">
                  <a:moveTo>
                    <a:pt x="0" y="0"/>
                  </a:moveTo>
                  <a:lnTo>
                    <a:pt x="19034390" y="0"/>
                  </a:lnTo>
                  <a:lnTo>
                    <a:pt x="19034390" y="549069"/>
                  </a:lnTo>
                  <a:lnTo>
                    <a:pt x="0" y="54906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25493" l="0" r="0" t="-625493"/>
              </a:stretch>
            </a:blipFill>
            <a:ln>
              <a:noFill/>
            </a:ln>
          </p:spPr>
        </p:sp>
        <p:sp>
          <p:nvSpPr>
            <p:cNvPr id="120" name="Google Shape;120;p2"/>
            <p:cNvSpPr txBox="1"/>
            <p:nvPr/>
          </p:nvSpPr>
          <p:spPr>
            <a:xfrm>
              <a:off x="0" y="0"/>
              <a:ext cx="19034392" cy="549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6" u="none" cap="none" strike="noStrike">
                  <a:solidFill>
                    <a:srgbClr val="586174"/>
                  </a:solidFill>
                  <a:latin typeface="Arial"/>
                  <a:ea typeface="Arial"/>
                  <a:cs typeface="Arial"/>
                  <a:sym typeface="Arial"/>
                </a:rPr>
                <a:t>Both tools are powerful, but they solve different problems.</a:t>
              </a:r>
              <a:endParaRPr/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1166774" y="2402176"/>
            <a:ext cx="7137896" cy="1978852"/>
            <a:chOff x="0" y="0"/>
            <a:chExt cx="9517195" cy="2638470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9517195" cy="2638462"/>
            </a:xfrm>
            <a:custGeom>
              <a:rect b="b" l="l" r="r" t="t"/>
              <a:pathLst>
                <a:path extrusionOk="0" h="2638462" w="9517195">
                  <a:moveTo>
                    <a:pt x="0" y="0"/>
                  </a:moveTo>
                  <a:lnTo>
                    <a:pt x="9517195" y="0"/>
                  </a:lnTo>
                  <a:lnTo>
                    <a:pt x="9517195" y="2638462"/>
                  </a:lnTo>
                  <a:lnTo>
                    <a:pt x="0" y="263846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968" l="0" r="0" t="-35600"/>
              </a:stretch>
            </a:blipFill>
            <a:ln>
              <a:noFill/>
            </a:ln>
          </p:spPr>
        </p:sp>
        <p:sp>
          <p:nvSpPr>
            <p:cNvPr id="123" name="Google Shape;123;p2"/>
            <p:cNvSpPr txBox="1"/>
            <p:nvPr/>
          </p:nvSpPr>
          <p:spPr>
            <a:xfrm>
              <a:off x="0" y="9525"/>
              <a:ext cx="9517190" cy="26289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053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Do I need more control,</a:t>
              </a:r>
              <a:endParaRPr/>
            </a:p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053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or do I need faster production results?</a:t>
              </a:r>
              <a:endParaRPr/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1207951" y="4323921"/>
            <a:ext cx="7412431" cy="769166"/>
            <a:chOff x="0" y="0"/>
            <a:chExt cx="9883242" cy="1025555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9883241" cy="1025555"/>
            </a:xfrm>
            <a:custGeom>
              <a:rect b="b" l="l" r="r" t="t"/>
              <a:pathLst>
                <a:path extrusionOk="0" h="1025555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1025555"/>
                  </a:lnTo>
                  <a:lnTo>
                    <a:pt x="0" y="102555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9003" l="0" r="0" t="-156542"/>
              </a:stretch>
            </a:blipFill>
            <a:ln>
              <a:noFill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0" y="0"/>
              <a:ext cx="9883242" cy="1025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This presentation compares the two platforms using four lenses:</a:t>
              </a:r>
              <a:endParaRPr/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1233716" y="5401466"/>
            <a:ext cx="1400127" cy="494162"/>
            <a:chOff x="0" y="0"/>
            <a:chExt cx="1866836" cy="658883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1866773" cy="658870"/>
            </a:xfrm>
            <a:custGeom>
              <a:rect b="b" l="l" r="r" t="t"/>
              <a:pathLst>
                <a:path extrusionOk="0" h="658870" w="1866773">
                  <a:moveTo>
                    <a:pt x="0" y="0"/>
                  </a:moveTo>
                  <a:lnTo>
                    <a:pt x="1866773" y="0"/>
                  </a:lnTo>
                  <a:lnTo>
                    <a:pt x="1866773" y="658870"/>
                  </a:lnTo>
                  <a:lnTo>
                    <a:pt x="0" y="658870"/>
                  </a:ln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</p:sp>
        <p:sp>
          <p:nvSpPr>
            <p:cNvPr id="129" name="Google Shape;129;p2"/>
            <p:cNvSpPr txBox="1"/>
            <p:nvPr/>
          </p:nvSpPr>
          <p:spPr>
            <a:xfrm>
              <a:off x="0" y="0"/>
              <a:ext cx="1866836" cy="658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6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Origin</a:t>
              </a:r>
              <a:endParaRPr/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2908373" y="5401466"/>
            <a:ext cx="1400127" cy="494162"/>
            <a:chOff x="0" y="0"/>
            <a:chExt cx="1866836" cy="658883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1866773" cy="658870"/>
            </a:xfrm>
            <a:custGeom>
              <a:rect b="b" l="l" r="r" t="t"/>
              <a:pathLst>
                <a:path extrusionOk="0" h="658870" w="1866773">
                  <a:moveTo>
                    <a:pt x="0" y="0"/>
                  </a:moveTo>
                  <a:lnTo>
                    <a:pt x="1866773" y="0"/>
                  </a:lnTo>
                  <a:lnTo>
                    <a:pt x="1866773" y="658870"/>
                  </a:lnTo>
                  <a:lnTo>
                    <a:pt x="0" y="658870"/>
                  </a:ln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</p:sp>
        <p:sp>
          <p:nvSpPr>
            <p:cNvPr id="132" name="Google Shape;132;p2"/>
            <p:cNvSpPr txBox="1"/>
            <p:nvPr/>
          </p:nvSpPr>
          <p:spPr>
            <a:xfrm>
              <a:off x="0" y="0"/>
              <a:ext cx="1866836" cy="658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6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Features</a:t>
              </a:r>
              <a:endParaRPr/>
            </a:p>
          </p:txBody>
        </p:sp>
      </p:grpSp>
      <p:grpSp>
        <p:nvGrpSpPr>
          <p:cNvPr id="133" name="Google Shape;133;p2"/>
          <p:cNvGrpSpPr/>
          <p:nvPr/>
        </p:nvGrpSpPr>
        <p:grpSpPr>
          <a:xfrm>
            <a:off x="4584725" y="5401470"/>
            <a:ext cx="1400127" cy="494162"/>
            <a:chOff x="0" y="0"/>
            <a:chExt cx="1866836" cy="658883"/>
          </a:xfrm>
        </p:grpSpPr>
        <p:sp>
          <p:nvSpPr>
            <p:cNvPr id="134" name="Google Shape;134;p2"/>
            <p:cNvSpPr/>
            <p:nvPr/>
          </p:nvSpPr>
          <p:spPr>
            <a:xfrm>
              <a:off x="0" y="0"/>
              <a:ext cx="1866773" cy="658870"/>
            </a:xfrm>
            <a:custGeom>
              <a:rect b="b" l="l" r="r" t="t"/>
              <a:pathLst>
                <a:path extrusionOk="0" h="658870" w="1866773">
                  <a:moveTo>
                    <a:pt x="0" y="0"/>
                  </a:moveTo>
                  <a:lnTo>
                    <a:pt x="1866773" y="0"/>
                  </a:lnTo>
                  <a:lnTo>
                    <a:pt x="1866773" y="658870"/>
                  </a:lnTo>
                  <a:lnTo>
                    <a:pt x="0" y="658870"/>
                  </a:lnTo>
                  <a:close/>
                </a:path>
              </a:pathLst>
            </a:custGeom>
            <a:solidFill>
              <a:srgbClr val="10A37F"/>
            </a:solidFill>
            <a:ln>
              <a:noFill/>
            </a:ln>
          </p:spPr>
        </p:sp>
        <p:sp>
          <p:nvSpPr>
            <p:cNvPr id="135" name="Google Shape;135;p2"/>
            <p:cNvSpPr txBox="1"/>
            <p:nvPr/>
          </p:nvSpPr>
          <p:spPr>
            <a:xfrm>
              <a:off x="0" y="0"/>
              <a:ext cx="1866836" cy="658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6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Usability</a:t>
              </a:r>
              <a:endParaRPr/>
            </a:p>
          </p:txBody>
        </p:sp>
      </p:grpSp>
      <p:grpSp>
        <p:nvGrpSpPr>
          <p:cNvPr id="136" name="Google Shape;136;p2"/>
          <p:cNvGrpSpPr/>
          <p:nvPr/>
        </p:nvGrpSpPr>
        <p:grpSpPr>
          <a:xfrm>
            <a:off x="6261078" y="5401466"/>
            <a:ext cx="1400127" cy="494162"/>
            <a:chOff x="0" y="0"/>
            <a:chExt cx="1866836" cy="658883"/>
          </a:xfrm>
        </p:grpSpPr>
        <p:sp>
          <p:nvSpPr>
            <p:cNvPr id="137" name="Google Shape;137;p2"/>
            <p:cNvSpPr/>
            <p:nvPr/>
          </p:nvSpPr>
          <p:spPr>
            <a:xfrm>
              <a:off x="0" y="0"/>
              <a:ext cx="1866773" cy="658870"/>
            </a:xfrm>
            <a:custGeom>
              <a:rect b="b" l="l" r="r" t="t"/>
              <a:pathLst>
                <a:path extrusionOk="0" h="658870" w="1866773">
                  <a:moveTo>
                    <a:pt x="0" y="0"/>
                  </a:moveTo>
                  <a:lnTo>
                    <a:pt x="1866773" y="0"/>
                  </a:lnTo>
                  <a:lnTo>
                    <a:pt x="1866773" y="658870"/>
                  </a:lnTo>
                  <a:lnTo>
                    <a:pt x="0" y="658870"/>
                  </a:ln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</p:sp>
        <p:sp>
          <p:nvSpPr>
            <p:cNvPr id="138" name="Google Shape;138;p2"/>
            <p:cNvSpPr txBox="1"/>
            <p:nvPr/>
          </p:nvSpPr>
          <p:spPr>
            <a:xfrm>
              <a:off x="0" y="0"/>
              <a:ext cx="1866836" cy="658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6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Scalability</a:t>
              </a:r>
              <a:endParaRPr/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9745970" y="2813980"/>
            <a:ext cx="2470814" cy="576549"/>
            <a:chOff x="0" y="0"/>
            <a:chExt cx="3294418" cy="768731"/>
          </a:xfrm>
        </p:grpSpPr>
        <p:sp>
          <p:nvSpPr>
            <p:cNvPr id="140" name="Google Shape;140;p2"/>
            <p:cNvSpPr/>
            <p:nvPr/>
          </p:nvSpPr>
          <p:spPr>
            <a:xfrm>
              <a:off x="0" y="0"/>
              <a:ext cx="3294380" cy="768731"/>
            </a:xfrm>
            <a:custGeom>
              <a:rect b="b" l="l" r="r" t="t"/>
              <a:pathLst>
                <a:path extrusionOk="0" h="76873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FF2B8"/>
            </a:solidFill>
            <a:ln>
              <a:noFill/>
            </a:ln>
          </p:spPr>
        </p:sp>
        <p:sp>
          <p:nvSpPr>
            <p:cNvPr id="141" name="Google Shape;141;p2"/>
            <p:cNvSpPr txBox="1"/>
            <p:nvPr/>
          </p:nvSpPr>
          <p:spPr>
            <a:xfrm>
              <a:off x="0" y="0"/>
              <a:ext cx="3294418" cy="768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2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</p:txBody>
        </p:sp>
      </p:grpSp>
      <p:grpSp>
        <p:nvGrpSpPr>
          <p:cNvPr id="142" name="Google Shape;142;p2"/>
          <p:cNvGrpSpPr/>
          <p:nvPr/>
        </p:nvGrpSpPr>
        <p:grpSpPr>
          <a:xfrm>
            <a:off x="13246284" y="2813980"/>
            <a:ext cx="2470814" cy="576549"/>
            <a:chOff x="0" y="0"/>
            <a:chExt cx="3294418" cy="768731"/>
          </a:xfrm>
        </p:grpSpPr>
        <p:sp>
          <p:nvSpPr>
            <p:cNvPr id="143" name="Google Shape;143;p2"/>
            <p:cNvSpPr/>
            <p:nvPr/>
          </p:nvSpPr>
          <p:spPr>
            <a:xfrm>
              <a:off x="0" y="0"/>
              <a:ext cx="3294380" cy="768731"/>
            </a:xfrm>
            <a:custGeom>
              <a:rect b="b" l="l" r="r" t="t"/>
              <a:pathLst>
                <a:path extrusionOk="0" h="76873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DFF7EF"/>
            </a:solidFill>
            <a:ln>
              <a:noFill/>
            </a:ln>
          </p:spPr>
        </p:sp>
        <p:sp>
          <p:nvSpPr>
            <p:cNvPr id="144" name="Google Shape;144;p2"/>
            <p:cNvSpPr txBox="1"/>
            <p:nvPr/>
          </p:nvSpPr>
          <p:spPr>
            <a:xfrm>
              <a:off x="0" y="0"/>
              <a:ext cx="3294418" cy="768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2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SPEED</a:t>
              </a:r>
              <a:endParaRPr/>
            </a:p>
          </p:txBody>
        </p:sp>
      </p:grpSp>
      <p:grpSp>
        <p:nvGrpSpPr>
          <p:cNvPr id="145" name="Google Shape;145;p2"/>
          <p:cNvGrpSpPr/>
          <p:nvPr/>
        </p:nvGrpSpPr>
        <p:grpSpPr>
          <a:xfrm>
            <a:off x="9677343" y="4186647"/>
            <a:ext cx="6108392" cy="892236"/>
            <a:chOff x="0" y="0"/>
            <a:chExt cx="8144523" cy="1189649"/>
          </a:xfrm>
        </p:grpSpPr>
        <p:sp>
          <p:nvSpPr>
            <p:cNvPr id="146" name="Google Shape;146;p2"/>
            <p:cNvSpPr/>
            <p:nvPr/>
          </p:nvSpPr>
          <p:spPr>
            <a:xfrm>
              <a:off x="0" y="0"/>
              <a:ext cx="8144523" cy="1189649"/>
            </a:xfrm>
            <a:custGeom>
              <a:rect b="b" l="l" r="r" t="t"/>
              <a:pathLst>
                <a:path extrusionOk="0" h="1189649" w="8144523">
                  <a:moveTo>
                    <a:pt x="0" y="0"/>
                  </a:moveTo>
                  <a:lnTo>
                    <a:pt x="8144523" y="0"/>
                  </a:lnTo>
                  <a:lnTo>
                    <a:pt x="8144523" y="1189649"/>
                  </a:lnTo>
                  <a:lnTo>
                    <a:pt x="0" y="118964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3397" l="0" r="0" t="-83397"/>
              </a:stretch>
            </a:blipFill>
            <a:ln>
              <a:noFill/>
            </a:ln>
          </p:spPr>
        </p:sp>
        <p:sp>
          <p:nvSpPr>
            <p:cNvPr id="147" name="Google Shape;147;p2"/>
            <p:cNvSpPr txBox="1"/>
            <p:nvPr/>
          </p:nvSpPr>
          <p:spPr>
            <a:xfrm>
              <a:off x="0" y="0"/>
              <a:ext cx="8144523" cy="11896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3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2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 right answer depends on what your project values more.</a:t>
              </a:r>
              <a:endParaRPr/>
            </a:p>
          </p:txBody>
        </p:sp>
      </p:grpSp>
      <p:grpSp>
        <p:nvGrpSpPr>
          <p:cNvPr id="148" name="Google Shape;148;p2"/>
          <p:cNvGrpSpPr/>
          <p:nvPr/>
        </p:nvGrpSpPr>
        <p:grpSpPr>
          <a:xfrm>
            <a:off x="16952500" y="9629013"/>
            <a:ext cx="343168" cy="309134"/>
            <a:chOff x="0" y="-9525"/>
            <a:chExt cx="457557" cy="412179"/>
          </a:xfrm>
        </p:grpSpPr>
        <p:sp>
          <p:nvSpPr>
            <p:cNvPr id="149" name="Google Shape;149;p2"/>
            <p:cNvSpPr/>
            <p:nvPr/>
          </p:nvSpPr>
          <p:spPr>
            <a:xfrm>
              <a:off x="0" y="0"/>
              <a:ext cx="457557" cy="402651"/>
            </a:xfrm>
            <a:custGeom>
              <a:rect b="b" l="l" r="r" t="t"/>
              <a:pathLst>
                <a:path extrusionOk="0" h="402651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02651"/>
                  </a:lnTo>
                  <a:lnTo>
                    <a:pt x="0" y="40265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62908" r="-62908" t="0"/>
              </a:stretch>
            </a:blipFill>
            <a:ln>
              <a:noFill/>
            </a:ln>
          </p:spPr>
        </p:sp>
        <p:sp>
          <p:nvSpPr>
            <p:cNvPr id="150" name="Google Shape;150;p2"/>
            <p:cNvSpPr txBox="1"/>
            <p:nvPr/>
          </p:nvSpPr>
          <p:spPr>
            <a:xfrm>
              <a:off x="0" y="-9525"/>
              <a:ext cx="457556" cy="412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5" u="none" cap="none" strike="noStrike">
                  <a:solidFill>
                    <a:srgbClr val="778195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151" name="Google Shape;151;p2"/>
          <p:cNvSpPr txBox="1"/>
          <p:nvPr/>
        </p:nvSpPr>
        <p:spPr>
          <a:xfrm>
            <a:off x="587573" y="9422797"/>
            <a:ext cx="5699270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Names : Emmanuel ABABIO, Robert Thompson, Olis Bahari</a:t>
            </a:r>
            <a:endParaRPr/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B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"/>
          <p:cNvSpPr/>
          <p:nvPr/>
        </p:nvSpPr>
        <p:spPr>
          <a:xfrm>
            <a:off x="196367" y="196367"/>
            <a:ext cx="540639" cy="540639"/>
          </a:xfrm>
          <a:custGeom>
            <a:rect b="b" l="l" r="r" t="t"/>
            <a:pathLst>
              <a:path extrusionOk="0" h="720852" w="720852">
                <a:moveTo>
                  <a:pt x="0" y="0"/>
                </a:moveTo>
                <a:lnTo>
                  <a:pt x="720852" y="0"/>
                </a:lnTo>
                <a:lnTo>
                  <a:pt x="720852" y="720852"/>
                </a:lnTo>
                <a:lnTo>
                  <a:pt x="0" y="720852"/>
                </a:lnTo>
                <a:close/>
              </a:path>
            </a:pathLst>
          </a:custGeom>
          <a:solidFill>
            <a:srgbClr val="FFF2B8">
              <a:alpha val="35686"/>
            </a:srgbClr>
          </a:solidFill>
          <a:ln>
            <a:noFill/>
          </a:ln>
        </p:spPr>
      </p:sp>
      <p:sp>
        <p:nvSpPr>
          <p:cNvPr id="157" name="Google Shape;157;p3"/>
          <p:cNvSpPr/>
          <p:nvPr/>
        </p:nvSpPr>
        <p:spPr>
          <a:xfrm>
            <a:off x="17354769" y="9530544"/>
            <a:ext cx="499491" cy="499491"/>
          </a:xfrm>
          <a:custGeom>
            <a:rect b="b" l="l" r="r" t="t"/>
            <a:pathLst>
              <a:path extrusionOk="0" h="665988" w="665988">
                <a:moveTo>
                  <a:pt x="0" y="0"/>
                </a:moveTo>
                <a:lnTo>
                  <a:pt x="665988" y="0"/>
                </a:lnTo>
                <a:lnTo>
                  <a:pt x="665988" y="665988"/>
                </a:lnTo>
                <a:lnTo>
                  <a:pt x="0" y="665988"/>
                </a:lnTo>
                <a:close/>
              </a:path>
            </a:pathLst>
          </a:custGeom>
          <a:solidFill>
            <a:srgbClr val="DFF7EF">
              <a:alpha val="35686"/>
            </a:srgbClr>
          </a:solidFill>
          <a:ln>
            <a:noFill/>
          </a:ln>
        </p:spPr>
      </p:sp>
      <p:grpSp>
        <p:nvGrpSpPr>
          <p:cNvPr id="158" name="Google Shape;158;p3"/>
          <p:cNvGrpSpPr/>
          <p:nvPr/>
        </p:nvGrpSpPr>
        <p:grpSpPr>
          <a:xfrm>
            <a:off x="892235" y="521618"/>
            <a:ext cx="13040392" cy="576523"/>
            <a:chOff x="0" y="0"/>
            <a:chExt cx="17387189" cy="768697"/>
          </a:xfrm>
        </p:grpSpPr>
        <p:sp>
          <p:nvSpPr>
            <p:cNvPr id="159" name="Google Shape;159;p3"/>
            <p:cNvSpPr/>
            <p:nvPr/>
          </p:nvSpPr>
          <p:spPr>
            <a:xfrm>
              <a:off x="0" y="0"/>
              <a:ext cx="17387184" cy="768697"/>
            </a:xfrm>
            <a:custGeom>
              <a:rect b="b" l="l" r="r" t="t"/>
              <a:pathLst>
                <a:path extrusionOk="0" h="768697" w="17387184">
                  <a:moveTo>
                    <a:pt x="0" y="0"/>
                  </a:moveTo>
                  <a:lnTo>
                    <a:pt x="17387184" y="0"/>
                  </a:lnTo>
                  <a:lnTo>
                    <a:pt x="17387184" y="768697"/>
                  </a:lnTo>
                  <a:lnTo>
                    <a:pt x="0" y="76869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0761" l="0" r="0" t="-390761"/>
              </a:stretch>
            </a:blipFill>
            <a:ln>
              <a:noFill/>
            </a:ln>
          </p:spPr>
        </p:sp>
        <p:sp>
          <p:nvSpPr>
            <p:cNvPr id="160" name="Google Shape;160;p3"/>
            <p:cNvSpPr txBox="1"/>
            <p:nvPr/>
          </p:nvSpPr>
          <p:spPr>
            <a:xfrm>
              <a:off x="0" y="0"/>
              <a:ext cx="17387189" cy="768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03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Background: where each tool came from</a:t>
              </a:r>
              <a:endParaRPr/>
            </a:p>
          </p:txBody>
        </p:sp>
      </p:grpSp>
      <p:grpSp>
        <p:nvGrpSpPr>
          <p:cNvPr id="161" name="Google Shape;161;p3"/>
          <p:cNvGrpSpPr/>
          <p:nvPr/>
        </p:nvGrpSpPr>
        <p:grpSpPr>
          <a:xfrm>
            <a:off x="905961" y="1194225"/>
            <a:ext cx="14275794" cy="411804"/>
            <a:chOff x="0" y="0"/>
            <a:chExt cx="19034392" cy="549072"/>
          </a:xfrm>
        </p:grpSpPr>
        <p:sp>
          <p:nvSpPr>
            <p:cNvPr id="162" name="Google Shape;162;p3"/>
            <p:cNvSpPr/>
            <p:nvPr/>
          </p:nvSpPr>
          <p:spPr>
            <a:xfrm>
              <a:off x="0" y="0"/>
              <a:ext cx="19034390" cy="549069"/>
            </a:xfrm>
            <a:custGeom>
              <a:rect b="b" l="l" r="r" t="t"/>
              <a:pathLst>
                <a:path extrusionOk="0" h="549069" w="19034390">
                  <a:moveTo>
                    <a:pt x="0" y="0"/>
                  </a:moveTo>
                  <a:lnTo>
                    <a:pt x="19034390" y="0"/>
                  </a:lnTo>
                  <a:lnTo>
                    <a:pt x="19034390" y="549069"/>
                  </a:lnTo>
                  <a:lnTo>
                    <a:pt x="0" y="54906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25493" l="0" r="0" t="-625493"/>
              </a:stretch>
            </a:blipFill>
            <a:ln>
              <a:noFill/>
            </a:ln>
          </p:spPr>
        </p:sp>
        <p:sp>
          <p:nvSpPr>
            <p:cNvPr id="163" name="Google Shape;163;p3"/>
            <p:cNvSpPr txBox="1"/>
            <p:nvPr/>
          </p:nvSpPr>
          <p:spPr>
            <a:xfrm>
              <a:off x="0" y="0"/>
              <a:ext cx="19034392" cy="549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Hugging Face grew from open-source model sharing; OpenAI grew from frontier models delivered through products and APIs.</a:t>
              </a:r>
              <a:endParaRPr/>
            </a:p>
          </p:txBody>
        </p:sp>
      </p:grpSp>
      <p:cxnSp>
        <p:nvCxnSpPr>
          <p:cNvPr id="164" name="Google Shape;164;p3"/>
          <p:cNvCxnSpPr/>
          <p:nvPr/>
        </p:nvCxnSpPr>
        <p:spPr>
          <a:xfrm>
            <a:off x="1353603" y="4648022"/>
            <a:ext cx="14754287" cy="19067"/>
          </a:xfrm>
          <a:prstGeom prst="straightConnector1">
            <a:avLst/>
          </a:prstGeom>
          <a:noFill/>
          <a:ln cap="rnd" cmpd="sng" w="19050">
            <a:solidFill>
              <a:srgbClr val="BFC7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3"/>
          <p:cNvSpPr/>
          <p:nvPr/>
        </p:nvSpPr>
        <p:spPr>
          <a:xfrm>
            <a:off x="1980838" y="4410475"/>
            <a:ext cx="513207" cy="513207"/>
          </a:xfrm>
          <a:custGeom>
            <a:rect b="b" l="l" r="r" t="t"/>
            <a:pathLst>
              <a:path extrusionOk="0" h="684276" w="684276">
                <a:moveTo>
                  <a:pt x="0" y="342138"/>
                </a:moveTo>
                <a:cubicBezTo>
                  <a:pt x="0" y="153162"/>
                  <a:pt x="153162" y="0"/>
                  <a:pt x="342138" y="0"/>
                </a:cubicBezTo>
                <a:cubicBezTo>
                  <a:pt x="531114" y="0"/>
                  <a:pt x="684276" y="153162"/>
                  <a:pt x="684276" y="342138"/>
                </a:cubicBezTo>
                <a:cubicBezTo>
                  <a:pt x="684276" y="531114"/>
                  <a:pt x="531114" y="684276"/>
                  <a:pt x="342138" y="684276"/>
                </a:cubicBezTo>
                <a:cubicBezTo>
                  <a:pt x="153162" y="684276"/>
                  <a:pt x="0" y="531114"/>
                  <a:pt x="0" y="342138"/>
                </a:cubicBezTo>
                <a:close/>
              </a:path>
            </a:pathLst>
          </a:custGeom>
          <a:solidFill>
            <a:srgbClr val="10A37F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3"/>
          <p:cNvGrpSpPr/>
          <p:nvPr/>
        </p:nvGrpSpPr>
        <p:grpSpPr>
          <a:xfrm>
            <a:off x="1578569" y="3623853"/>
            <a:ext cx="1304039" cy="343168"/>
            <a:chOff x="0" y="0"/>
            <a:chExt cx="1738719" cy="457557"/>
          </a:xfrm>
        </p:grpSpPr>
        <p:sp>
          <p:nvSpPr>
            <p:cNvPr id="167" name="Google Shape;167;p3"/>
            <p:cNvSpPr/>
            <p:nvPr/>
          </p:nvSpPr>
          <p:spPr>
            <a:xfrm>
              <a:off x="0" y="0"/>
              <a:ext cx="1738718" cy="457557"/>
            </a:xfrm>
            <a:custGeom>
              <a:rect b="b" l="l" r="r" t="t"/>
              <a:pathLst>
                <a:path extrusionOk="0" h="457557" w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457557"/>
                  </a:lnTo>
                  <a:lnTo>
                    <a:pt x="0" y="45755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042" l="0" r="0" t="-24043"/>
              </a:stretch>
            </a:blipFill>
            <a:ln>
              <a:noFill/>
            </a:ln>
          </p:spPr>
        </p:sp>
        <p:sp>
          <p:nvSpPr>
            <p:cNvPr id="168" name="Google Shape;168;p3"/>
            <p:cNvSpPr txBox="1"/>
            <p:nvPr/>
          </p:nvSpPr>
          <p:spPr>
            <a:xfrm>
              <a:off x="0" y="0"/>
              <a:ext cx="1738719" cy="4575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2015</a:t>
              </a:r>
              <a:endParaRPr/>
            </a:p>
          </p:txBody>
        </p:sp>
      </p:grpSp>
      <p:grpSp>
        <p:nvGrpSpPr>
          <p:cNvPr id="169" name="Google Shape;169;p3"/>
          <p:cNvGrpSpPr/>
          <p:nvPr/>
        </p:nvGrpSpPr>
        <p:grpSpPr>
          <a:xfrm>
            <a:off x="892235" y="5188706"/>
            <a:ext cx="2608078" cy="713794"/>
            <a:chOff x="0" y="0"/>
            <a:chExt cx="3477438" cy="951725"/>
          </a:xfrm>
        </p:grpSpPr>
        <p:sp>
          <p:nvSpPr>
            <p:cNvPr id="170" name="Google Shape;170;p3"/>
            <p:cNvSpPr/>
            <p:nvPr/>
          </p:nvSpPr>
          <p:spPr>
            <a:xfrm>
              <a:off x="0" y="0"/>
              <a:ext cx="3477437" cy="951720"/>
            </a:xfrm>
            <a:custGeom>
              <a:rect b="b" l="l" r="r" t="t"/>
              <a:pathLst>
                <a:path extrusionOk="0" h="951720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951720"/>
                  </a:lnTo>
                  <a:lnTo>
                    <a:pt x="0" y="9517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1195" l="0" r="0" t="-21195"/>
              </a:stretch>
            </a:blipFill>
            <a:ln>
              <a:noFill/>
            </a:ln>
          </p:spPr>
        </p:sp>
        <p:sp>
          <p:nvSpPr>
            <p:cNvPr id="171" name="Google Shape;171;p3"/>
            <p:cNvSpPr txBox="1"/>
            <p:nvPr/>
          </p:nvSpPr>
          <p:spPr>
            <a:xfrm>
              <a:off x="0" y="0"/>
              <a:ext cx="3477438" cy="951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OpenAI</a:t>
              </a:r>
              <a:endParaRPr/>
            </a:p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founded</a:t>
              </a:r>
              <a:endParaRPr/>
            </a:p>
          </p:txBody>
        </p:sp>
      </p:grpSp>
      <p:sp>
        <p:nvSpPr>
          <p:cNvPr id="172" name="Google Shape;172;p3"/>
          <p:cNvSpPr/>
          <p:nvPr/>
        </p:nvSpPr>
        <p:spPr>
          <a:xfrm>
            <a:off x="4383014" y="4410475"/>
            <a:ext cx="513207" cy="513207"/>
          </a:xfrm>
          <a:custGeom>
            <a:rect b="b" l="l" r="r" t="t"/>
            <a:pathLst>
              <a:path extrusionOk="0" h="684276" w="684276">
                <a:moveTo>
                  <a:pt x="0" y="342138"/>
                </a:moveTo>
                <a:cubicBezTo>
                  <a:pt x="0" y="153162"/>
                  <a:pt x="153162" y="0"/>
                  <a:pt x="342138" y="0"/>
                </a:cubicBezTo>
                <a:cubicBezTo>
                  <a:pt x="531114" y="0"/>
                  <a:pt x="684276" y="153162"/>
                  <a:pt x="684276" y="342138"/>
                </a:cubicBezTo>
                <a:cubicBezTo>
                  <a:pt x="684276" y="531114"/>
                  <a:pt x="531114" y="684276"/>
                  <a:pt x="342138" y="684276"/>
                </a:cubicBezTo>
                <a:cubicBezTo>
                  <a:pt x="153162" y="684276"/>
                  <a:pt x="0" y="531114"/>
                  <a:pt x="0" y="342138"/>
                </a:cubicBezTo>
                <a:close/>
              </a:path>
            </a:pathLst>
          </a:custGeom>
          <a:solidFill>
            <a:srgbClr val="FFCC4D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3" name="Google Shape;173;p3"/>
          <p:cNvGrpSpPr/>
          <p:nvPr/>
        </p:nvGrpSpPr>
        <p:grpSpPr>
          <a:xfrm>
            <a:off x="3980755" y="3623853"/>
            <a:ext cx="1304039" cy="343168"/>
            <a:chOff x="0" y="0"/>
            <a:chExt cx="1738719" cy="457557"/>
          </a:xfrm>
        </p:grpSpPr>
        <p:sp>
          <p:nvSpPr>
            <p:cNvPr id="174" name="Google Shape;174;p3"/>
            <p:cNvSpPr/>
            <p:nvPr/>
          </p:nvSpPr>
          <p:spPr>
            <a:xfrm>
              <a:off x="0" y="0"/>
              <a:ext cx="1738718" cy="457557"/>
            </a:xfrm>
            <a:custGeom>
              <a:rect b="b" l="l" r="r" t="t"/>
              <a:pathLst>
                <a:path extrusionOk="0" h="457557" w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457557"/>
                  </a:lnTo>
                  <a:lnTo>
                    <a:pt x="0" y="45755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042" l="0" r="0" t="-24043"/>
              </a:stretch>
            </a:blipFill>
            <a:ln>
              <a:noFill/>
            </a:ln>
          </p:spPr>
        </p:sp>
        <p:sp>
          <p:nvSpPr>
            <p:cNvPr id="175" name="Google Shape;175;p3"/>
            <p:cNvSpPr txBox="1"/>
            <p:nvPr/>
          </p:nvSpPr>
          <p:spPr>
            <a:xfrm>
              <a:off x="0" y="0"/>
              <a:ext cx="1738719" cy="4575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2016</a:t>
              </a:r>
              <a:endParaRPr/>
            </a:p>
          </p:txBody>
        </p:sp>
      </p:grpSp>
      <p:grpSp>
        <p:nvGrpSpPr>
          <p:cNvPr id="176" name="Google Shape;176;p3"/>
          <p:cNvGrpSpPr/>
          <p:nvPr/>
        </p:nvGrpSpPr>
        <p:grpSpPr>
          <a:xfrm>
            <a:off x="3294412" y="2402176"/>
            <a:ext cx="2608078" cy="713794"/>
            <a:chOff x="0" y="0"/>
            <a:chExt cx="3477438" cy="951725"/>
          </a:xfrm>
        </p:grpSpPr>
        <p:sp>
          <p:nvSpPr>
            <p:cNvPr id="177" name="Google Shape;177;p3"/>
            <p:cNvSpPr/>
            <p:nvPr/>
          </p:nvSpPr>
          <p:spPr>
            <a:xfrm>
              <a:off x="0" y="0"/>
              <a:ext cx="3477437" cy="951720"/>
            </a:xfrm>
            <a:custGeom>
              <a:rect b="b" l="l" r="r" t="t"/>
              <a:pathLst>
                <a:path extrusionOk="0" h="951720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951720"/>
                  </a:lnTo>
                  <a:lnTo>
                    <a:pt x="0" y="9517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1195" l="0" r="0" t="-21195"/>
              </a:stretch>
            </a:blipFill>
            <a:ln>
              <a:noFill/>
            </a:ln>
          </p:spPr>
        </p:sp>
        <p:sp>
          <p:nvSpPr>
            <p:cNvPr id="178" name="Google Shape;178;p3"/>
            <p:cNvSpPr txBox="1"/>
            <p:nvPr/>
          </p:nvSpPr>
          <p:spPr>
            <a:xfrm>
              <a:off x="0" y="0"/>
              <a:ext cx="3477438" cy="951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Hugging Face</a:t>
              </a:r>
              <a:endParaRPr/>
            </a:p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founded</a:t>
              </a:r>
              <a:endParaRPr/>
            </a:p>
          </p:txBody>
        </p:sp>
      </p:grpSp>
      <p:sp>
        <p:nvSpPr>
          <p:cNvPr id="179" name="Google Shape;179;p3"/>
          <p:cNvSpPr/>
          <p:nvPr/>
        </p:nvSpPr>
        <p:spPr>
          <a:xfrm>
            <a:off x="6785200" y="4410475"/>
            <a:ext cx="513207" cy="513207"/>
          </a:xfrm>
          <a:custGeom>
            <a:rect b="b" l="l" r="r" t="t"/>
            <a:pathLst>
              <a:path extrusionOk="0" h="684276" w="684276">
                <a:moveTo>
                  <a:pt x="0" y="342138"/>
                </a:moveTo>
                <a:cubicBezTo>
                  <a:pt x="0" y="153162"/>
                  <a:pt x="153162" y="0"/>
                  <a:pt x="342138" y="0"/>
                </a:cubicBezTo>
                <a:cubicBezTo>
                  <a:pt x="531114" y="0"/>
                  <a:pt x="684276" y="153162"/>
                  <a:pt x="684276" y="342138"/>
                </a:cubicBezTo>
                <a:cubicBezTo>
                  <a:pt x="684276" y="531114"/>
                  <a:pt x="531114" y="684276"/>
                  <a:pt x="342138" y="684276"/>
                </a:cubicBezTo>
                <a:cubicBezTo>
                  <a:pt x="153162" y="684276"/>
                  <a:pt x="0" y="531114"/>
                  <a:pt x="0" y="342138"/>
                </a:cubicBezTo>
                <a:close/>
              </a:path>
            </a:pathLst>
          </a:custGeom>
          <a:solidFill>
            <a:srgbClr val="3B82F6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" name="Google Shape;180;p3"/>
          <p:cNvGrpSpPr/>
          <p:nvPr/>
        </p:nvGrpSpPr>
        <p:grpSpPr>
          <a:xfrm>
            <a:off x="6382931" y="3623853"/>
            <a:ext cx="1304039" cy="343168"/>
            <a:chOff x="0" y="0"/>
            <a:chExt cx="1738719" cy="457557"/>
          </a:xfrm>
        </p:grpSpPr>
        <p:sp>
          <p:nvSpPr>
            <p:cNvPr id="181" name="Google Shape;181;p3"/>
            <p:cNvSpPr/>
            <p:nvPr/>
          </p:nvSpPr>
          <p:spPr>
            <a:xfrm>
              <a:off x="0" y="0"/>
              <a:ext cx="1738718" cy="457557"/>
            </a:xfrm>
            <a:custGeom>
              <a:rect b="b" l="l" r="r" t="t"/>
              <a:pathLst>
                <a:path extrusionOk="0" h="457557" w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457557"/>
                  </a:lnTo>
                  <a:lnTo>
                    <a:pt x="0" y="45755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042" l="0" r="0" t="-24043"/>
              </a:stretch>
            </a:blipFill>
            <a:ln>
              <a:noFill/>
            </a:ln>
          </p:spPr>
        </p:sp>
        <p:sp>
          <p:nvSpPr>
            <p:cNvPr id="182" name="Google Shape;182;p3"/>
            <p:cNvSpPr txBox="1"/>
            <p:nvPr/>
          </p:nvSpPr>
          <p:spPr>
            <a:xfrm>
              <a:off x="0" y="0"/>
              <a:ext cx="1738719" cy="4575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2017</a:t>
              </a:r>
              <a:endParaRPr/>
            </a:p>
          </p:txBody>
        </p:sp>
      </p:grpSp>
      <p:grpSp>
        <p:nvGrpSpPr>
          <p:cNvPr id="183" name="Google Shape;183;p3"/>
          <p:cNvGrpSpPr/>
          <p:nvPr/>
        </p:nvGrpSpPr>
        <p:grpSpPr>
          <a:xfrm>
            <a:off x="5696588" y="5188706"/>
            <a:ext cx="2608078" cy="713794"/>
            <a:chOff x="0" y="0"/>
            <a:chExt cx="3477438" cy="951725"/>
          </a:xfrm>
        </p:grpSpPr>
        <p:sp>
          <p:nvSpPr>
            <p:cNvPr id="184" name="Google Shape;184;p3"/>
            <p:cNvSpPr/>
            <p:nvPr/>
          </p:nvSpPr>
          <p:spPr>
            <a:xfrm>
              <a:off x="0" y="0"/>
              <a:ext cx="3477437" cy="951720"/>
            </a:xfrm>
            <a:custGeom>
              <a:rect b="b" l="l" r="r" t="t"/>
              <a:pathLst>
                <a:path extrusionOk="0" h="951720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951720"/>
                  </a:lnTo>
                  <a:lnTo>
                    <a:pt x="0" y="9517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1195" l="0" r="0" t="-21195"/>
              </a:stretch>
            </a:blipFill>
            <a:ln>
              <a:noFill/>
            </a:ln>
          </p:spPr>
        </p:sp>
        <p:sp>
          <p:nvSpPr>
            <p:cNvPr id="185" name="Google Shape;185;p3"/>
            <p:cNvSpPr txBox="1"/>
            <p:nvPr/>
          </p:nvSpPr>
          <p:spPr>
            <a:xfrm>
              <a:off x="0" y="0"/>
              <a:ext cx="3477438" cy="951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Transformer</a:t>
              </a:r>
              <a:endParaRPr/>
            </a:p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paper</a:t>
              </a:r>
              <a:endParaRPr/>
            </a:p>
          </p:txBody>
        </p:sp>
      </p:grpSp>
      <p:sp>
        <p:nvSpPr>
          <p:cNvPr id="186" name="Google Shape;186;p3"/>
          <p:cNvSpPr/>
          <p:nvPr/>
        </p:nvSpPr>
        <p:spPr>
          <a:xfrm>
            <a:off x="9599171" y="4410475"/>
            <a:ext cx="513207" cy="513207"/>
          </a:xfrm>
          <a:custGeom>
            <a:rect b="b" l="l" r="r" t="t"/>
            <a:pathLst>
              <a:path extrusionOk="0" h="684276" w="684276">
                <a:moveTo>
                  <a:pt x="0" y="342138"/>
                </a:moveTo>
                <a:cubicBezTo>
                  <a:pt x="0" y="153162"/>
                  <a:pt x="153162" y="0"/>
                  <a:pt x="342138" y="0"/>
                </a:cubicBezTo>
                <a:cubicBezTo>
                  <a:pt x="531114" y="0"/>
                  <a:pt x="684276" y="153162"/>
                  <a:pt x="684276" y="342138"/>
                </a:cubicBezTo>
                <a:cubicBezTo>
                  <a:pt x="684276" y="531114"/>
                  <a:pt x="531114" y="684276"/>
                  <a:pt x="342138" y="684276"/>
                </a:cubicBezTo>
                <a:cubicBezTo>
                  <a:pt x="153162" y="684276"/>
                  <a:pt x="0" y="531114"/>
                  <a:pt x="0" y="342138"/>
                </a:cubicBezTo>
                <a:close/>
              </a:path>
            </a:pathLst>
          </a:custGeom>
          <a:solidFill>
            <a:srgbClr val="7C3AED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7" name="Google Shape;187;p3"/>
          <p:cNvGrpSpPr/>
          <p:nvPr/>
        </p:nvGrpSpPr>
        <p:grpSpPr>
          <a:xfrm>
            <a:off x="9196902" y="3623853"/>
            <a:ext cx="1304039" cy="343168"/>
            <a:chOff x="0" y="0"/>
            <a:chExt cx="1738719" cy="457557"/>
          </a:xfrm>
        </p:grpSpPr>
        <p:sp>
          <p:nvSpPr>
            <p:cNvPr id="188" name="Google Shape;188;p3"/>
            <p:cNvSpPr/>
            <p:nvPr/>
          </p:nvSpPr>
          <p:spPr>
            <a:xfrm>
              <a:off x="0" y="0"/>
              <a:ext cx="1738718" cy="457557"/>
            </a:xfrm>
            <a:custGeom>
              <a:rect b="b" l="l" r="r" t="t"/>
              <a:pathLst>
                <a:path extrusionOk="0" h="457557" w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457557"/>
                  </a:lnTo>
                  <a:lnTo>
                    <a:pt x="0" y="45755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042" l="0" r="0" t="-24043"/>
              </a:stretch>
            </a:blipFill>
            <a:ln>
              <a:noFill/>
            </a:ln>
          </p:spPr>
        </p:sp>
        <p:sp>
          <p:nvSpPr>
            <p:cNvPr id="189" name="Google Shape;189;p3"/>
            <p:cNvSpPr txBox="1"/>
            <p:nvPr/>
          </p:nvSpPr>
          <p:spPr>
            <a:xfrm>
              <a:off x="0" y="0"/>
              <a:ext cx="1738719" cy="4575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2020</a:t>
              </a:r>
              <a:endParaRPr/>
            </a:p>
          </p:txBody>
        </p:sp>
      </p:grpSp>
      <p:grpSp>
        <p:nvGrpSpPr>
          <p:cNvPr id="190" name="Google Shape;190;p3"/>
          <p:cNvGrpSpPr/>
          <p:nvPr/>
        </p:nvGrpSpPr>
        <p:grpSpPr>
          <a:xfrm>
            <a:off x="8510568" y="2402176"/>
            <a:ext cx="2608078" cy="713794"/>
            <a:chOff x="0" y="0"/>
            <a:chExt cx="3477438" cy="95172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3477437" cy="951720"/>
            </a:xfrm>
            <a:custGeom>
              <a:rect b="b" l="l" r="r" t="t"/>
              <a:pathLst>
                <a:path extrusionOk="0" h="951720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951720"/>
                  </a:lnTo>
                  <a:lnTo>
                    <a:pt x="0" y="9517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1195" l="0" r="0" t="-21195"/>
              </a:stretch>
            </a:blipFill>
            <a:ln>
              <a:noFill/>
            </a:ln>
          </p:spPr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3477438" cy="951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OpenAI API</a:t>
              </a:r>
              <a:endParaRPr/>
            </a:p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beta / HF grows</a:t>
              </a:r>
              <a:endParaRPr/>
            </a:p>
          </p:txBody>
        </p:sp>
      </p:grpSp>
      <p:sp>
        <p:nvSpPr>
          <p:cNvPr id="193" name="Google Shape;193;p3"/>
          <p:cNvSpPr/>
          <p:nvPr/>
        </p:nvSpPr>
        <p:spPr>
          <a:xfrm>
            <a:off x="13099485" y="4410475"/>
            <a:ext cx="513207" cy="513207"/>
          </a:xfrm>
          <a:custGeom>
            <a:rect b="b" l="l" r="r" t="t"/>
            <a:pathLst>
              <a:path extrusionOk="0" h="684276" w="684276">
                <a:moveTo>
                  <a:pt x="0" y="342138"/>
                </a:moveTo>
                <a:cubicBezTo>
                  <a:pt x="0" y="153162"/>
                  <a:pt x="153162" y="0"/>
                  <a:pt x="342138" y="0"/>
                </a:cubicBezTo>
                <a:cubicBezTo>
                  <a:pt x="531114" y="0"/>
                  <a:pt x="684276" y="153162"/>
                  <a:pt x="684276" y="342138"/>
                </a:cubicBezTo>
                <a:cubicBezTo>
                  <a:pt x="684276" y="531114"/>
                  <a:pt x="531114" y="684276"/>
                  <a:pt x="342138" y="684276"/>
                </a:cubicBezTo>
                <a:cubicBezTo>
                  <a:pt x="153162" y="684276"/>
                  <a:pt x="0" y="531114"/>
                  <a:pt x="0" y="342138"/>
                </a:cubicBezTo>
                <a:close/>
              </a:path>
            </a:pathLst>
          </a:custGeom>
          <a:solidFill>
            <a:srgbClr val="172033"/>
          </a:solid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" name="Google Shape;194;p3"/>
          <p:cNvGrpSpPr/>
          <p:nvPr/>
        </p:nvGrpSpPr>
        <p:grpSpPr>
          <a:xfrm>
            <a:off x="12697216" y="3623853"/>
            <a:ext cx="1304039" cy="343168"/>
            <a:chOff x="0" y="0"/>
            <a:chExt cx="1738719" cy="457557"/>
          </a:xfrm>
        </p:grpSpPr>
        <p:sp>
          <p:nvSpPr>
            <p:cNvPr id="195" name="Google Shape;195;p3"/>
            <p:cNvSpPr/>
            <p:nvPr/>
          </p:nvSpPr>
          <p:spPr>
            <a:xfrm>
              <a:off x="0" y="0"/>
              <a:ext cx="1738718" cy="457557"/>
            </a:xfrm>
            <a:custGeom>
              <a:rect b="b" l="l" r="r" t="t"/>
              <a:pathLst>
                <a:path extrusionOk="0" h="457557" w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457557"/>
                  </a:lnTo>
                  <a:lnTo>
                    <a:pt x="0" y="45755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042" l="0" r="0" t="-24043"/>
              </a:stretch>
            </a:blipFill>
            <a:ln>
              <a:noFill/>
            </a:ln>
          </p:spPr>
        </p:sp>
        <p:sp>
          <p:nvSpPr>
            <p:cNvPr id="196" name="Google Shape;196;p3"/>
            <p:cNvSpPr txBox="1"/>
            <p:nvPr/>
          </p:nvSpPr>
          <p:spPr>
            <a:xfrm>
              <a:off x="0" y="0"/>
              <a:ext cx="1738719" cy="4575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Today</a:t>
              </a:r>
              <a:endParaRPr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12010882" y="5188706"/>
            <a:ext cx="2608078" cy="713794"/>
            <a:chOff x="0" y="0"/>
            <a:chExt cx="3477438" cy="951725"/>
          </a:xfrm>
        </p:grpSpPr>
        <p:sp>
          <p:nvSpPr>
            <p:cNvPr id="198" name="Google Shape;198;p3"/>
            <p:cNvSpPr/>
            <p:nvPr/>
          </p:nvSpPr>
          <p:spPr>
            <a:xfrm>
              <a:off x="0" y="0"/>
              <a:ext cx="3477437" cy="951720"/>
            </a:xfrm>
            <a:custGeom>
              <a:rect b="b" l="l" r="r" t="t"/>
              <a:pathLst>
                <a:path extrusionOk="0" h="951720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951720"/>
                  </a:lnTo>
                  <a:lnTo>
                    <a:pt x="0" y="9517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1195" l="0" r="0" t="-21195"/>
              </a:stretch>
            </a:blipFill>
            <a:ln>
              <a:noFill/>
            </a:ln>
          </p:spPr>
        </p:sp>
        <p:sp>
          <p:nvSpPr>
            <p:cNvPr id="199" name="Google Shape;199;p3"/>
            <p:cNvSpPr txBox="1"/>
            <p:nvPr/>
          </p:nvSpPr>
          <p:spPr>
            <a:xfrm>
              <a:off x="0" y="0"/>
              <a:ext cx="3477438" cy="951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Millions of models</a:t>
              </a:r>
              <a:endParaRPr/>
            </a:p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 managed AI APIs</a:t>
              </a:r>
              <a:endParaRPr/>
            </a:p>
          </p:txBody>
        </p:sp>
      </p:grpSp>
      <p:grpSp>
        <p:nvGrpSpPr>
          <p:cNvPr id="200" name="Google Shape;200;p3"/>
          <p:cNvGrpSpPr/>
          <p:nvPr/>
        </p:nvGrpSpPr>
        <p:grpSpPr>
          <a:xfrm>
            <a:off x="1441304" y="7618333"/>
            <a:ext cx="4392552" cy="343168"/>
            <a:chOff x="0" y="0"/>
            <a:chExt cx="5856736" cy="457557"/>
          </a:xfrm>
        </p:grpSpPr>
        <p:sp>
          <p:nvSpPr>
            <p:cNvPr id="201" name="Google Shape;201;p3"/>
            <p:cNvSpPr/>
            <p:nvPr/>
          </p:nvSpPr>
          <p:spPr>
            <a:xfrm>
              <a:off x="0" y="0"/>
              <a:ext cx="5856736" cy="457557"/>
            </a:xfrm>
            <a:custGeom>
              <a:rect b="b" l="l" r="r" t="t"/>
              <a:pathLst>
                <a:path extrusionOk="0" h="457557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457557"/>
                  </a:lnTo>
                  <a:lnTo>
                    <a:pt x="0" y="45755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9401" l="0" r="0" t="-199401"/>
              </a:stretch>
            </a:blipFill>
            <a:ln>
              <a:noFill/>
            </a:ln>
          </p:spPr>
        </p:sp>
        <p:sp>
          <p:nvSpPr>
            <p:cNvPr id="202" name="Google Shape;202;p3"/>
            <p:cNvSpPr txBox="1"/>
            <p:nvPr/>
          </p:nvSpPr>
          <p:spPr>
            <a:xfrm>
              <a:off x="0" y="0"/>
              <a:ext cx="5856732" cy="4575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Hugging Face Transformers</a:t>
              </a:r>
              <a:endParaRPr/>
            </a:p>
          </p:txBody>
        </p:sp>
      </p:grpSp>
      <p:grpSp>
        <p:nvGrpSpPr>
          <p:cNvPr id="203" name="Google Shape;203;p3"/>
          <p:cNvGrpSpPr/>
          <p:nvPr/>
        </p:nvGrpSpPr>
        <p:grpSpPr>
          <a:xfrm>
            <a:off x="1441304" y="8098765"/>
            <a:ext cx="6588828" cy="713794"/>
            <a:chOff x="0" y="0"/>
            <a:chExt cx="8785103" cy="951725"/>
          </a:xfrm>
        </p:grpSpPr>
        <p:sp>
          <p:nvSpPr>
            <p:cNvPr id="204" name="Google Shape;204;p3"/>
            <p:cNvSpPr/>
            <p:nvPr/>
          </p:nvSpPr>
          <p:spPr>
            <a:xfrm>
              <a:off x="0" y="0"/>
              <a:ext cx="8785103" cy="951720"/>
            </a:xfrm>
            <a:custGeom>
              <a:rect b="b" l="l" r="r" t="t"/>
              <a:pathLst>
                <a:path extrusionOk="0" h="951720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951720"/>
                  </a:lnTo>
                  <a:lnTo>
                    <a:pt x="0" y="9517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9864" l="0" r="0" t="-129861"/>
              </a:stretch>
            </a:blipFill>
            <a:ln>
              <a:noFill/>
            </a:ln>
          </p:spPr>
        </p:sp>
        <p:sp>
          <p:nvSpPr>
            <p:cNvPr id="205" name="Google Shape;205;p3"/>
            <p:cNvSpPr txBox="1"/>
            <p:nvPr/>
          </p:nvSpPr>
          <p:spPr>
            <a:xfrm>
              <a:off x="0" y="0"/>
              <a:ext cx="8785098" cy="951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 open-source Python library and model ecosystem for loading, training, sharing, and deploying pretrained models.</a:t>
              </a:r>
              <a:endParaRPr/>
            </a:p>
          </p:txBody>
        </p:sp>
      </p:grpSp>
      <p:grpSp>
        <p:nvGrpSpPr>
          <p:cNvPr id="206" name="Google Shape;206;p3"/>
          <p:cNvGrpSpPr/>
          <p:nvPr/>
        </p:nvGrpSpPr>
        <p:grpSpPr>
          <a:xfrm>
            <a:off x="9677343" y="7618333"/>
            <a:ext cx="3294414" cy="343168"/>
            <a:chOff x="0" y="0"/>
            <a:chExt cx="4392552" cy="457557"/>
          </a:xfrm>
        </p:grpSpPr>
        <p:sp>
          <p:nvSpPr>
            <p:cNvPr id="207" name="Google Shape;207;p3"/>
            <p:cNvSpPr/>
            <p:nvPr/>
          </p:nvSpPr>
          <p:spPr>
            <a:xfrm>
              <a:off x="0" y="0"/>
              <a:ext cx="4392552" cy="457557"/>
            </a:xfrm>
            <a:custGeom>
              <a:rect b="b" l="l" r="r" t="t"/>
              <a:pathLst>
                <a:path extrusionOk="0" h="457557" w="4392552">
                  <a:moveTo>
                    <a:pt x="0" y="0"/>
                  </a:moveTo>
                  <a:lnTo>
                    <a:pt x="4392552" y="0"/>
                  </a:lnTo>
                  <a:lnTo>
                    <a:pt x="4392552" y="457557"/>
                  </a:lnTo>
                  <a:lnTo>
                    <a:pt x="0" y="45755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7056" l="0" r="0" t="-137056"/>
              </a:stretch>
            </a:blipFill>
            <a:ln>
              <a:noFill/>
            </a:ln>
          </p:spPr>
        </p:sp>
        <p:sp>
          <p:nvSpPr>
            <p:cNvPr id="208" name="Google Shape;208;p3"/>
            <p:cNvSpPr txBox="1"/>
            <p:nvPr/>
          </p:nvSpPr>
          <p:spPr>
            <a:xfrm>
              <a:off x="0" y="0"/>
              <a:ext cx="4392549" cy="4575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OpenAI API</a:t>
              </a:r>
              <a:endParaRPr/>
            </a:p>
          </p:txBody>
        </p:sp>
      </p:grpSp>
      <p:grpSp>
        <p:nvGrpSpPr>
          <p:cNvPr id="209" name="Google Shape;209;p3"/>
          <p:cNvGrpSpPr/>
          <p:nvPr/>
        </p:nvGrpSpPr>
        <p:grpSpPr>
          <a:xfrm>
            <a:off x="9677343" y="8098765"/>
            <a:ext cx="6588828" cy="713794"/>
            <a:chOff x="0" y="0"/>
            <a:chExt cx="8785103" cy="951725"/>
          </a:xfrm>
        </p:grpSpPr>
        <p:sp>
          <p:nvSpPr>
            <p:cNvPr id="210" name="Google Shape;210;p3"/>
            <p:cNvSpPr/>
            <p:nvPr/>
          </p:nvSpPr>
          <p:spPr>
            <a:xfrm>
              <a:off x="0" y="0"/>
              <a:ext cx="8785103" cy="951720"/>
            </a:xfrm>
            <a:custGeom>
              <a:rect b="b" l="l" r="r" t="t"/>
              <a:pathLst>
                <a:path extrusionOk="0" h="951720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951720"/>
                  </a:lnTo>
                  <a:lnTo>
                    <a:pt x="0" y="9517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9864" l="0" r="0" t="-129861"/>
              </a:stretch>
            </a:blipFill>
            <a:ln>
              <a:noFill/>
            </a:ln>
          </p:spPr>
        </p:sp>
        <p:sp>
          <p:nvSpPr>
            <p:cNvPr id="211" name="Google Shape;211;p3"/>
            <p:cNvSpPr txBox="1"/>
            <p:nvPr/>
          </p:nvSpPr>
          <p:spPr>
            <a:xfrm>
              <a:off x="0" y="0"/>
              <a:ext cx="8785098" cy="951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 hosted model platform that lets developers call advanced language, vision, audio, and tool-using models through APIs.</a:t>
              </a:r>
              <a:endParaRPr/>
            </a:p>
          </p:txBody>
        </p:sp>
      </p:grpSp>
      <p:grpSp>
        <p:nvGrpSpPr>
          <p:cNvPr id="212" name="Google Shape;212;p3"/>
          <p:cNvGrpSpPr/>
          <p:nvPr/>
        </p:nvGrpSpPr>
        <p:grpSpPr>
          <a:xfrm>
            <a:off x="16952500" y="9629013"/>
            <a:ext cx="343168" cy="309134"/>
            <a:chOff x="0" y="-9525"/>
            <a:chExt cx="457557" cy="412179"/>
          </a:xfrm>
        </p:grpSpPr>
        <p:sp>
          <p:nvSpPr>
            <p:cNvPr id="213" name="Google Shape;213;p3"/>
            <p:cNvSpPr/>
            <p:nvPr/>
          </p:nvSpPr>
          <p:spPr>
            <a:xfrm>
              <a:off x="0" y="0"/>
              <a:ext cx="457557" cy="402651"/>
            </a:xfrm>
            <a:custGeom>
              <a:rect b="b" l="l" r="r" t="t"/>
              <a:pathLst>
                <a:path extrusionOk="0" h="402651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02651"/>
                  </a:lnTo>
                  <a:lnTo>
                    <a:pt x="0" y="40265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62908" r="-62908" t="0"/>
              </a:stretch>
            </a:blipFill>
            <a:ln>
              <a:noFill/>
            </a:ln>
          </p:spPr>
        </p:sp>
        <p:sp>
          <p:nvSpPr>
            <p:cNvPr id="214" name="Google Shape;214;p3"/>
            <p:cNvSpPr txBox="1"/>
            <p:nvPr/>
          </p:nvSpPr>
          <p:spPr>
            <a:xfrm>
              <a:off x="0" y="-9525"/>
              <a:ext cx="457556" cy="412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5" u="none" cap="none" strike="noStrike">
                  <a:solidFill>
                    <a:srgbClr val="778195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215" name="Google Shape;215;p3"/>
          <p:cNvSpPr txBox="1"/>
          <p:nvPr/>
        </p:nvSpPr>
        <p:spPr>
          <a:xfrm>
            <a:off x="587573" y="9422797"/>
            <a:ext cx="5699270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Names : Emmanuel ABABIO, Robert Thompson, Olis Bahari</a:t>
            </a:r>
            <a:endParaRPr/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B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/>
          <p:cNvSpPr/>
          <p:nvPr/>
        </p:nvSpPr>
        <p:spPr>
          <a:xfrm>
            <a:off x="196367" y="196367"/>
            <a:ext cx="540639" cy="540639"/>
          </a:xfrm>
          <a:custGeom>
            <a:rect b="b" l="l" r="r" t="t"/>
            <a:pathLst>
              <a:path extrusionOk="0" h="720852" w="720852">
                <a:moveTo>
                  <a:pt x="0" y="0"/>
                </a:moveTo>
                <a:lnTo>
                  <a:pt x="720852" y="0"/>
                </a:lnTo>
                <a:lnTo>
                  <a:pt x="720852" y="720852"/>
                </a:lnTo>
                <a:lnTo>
                  <a:pt x="0" y="720852"/>
                </a:lnTo>
                <a:close/>
              </a:path>
            </a:pathLst>
          </a:custGeom>
          <a:solidFill>
            <a:srgbClr val="FFF2B8">
              <a:alpha val="35686"/>
            </a:srgbClr>
          </a:solidFill>
          <a:ln>
            <a:noFill/>
          </a:ln>
        </p:spPr>
      </p:sp>
      <p:sp>
        <p:nvSpPr>
          <p:cNvPr id="221" name="Google Shape;221;p4"/>
          <p:cNvSpPr/>
          <p:nvPr/>
        </p:nvSpPr>
        <p:spPr>
          <a:xfrm>
            <a:off x="17354769" y="9530544"/>
            <a:ext cx="499491" cy="499491"/>
          </a:xfrm>
          <a:custGeom>
            <a:rect b="b" l="l" r="r" t="t"/>
            <a:pathLst>
              <a:path extrusionOk="0" h="665988" w="665988">
                <a:moveTo>
                  <a:pt x="0" y="0"/>
                </a:moveTo>
                <a:lnTo>
                  <a:pt x="665988" y="0"/>
                </a:lnTo>
                <a:lnTo>
                  <a:pt x="665988" y="665988"/>
                </a:lnTo>
                <a:lnTo>
                  <a:pt x="0" y="665988"/>
                </a:lnTo>
                <a:close/>
              </a:path>
            </a:pathLst>
          </a:custGeom>
          <a:solidFill>
            <a:srgbClr val="DFF7EF">
              <a:alpha val="35686"/>
            </a:srgbClr>
          </a:solidFill>
          <a:ln>
            <a:noFill/>
          </a:ln>
        </p:spPr>
      </p:sp>
      <p:grpSp>
        <p:nvGrpSpPr>
          <p:cNvPr id="222" name="Google Shape;222;p4"/>
          <p:cNvGrpSpPr/>
          <p:nvPr/>
        </p:nvGrpSpPr>
        <p:grpSpPr>
          <a:xfrm>
            <a:off x="892235" y="521618"/>
            <a:ext cx="13040392" cy="576523"/>
            <a:chOff x="0" y="0"/>
            <a:chExt cx="17387189" cy="768697"/>
          </a:xfrm>
        </p:grpSpPr>
        <p:sp>
          <p:nvSpPr>
            <p:cNvPr id="223" name="Google Shape;223;p4"/>
            <p:cNvSpPr/>
            <p:nvPr/>
          </p:nvSpPr>
          <p:spPr>
            <a:xfrm>
              <a:off x="0" y="0"/>
              <a:ext cx="17387184" cy="768697"/>
            </a:xfrm>
            <a:custGeom>
              <a:rect b="b" l="l" r="r" t="t"/>
              <a:pathLst>
                <a:path extrusionOk="0" h="768697" w="17387184">
                  <a:moveTo>
                    <a:pt x="0" y="0"/>
                  </a:moveTo>
                  <a:lnTo>
                    <a:pt x="17387184" y="0"/>
                  </a:lnTo>
                  <a:lnTo>
                    <a:pt x="17387184" y="768697"/>
                  </a:lnTo>
                  <a:lnTo>
                    <a:pt x="0" y="76869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0761" l="0" r="0" t="-390761"/>
              </a:stretch>
            </a:blipFill>
            <a:ln>
              <a:noFill/>
            </a:ln>
          </p:spPr>
        </p:sp>
        <p:sp>
          <p:nvSpPr>
            <p:cNvPr id="224" name="Google Shape;224;p4"/>
            <p:cNvSpPr txBox="1"/>
            <p:nvPr/>
          </p:nvSpPr>
          <p:spPr>
            <a:xfrm>
              <a:off x="0" y="0"/>
              <a:ext cx="17387189" cy="768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03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Hugging Face Transformers: the open model path</a:t>
              </a:r>
              <a:endParaRPr/>
            </a:p>
          </p:txBody>
        </p:sp>
      </p:grpSp>
      <p:grpSp>
        <p:nvGrpSpPr>
          <p:cNvPr id="225" name="Google Shape;225;p4"/>
          <p:cNvGrpSpPr/>
          <p:nvPr/>
        </p:nvGrpSpPr>
        <p:grpSpPr>
          <a:xfrm>
            <a:off x="905961" y="1194225"/>
            <a:ext cx="14275794" cy="411804"/>
            <a:chOff x="0" y="0"/>
            <a:chExt cx="19034392" cy="549072"/>
          </a:xfrm>
        </p:grpSpPr>
        <p:sp>
          <p:nvSpPr>
            <p:cNvPr id="226" name="Google Shape;226;p4"/>
            <p:cNvSpPr/>
            <p:nvPr/>
          </p:nvSpPr>
          <p:spPr>
            <a:xfrm>
              <a:off x="0" y="0"/>
              <a:ext cx="19034390" cy="549069"/>
            </a:xfrm>
            <a:custGeom>
              <a:rect b="b" l="l" r="r" t="t"/>
              <a:pathLst>
                <a:path extrusionOk="0" h="549069" w="19034390">
                  <a:moveTo>
                    <a:pt x="0" y="0"/>
                  </a:moveTo>
                  <a:lnTo>
                    <a:pt x="19034390" y="0"/>
                  </a:lnTo>
                  <a:lnTo>
                    <a:pt x="19034390" y="549069"/>
                  </a:lnTo>
                  <a:lnTo>
                    <a:pt x="0" y="54906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25493" l="0" r="0" t="-625493"/>
              </a:stretch>
            </a:blipFill>
            <a:ln>
              <a:noFill/>
            </a:ln>
          </p:spPr>
        </p:sp>
        <p:sp>
          <p:nvSpPr>
            <p:cNvPr id="227" name="Google Shape;227;p4"/>
            <p:cNvSpPr txBox="1"/>
            <p:nvPr/>
          </p:nvSpPr>
          <p:spPr>
            <a:xfrm>
              <a:off x="0" y="0"/>
              <a:ext cx="19034392" cy="549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6" u="none" cap="none" strike="noStrike">
                  <a:solidFill>
                    <a:srgbClr val="586174"/>
                  </a:solidFill>
                  <a:latin typeface="Arial"/>
                  <a:ea typeface="Arial"/>
                  <a:cs typeface="Arial"/>
                  <a:sym typeface="Arial"/>
                </a:rPr>
                <a:t>Best when the project needs access to model weights, local control, or custom fine-tuning.</a:t>
              </a:r>
              <a:endParaRPr/>
            </a:p>
          </p:txBody>
        </p:sp>
      </p:grpSp>
      <p:cxnSp>
        <p:nvCxnSpPr>
          <p:cNvPr id="228" name="Google Shape;228;p4"/>
          <p:cNvCxnSpPr/>
          <p:nvPr/>
        </p:nvCxnSpPr>
        <p:spPr>
          <a:xfrm>
            <a:off x="2986726" y="4466525"/>
            <a:ext cx="965250" cy="0"/>
          </a:xfrm>
          <a:prstGeom prst="straightConnector1">
            <a:avLst/>
          </a:prstGeom>
          <a:noFill/>
          <a:ln cap="rnd" cmpd="sng" w="19050">
            <a:solidFill>
              <a:srgbClr val="FFCC4D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29" name="Google Shape;229;p4"/>
          <p:cNvGrpSpPr/>
          <p:nvPr/>
        </p:nvGrpSpPr>
        <p:grpSpPr>
          <a:xfrm>
            <a:off x="859126" y="4068452"/>
            <a:ext cx="2127647" cy="796194"/>
            <a:chOff x="0" y="0"/>
            <a:chExt cx="2836862" cy="1061593"/>
          </a:xfrm>
        </p:grpSpPr>
        <p:sp>
          <p:nvSpPr>
            <p:cNvPr id="230" name="Google Shape;230;p4"/>
            <p:cNvSpPr/>
            <p:nvPr/>
          </p:nvSpPr>
          <p:spPr>
            <a:xfrm>
              <a:off x="0" y="0"/>
              <a:ext cx="2836799" cy="1061593"/>
            </a:xfrm>
            <a:custGeom>
              <a:rect b="b" l="l" r="r" t="t"/>
              <a:pathLst>
                <a:path extrusionOk="0" h="1061593" w="2836799">
                  <a:moveTo>
                    <a:pt x="0" y="0"/>
                  </a:moveTo>
                  <a:lnTo>
                    <a:pt x="2836799" y="0"/>
                  </a:lnTo>
                  <a:lnTo>
                    <a:pt x="2836799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FFCC4D"/>
            </a:solidFill>
            <a:ln>
              <a:noFill/>
            </a:ln>
          </p:spPr>
        </p:sp>
        <p:sp>
          <p:nvSpPr>
            <p:cNvPr id="231" name="Google Shape;231;p4"/>
            <p:cNvSpPr txBox="1"/>
            <p:nvPr/>
          </p:nvSpPr>
          <p:spPr>
            <a:xfrm>
              <a:off x="0" y="0"/>
              <a:ext cx="2836862" cy="10615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Hub</a:t>
              </a:r>
              <a:endParaRPr/>
            </a:p>
          </p:txBody>
        </p:sp>
      </p:grpSp>
      <p:grpSp>
        <p:nvGrpSpPr>
          <p:cNvPr id="232" name="Google Shape;232;p4"/>
          <p:cNvGrpSpPr/>
          <p:nvPr/>
        </p:nvGrpSpPr>
        <p:grpSpPr>
          <a:xfrm>
            <a:off x="919686" y="5696588"/>
            <a:ext cx="2539443" cy="960872"/>
            <a:chOff x="0" y="0"/>
            <a:chExt cx="3385925" cy="1281163"/>
          </a:xfrm>
        </p:grpSpPr>
        <p:sp>
          <p:nvSpPr>
            <p:cNvPr id="233" name="Google Shape;233;p4"/>
            <p:cNvSpPr/>
            <p:nvPr/>
          </p:nvSpPr>
          <p:spPr>
            <a:xfrm>
              <a:off x="0" y="0"/>
              <a:ext cx="3385925" cy="1281161"/>
            </a:xfrm>
            <a:custGeom>
              <a:rect b="b" l="l" r="r" t="t"/>
              <a:pathLst>
                <a:path extrusionOk="0" h="1281161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281161"/>
                  </a:lnTo>
                  <a:lnTo>
                    <a:pt x="0" y="128116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96" l="0" r="0" t="-1496"/>
              </a:stretch>
            </a:blipFill>
            <a:ln>
              <a:noFill/>
            </a:ln>
          </p:spPr>
        </p:sp>
        <p:sp>
          <p:nvSpPr>
            <p:cNvPr id="234" name="Google Shape;234;p4"/>
            <p:cNvSpPr txBox="1"/>
            <p:nvPr/>
          </p:nvSpPr>
          <p:spPr>
            <a:xfrm>
              <a:off x="0" y="0"/>
              <a:ext cx="3385922" cy="1281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models</a:t>
              </a:r>
              <a:endParaRPr/>
            </a:p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datasets</a:t>
              </a:r>
              <a:endParaRPr/>
            </a:p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Spaces</a:t>
              </a:r>
              <a:endParaRPr/>
            </a:p>
          </p:txBody>
        </p:sp>
      </p:grpSp>
      <p:cxnSp>
        <p:nvCxnSpPr>
          <p:cNvPr id="235" name="Google Shape;235;p4"/>
          <p:cNvCxnSpPr/>
          <p:nvPr/>
        </p:nvCxnSpPr>
        <p:spPr>
          <a:xfrm>
            <a:off x="5876314" y="4466525"/>
            <a:ext cx="1319214" cy="0"/>
          </a:xfrm>
          <a:prstGeom prst="straightConnector1">
            <a:avLst/>
          </a:prstGeom>
          <a:noFill/>
          <a:ln cap="rnd" cmpd="sng" w="19050">
            <a:solidFill>
              <a:srgbClr val="FFCC4D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36" name="Google Shape;236;p4"/>
          <p:cNvGrpSpPr/>
          <p:nvPr/>
        </p:nvGrpSpPr>
        <p:grpSpPr>
          <a:xfrm>
            <a:off x="3951976" y="4106482"/>
            <a:ext cx="1924381" cy="720130"/>
            <a:chOff x="0" y="0"/>
            <a:chExt cx="2836862" cy="1061593"/>
          </a:xfrm>
        </p:grpSpPr>
        <p:sp>
          <p:nvSpPr>
            <p:cNvPr id="237" name="Google Shape;237;p4"/>
            <p:cNvSpPr/>
            <p:nvPr/>
          </p:nvSpPr>
          <p:spPr>
            <a:xfrm>
              <a:off x="0" y="0"/>
              <a:ext cx="2836799" cy="1061593"/>
            </a:xfrm>
            <a:custGeom>
              <a:rect b="b" l="l" r="r" t="t"/>
              <a:pathLst>
                <a:path extrusionOk="0" h="1061593" w="2836799">
                  <a:moveTo>
                    <a:pt x="0" y="0"/>
                  </a:moveTo>
                  <a:lnTo>
                    <a:pt x="2836799" y="0"/>
                  </a:lnTo>
                  <a:lnTo>
                    <a:pt x="2836799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8" name="Google Shape;238;p4"/>
            <p:cNvSpPr txBox="1"/>
            <p:nvPr/>
          </p:nvSpPr>
          <p:spPr>
            <a:xfrm>
              <a:off x="0" y="0"/>
              <a:ext cx="2836862" cy="10615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Load</a:t>
              </a:r>
              <a:endParaRPr/>
            </a:p>
          </p:txBody>
        </p:sp>
      </p:grpSp>
      <p:grpSp>
        <p:nvGrpSpPr>
          <p:cNvPr id="239" name="Google Shape;239;p4"/>
          <p:cNvGrpSpPr/>
          <p:nvPr/>
        </p:nvGrpSpPr>
        <p:grpSpPr>
          <a:xfrm>
            <a:off x="4351372" y="5696588"/>
            <a:ext cx="2539443" cy="960872"/>
            <a:chOff x="0" y="0"/>
            <a:chExt cx="3385925" cy="1281163"/>
          </a:xfrm>
        </p:grpSpPr>
        <p:sp>
          <p:nvSpPr>
            <p:cNvPr id="240" name="Google Shape;240;p4"/>
            <p:cNvSpPr/>
            <p:nvPr/>
          </p:nvSpPr>
          <p:spPr>
            <a:xfrm>
              <a:off x="0" y="0"/>
              <a:ext cx="3385925" cy="1281161"/>
            </a:xfrm>
            <a:custGeom>
              <a:rect b="b" l="l" r="r" t="t"/>
              <a:pathLst>
                <a:path extrusionOk="0" h="1281161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281161"/>
                  </a:lnTo>
                  <a:lnTo>
                    <a:pt x="0" y="128116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96" l="0" r="0" t="-1496"/>
              </a:stretch>
            </a:blipFill>
            <a:ln>
              <a:noFill/>
            </a:ln>
          </p:spPr>
        </p:sp>
        <p:sp>
          <p:nvSpPr>
            <p:cNvPr id="241" name="Google Shape;241;p4"/>
            <p:cNvSpPr txBox="1"/>
            <p:nvPr/>
          </p:nvSpPr>
          <p:spPr>
            <a:xfrm>
              <a:off x="0" y="0"/>
              <a:ext cx="3385922" cy="1281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pipeline()</a:t>
              </a:r>
              <a:endParaRPr/>
            </a:p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AutoModel</a:t>
              </a:r>
              <a:endParaRPr/>
            </a:p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Tokenizer</a:t>
              </a:r>
              <a:endParaRPr/>
            </a:p>
          </p:txBody>
        </p:sp>
      </p:grpSp>
      <p:cxnSp>
        <p:nvCxnSpPr>
          <p:cNvPr id="242" name="Google Shape;242;p4"/>
          <p:cNvCxnSpPr/>
          <p:nvPr/>
        </p:nvCxnSpPr>
        <p:spPr>
          <a:xfrm>
            <a:off x="9143952" y="4482925"/>
            <a:ext cx="1648973" cy="110406"/>
          </a:xfrm>
          <a:prstGeom prst="straightConnector1">
            <a:avLst/>
          </a:prstGeom>
          <a:noFill/>
          <a:ln cap="rnd" cmpd="sng" w="19050">
            <a:solidFill>
              <a:srgbClr val="FFCC4D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43" name="Google Shape;243;p4"/>
          <p:cNvGrpSpPr/>
          <p:nvPr/>
        </p:nvGrpSpPr>
        <p:grpSpPr>
          <a:xfrm>
            <a:off x="7016353" y="4068452"/>
            <a:ext cx="2127647" cy="828994"/>
            <a:chOff x="0" y="0"/>
            <a:chExt cx="2836862" cy="1105326"/>
          </a:xfrm>
        </p:grpSpPr>
        <p:sp>
          <p:nvSpPr>
            <p:cNvPr id="244" name="Google Shape;244;p4"/>
            <p:cNvSpPr/>
            <p:nvPr/>
          </p:nvSpPr>
          <p:spPr>
            <a:xfrm>
              <a:off x="0" y="0"/>
              <a:ext cx="2836799" cy="1105326"/>
            </a:xfrm>
            <a:custGeom>
              <a:rect b="b" l="l" r="r" t="t"/>
              <a:pathLst>
                <a:path extrusionOk="0" h="1105326" w="2836799">
                  <a:moveTo>
                    <a:pt x="0" y="0"/>
                  </a:moveTo>
                  <a:lnTo>
                    <a:pt x="2836799" y="0"/>
                  </a:lnTo>
                  <a:lnTo>
                    <a:pt x="2836799" y="1105326"/>
                  </a:lnTo>
                  <a:lnTo>
                    <a:pt x="0" y="11053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5" name="Google Shape;245;p4"/>
            <p:cNvSpPr txBox="1"/>
            <p:nvPr/>
          </p:nvSpPr>
          <p:spPr>
            <a:xfrm>
              <a:off x="0" y="0"/>
              <a:ext cx="2836862" cy="11052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Fine-tune</a:t>
              </a:r>
              <a:endParaRPr/>
            </a:p>
          </p:txBody>
        </p:sp>
      </p:grpSp>
      <p:grpSp>
        <p:nvGrpSpPr>
          <p:cNvPr id="246" name="Google Shape;246;p4"/>
          <p:cNvGrpSpPr/>
          <p:nvPr/>
        </p:nvGrpSpPr>
        <p:grpSpPr>
          <a:xfrm>
            <a:off x="7783049" y="5696588"/>
            <a:ext cx="2539443" cy="960872"/>
            <a:chOff x="0" y="0"/>
            <a:chExt cx="3385925" cy="1281163"/>
          </a:xfrm>
        </p:grpSpPr>
        <p:sp>
          <p:nvSpPr>
            <p:cNvPr id="247" name="Google Shape;247;p4"/>
            <p:cNvSpPr/>
            <p:nvPr/>
          </p:nvSpPr>
          <p:spPr>
            <a:xfrm>
              <a:off x="0" y="0"/>
              <a:ext cx="3385925" cy="1281161"/>
            </a:xfrm>
            <a:custGeom>
              <a:rect b="b" l="l" r="r" t="t"/>
              <a:pathLst>
                <a:path extrusionOk="0" h="1281161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281161"/>
                  </a:lnTo>
                  <a:lnTo>
                    <a:pt x="0" y="128116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96" l="0" r="0" t="-1496"/>
              </a:stretch>
            </a:blipFill>
            <a:ln>
              <a:noFill/>
            </a:ln>
          </p:spPr>
        </p:sp>
        <p:sp>
          <p:nvSpPr>
            <p:cNvPr id="248" name="Google Shape;248;p4"/>
            <p:cNvSpPr txBox="1"/>
            <p:nvPr/>
          </p:nvSpPr>
          <p:spPr>
            <a:xfrm>
              <a:off x="0" y="0"/>
              <a:ext cx="3385922" cy="1281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Trainer</a:t>
              </a:r>
              <a:endParaRPr/>
            </a:p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PEFT / LoRA</a:t>
              </a:r>
              <a:endParaRPr/>
            </a:p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Accelerate</a:t>
              </a:r>
              <a:endParaRPr/>
            </a:p>
          </p:txBody>
        </p:sp>
      </p:grpSp>
      <p:cxnSp>
        <p:nvCxnSpPr>
          <p:cNvPr id="249" name="Google Shape;249;p4"/>
          <p:cNvCxnSpPr/>
          <p:nvPr/>
        </p:nvCxnSpPr>
        <p:spPr>
          <a:xfrm flipH="1" rot="10800000">
            <a:off x="13048207" y="4466525"/>
            <a:ext cx="1143048" cy="16400"/>
          </a:xfrm>
          <a:prstGeom prst="straightConnector1">
            <a:avLst/>
          </a:prstGeom>
          <a:noFill/>
          <a:ln cap="rnd" cmpd="sng" w="19050">
            <a:solidFill>
              <a:srgbClr val="FFCC4D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50" name="Google Shape;250;p4"/>
          <p:cNvGrpSpPr/>
          <p:nvPr/>
        </p:nvGrpSpPr>
        <p:grpSpPr>
          <a:xfrm>
            <a:off x="10920608" y="4084852"/>
            <a:ext cx="2127647" cy="796194"/>
            <a:chOff x="0" y="0"/>
            <a:chExt cx="2836862" cy="1061593"/>
          </a:xfrm>
        </p:grpSpPr>
        <p:sp>
          <p:nvSpPr>
            <p:cNvPr id="251" name="Google Shape;251;p4"/>
            <p:cNvSpPr/>
            <p:nvPr/>
          </p:nvSpPr>
          <p:spPr>
            <a:xfrm>
              <a:off x="0" y="0"/>
              <a:ext cx="2836799" cy="1061593"/>
            </a:xfrm>
            <a:custGeom>
              <a:rect b="b" l="l" r="r" t="t"/>
              <a:pathLst>
                <a:path extrusionOk="0" h="1061593" w="2836799">
                  <a:moveTo>
                    <a:pt x="0" y="0"/>
                  </a:moveTo>
                  <a:lnTo>
                    <a:pt x="2836799" y="0"/>
                  </a:lnTo>
                  <a:lnTo>
                    <a:pt x="2836799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52" name="Google Shape;252;p4"/>
            <p:cNvSpPr txBox="1"/>
            <p:nvPr/>
          </p:nvSpPr>
          <p:spPr>
            <a:xfrm>
              <a:off x="0" y="0"/>
              <a:ext cx="2836862" cy="10615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Evaluate</a:t>
              </a:r>
              <a:endParaRPr/>
            </a:p>
          </p:txBody>
        </p:sp>
      </p:grpSp>
      <p:grpSp>
        <p:nvGrpSpPr>
          <p:cNvPr id="253" name="Google Shape;253;p4"/>
          <p:cNvGrpSpPr/>
          <p:nvPr/>
        </p:nvGrpSpPr>
        <p:grpSpPr>
          <a:xfrm>
            <a:off x="11214735" y="5696588"/>
            <a:ext cx="2539443" cy="960872"/>
            <a:chOff x="0" y="0"/>
            <a:chExt cx="3385925" cy="1281163"/>
          </a:xfrm>
        </p:grpSpPr>
        <p:sp>
          <p:nvSpPr>
            <p:cNvPr id="254" name="Google Shape;254;p4"/>
            <p:cNvSpPr/>
            <p:nvPr/>
          </p:nvSpPr>
          <p:spPr>
            <a:xfrm>
              <a:off x="0" y="0"/>
              <a:ext cx="3385925" cy="1281161"/>
            </a:xfrm>
            <a:custGeom>
              <a:rect b="b" l="l" r="r" t="t"/>
              <a:pathLst>
                <a:path extrusionOk="0" h="1281161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281161"/>
                  </a:lnTo>
                  <a:lnTo>
                    <a:pt x="0" y="128116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96" l="0" r="0" t="-1496"/>
              </a:stretch>
            </a:blipFill>
            <a:ln>
              <a:noFill/>
            </a:ln>
          </p:spPr>
        </p:sp>
        <p:sp>
          <p:nvSpPr>
            <p:cNvPr id="255" name="Google Shape;255;p4"/>
            <p:cNvSpPr txBox="1"/>
            <p:nvPr/>
          </p:nvSpPr>
          <p:spPr>
            <a:xfrm>
              <a:off x="0" y="0"/>
              <a:ext cx="3385922" cy="1281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metrics</a:t>
              </a:r>
              <a:endParaRPr/>
            </a:p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experiments</a:t>
              </a:r>
              <a:endParaRPr/>
            </a:p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benchmarks</a:t>
              </a:r>
              <a:endParaRPr/>
            </a:p>
          </p:txBody>
        </p:sp>
      </p:grpSp>
      <p:grpSp>
        <p:nvGrpSpPr>
          <p:cNvPr id="256" name="Google Shape;256;p4"/>
          <p:cNvGrpSpPr/>
          <p:nvPr/>
        </p:nvGrpSpPr>
        <p:grpSpPr>
          <a:xfrm>
            <a:off x="14191255" y="4068452"/>
            <a:ext cx="2127647" cy="796194"/>
            <a:chOff x="0" y="0"/>
            <a:chExt cx="2836862" cy="1061593"/>
          </a:xfrm>
        </p:grpSpPr>
        <p:sp>
          <p:nvSpPr>
            <p:cNvPr id="257" name="Google Shape;257;p4"/>
            <p:cNvSpPr/>
            <p:nvPr/>
          </p:nvSpPr>
          <p:spPr>
            <a:xfrm>
              <a:off x="0" y="0"/>
              <a:ext cx="2836799" cy="1061593"/>
            </a:xfrm>
            <a:custGeom>
              <a:rect b="b" l="l" r="r" t="t"/>
              <a:pathLst>
                <a:path extrusionOk="0" h="1061593" w="2836799">
                  <a:moveTo>
                    <a:pt x="0" y="0"/>
                  </a:moveTo>
                  <a:lnTo>
                    <a:pt x="2836799" y="0"/>
                  </a:lnTo>
                  <a:lnTo>
                    <a:pt x="2836799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58" name="Google Shape;258;p4"/>
            <p:cNvSpPr txBox="1"/>
            <p:nvPr/>
          </p:nvSpPr>
          <p:spPr>
            <a:xfrm>
              <a:off x="0" y="0"/>
              <a:ext cx="2836862" cy="10615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Deploy</a:t>
              </a:r>
              <a:endParaRPr/>
            </a:p>
          </p:txBody>
        </p:sp>
      </p:grpSp>
      <p:grpSp>
        <p:nvGrpSpPr>
          <p:cNvPr id="259" name="Google Shape;259;p4"/>
          <p:cNvGrpSpPr/>
          <p:nvPr/>
        </p:nvGrpSpPr>
        <p:grpSpPr>
          <a:xfrm>
            <a:off x="14646412" y="5696588"/>
            <a:ext cx="2539443" cy="960872"/>
            <a:chOff x="0" y="0"/>
            <a:chExt cx="3385925" cy="1281163"/>
          </a:xfrm>
        </p:grpSpPr>
        <p:sp>
          <p:nvSpPr>
            <p:cNvPr id="260" name="Google Shape;260;p4"/>
            <p:cNvSpPr/>
            <p:nvPr/>
          </p:nvSpPr>
          <p:spPr>
            <a:xfrm>
              <a:off x="0" y="0"/>
              <a:ext cx="3385925" cy="1281161"/>
            </a:xfrm>
            <a:custGeom>
              <a:rect b="b" l="l" r="r" t="t"/>
              <a:pathLst>
                <a:path extrusionOk="0" h="1281161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281161"/>
                  </a:lnTo>
                  <a:lnTo>
                    <a:pt x="0" y="128116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96" l="0" r="0" t="-1496"/>
              </a:stretch>
            </a:blipFill>
            <a:ln>
              <a:noFill/>
            </a:ln>
          </p:spPr>
        </p:sp>
        <p:sp>
          <p:nvSpPr>
            <p:cNvPr id="261" name="Google Shape;261;p4"/>
            <p:cNvSpPr txBox="1"/>
            <p:nvPr/>
          </p:nvSpPr>
          <p:spPr>
            <a:xfrm>
              <a:off x="0" y="0"/>
              <a:ext cx="3385922" cy="1281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local</a:t>
              </a:r>
              <a:endParaRPr/>
            </a:p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cloud</a:t>
              </a:r>
              <a:endParaRPr/>
            </a:p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7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endpoint</a:t>
              </a:r>
              <a:endParaRPr/>
            </a:p>
          </p:txBody>
        </p:sp>
      </p:grpSp>
      <p:sp>
        <p:nvSpPr>
          <p:cNvPr id="262" name="Google Shape;262;p4"/>
          <p:cNvSpPr/>
          <p:nvPr/>
        </p:nvSpPr>
        <p:spPr>
          <a:xfrm>
            <a:off x="1363142" y="7649975"/>
            <a:ext cx="128968" cy="128968"/>
          </a:xfrm>
          <a:custGeom>
            <a:rect b="b" l="l" r="r" t="t"/>
            <a:pathLst>
              <a:path extrusionOk="0" h="171958" w="171958">
                <a:moveTo>
                  <a:pt x="0" y="85979"/>
                </a:moveTo>
                <a:cubicBezTo>
                  <a:pt x="0" y="38481"/>
                  <a:pt x="38481" y="0"/>
                  <a:pt x="85979" y="0"/>
                </a:cubicBezTo>
                <a:cubicBezTo>
                  <a:pt x="133477" y="0"/>
                  <a:pt x="171958" y="38481"/>
                  <a:pt x="171958" y="85979"/>
                </a:cubicBezTo>
                <a:cubicBezTo>
                  <a:pt x="171958" y="133477"/>
                  <a:pt x="133477" y="171958"/>
                  <a:pt x="85979" y="171958"/>
                </a:cubicBezTo>
                <a:cubicBezTo>
                  <a:pt x="38481" y="171958"/>
                  <a:pt x="0" y="133350"/>
                  <a:pt x="0" y="85979"/>
                </a:cubicBezTo>
                <a:close/>
              </a:path>
            </a:pathLst>
          </a:custGeom>
          <a:solidFill>
            <a:srgbClr val="FFC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3" name="Google Shape;263;p4"/>
          <p:cNvGrpSpPr/>
          <p:nvPr/>
        </p:nvGrpSpPr>
        <p:grpSpPr>
          <a:xfrm>
            <a:off x="1619755" y="7549696"/>
            <a:ext cx="6588828" cy="384353"/>
            <a:chOff x="0" y="0"/>
            <a:chExt cx="8785103" cy="512470"/>
          </a:xfrm>
        </p:grpSpPr>
        <p:sp>
          <p:nvSpPr>
            <p:cNvPr id="264" name="Google Shape;264;p4"/>
            <p:cNvSpPr/>
            <p:nvPr/>
          </p:nvSpPr>
          <p:spPr>
            <a:xfrm>
              <a:off x="0" y="0"/>
              <a:ext cx="8785103" cy="512464"/>
            </a:xfrm>
            <a:custGeom>
              <a:rect b="b" l="l" r="r" t="t"/>
              <a:pathLst>
                <a:path extrusionOk="0" h="512464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512464"/>
                  </a:lnTo>
                  <a:lnTo>
                    <a:pt x="0" y="5124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4046" l="0" r="0" t="-284046"/>
              </a:stretch>
            </a:blipFill>
            <a:ln>
              <a:noFill/>
            </a:ln>
          </p:spPr>
        </p:sp>
        <p:sp>
          <p:nvSpPr>
            <p:cNvPr id="265" name="Google Shape;265;p4"/>
            <p:cNvSpPr txBox="1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Pretrained models reduce the need to train from zero.</a:t>
              </a:r>
              <a:endParaRPr/>
            </a:p>
          </p:txBody>
        </p:sp>
      </p:grpSp>
      <p:sp>
        <p:nvSpPr>
          <p:cNvPr id="266" name="Google Shape;266;p4"/>
          <p:cNvSpPr/>
          <p:nvPr/>
        </p:nvSpPr>
        <p:spPr>
          <a:xfrm>
            <a:off x="1363142" y="8267681"/>
            <a:ext cx="128968" cy="128968"/>
          </a:xfrm>
          <a:custGeom>
            <a:rect b="b" l="l" r="r" t="t"/>
            <a:pathLst>
              <a:path extrusionOk="0" h="171958" w="171958">
                <a:moveTo>
                  <a:pt x="0" y="85979"/>
                </a:moveTo>
                <a:cubicBezTo>
                  <a:pt x="0" y="38481"/>
                  <a:pt x="38481" y="0"/>
                  <a:pt x="85979" y="0"/>
                </a:cubicBezTo>
                <a:cubicBezTo>
                  <a:pt x="133477" y="0"/>
                  <a:pt x="171958" y="38481"/>
                  <a:pt x="171958" y="85979"/>
                </a:cubicBezTo>
                <a:cubicBezTo>
                  <a:pt x="171958" y="133477"/>
                  <a:pt x="133477" y="171958"/>
                  <a:pt x="85979" y="171958"/>
                </a:cubicBezTo>
                <a:cubicBezTo>
                  <a:pt x="38481" y="171958"/>
                  <a:pt x="0" y="133350"/>
                  <a:pt x="0" y="85979"/>
                </a:cubicBezTo>
                <a:close/>
              </a:path>
            </a:pathLst>
          </a:custGeom>
          <a:solidFill>
            <a:srgbClr val="FFC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7" name="Google Shape;267;p4"/>
          <p:cNvGrpSpPr/>
          <p:nvPr/>
        </p:nvGrpSpPr>
        <p:grpSpPr>
          <a:xfrm>
            <a:off x="1619755" y="8167402"/>
            <a:ext cx="7137896" cy="384353"/>
            <a:chOff x="0" y="0"/>
            <a:chExt cx="9517195" cy="512470"/>
          </a:xfrm>
        </p:grpSpPr>
        <p:sp>
          <p:nvSpPr>
            <p:cNvPr id="268" name="Google Shape;268;p4"/>
            <p:cNvSpPr/>
            <p:nvPr/>
          </p:nvSpPr>
          <p:spPr>
            <a:xfrm>
              <a:off x="0" y="0"/>
              <a:ext cx="9517195" cy="512464"/>
            </a:xfrm>
            <a:custGeom>
              <a:rect b="b" l="l" r="r" t="t"/>
              <a:pathLst>
                <a:path extrusionOk="0" h="512464" w="9517195">
                  <a:moveTo>
                    <a:pt x="0" y="0"/>
                  </a:moveTo>
                  <a:lnTo>
                    <a:pt x="9517195" y="0"/>
                  </a:lnTo>
                  <a:lnTo>
                    <a:pt x="9517195" y="512464"/>
                  </a:lnTo>
                  <a:lnTo>
                    <a:pt x="0" y="5124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11847" l="0" r="0" t="-311847"/>
              </a:stretch>
            </a:blipFill>
            <a:ln>
              <a:noFill/>
            </a:ln>
          </p:spPr>
        </p:sp>
        <p:sp>
          <p:nvSpPr>
            <p:cNvPr id="269" name="Google Shape;269;p4"/>
            <p:cNvSpPr txBox="1"/>
            <p:nvPr/>
          </p:nvSpPr>
          <p:spPr>
            <a:xfrm>
              <a:off x="0" y="0"/>
              <a:ext cx="9517190" cy="512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The Pipeline API makes common tasks easier to run.</a:t>
              </a:r>
              <a:endParaRPr/>
            </a:p>
          </p:txBody>
        </p:sp>
      </p:grpSp>
      <p:sp>
        <p:nvSpPr>
          <p:cNvPr id="270" name="Google Shape;270;p4"/>
          <p:cNvSpPr/>
          <p:nvPr/>
        </p:nvSpPr>
        <p:spPr>
          <a:xfrm>
            <a:off x="9599171" y="7649975"/>
            <a:ext cx="128968" cy="128968"/>
          </a:xfrm>
          <a:custGeom>
            <a:rect b="b" l="l" r="r" t="t"/>
            <a:pathLst>
              <a:path extrusionOk="0" h="171958" w="171958">
                <a:moveTo>
                  <a:pt x="0" y="85979"/>
                </a:moveTo>
                <a:cubicBezTo>
                  <a:pt x="0" y="38481"/>
                  <a:pt x="38481" y="0"/>
                  <a:pt x="85979" y="0"/>
                </a:cubicBezTo>
                <a:cubicBezTo>
                  <a:pt x="133477" y="0"/>
                  <a:pt x="171958" y="38481"/>
                  <a:pt x="171958" y="85979"/>
                </a:cubicBezTo>
                <a:cubicBezTo>
                  <a:pt x="171958" y="133477"/>
                  <a:pt x="133477" y="171958"/>
                  <a:pt x="85979" y="171958"/>
                </a:cubicBezTo>
                <a:cubicBezTo>
                  <a:pt x="38481" y="171958"/>
                  <a:pt x="0" y="133350"/>
                  <a:pt x="0" y="85979"/>
                </a:cubicBezTo>
                <a:close/>
              </a:path>
            </a:pathLst>
          </a:custGeom>
          <a:solidFill>
            <a:srgbClr val="FFC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1" name="Google Shape;271;p4"/>
          <p:cNvGrpSpPr/>
          <p:nvPr/>
        </p:nvGrpSpPr>
        <p:grpSpPr>
          <a:xfrm>
            <a:off x="9855784" y="7549696"/>
            <a:ext cx="7137896" cy="728284"/>
            <a:chOff x="0" y="0"/>
            <a:chExt cx="9517195" cy="971045"/>
          </a:xfrm>
        </p:grpSpPr>
        <p:sp>
          <p:nvSpPr>
            <p:cNvPr id="272" name="Google Shape;272;p4"/>
            <p:cNvSpPr/>
            <p:nvPr/>
          </p:nvSpPr>
          <p:spPr>
            <a:xfrm>
              <a:off x="0" y="0"/>
              <a:ext cx="9517195" cy="971033"/>
            </a:xfrm>
            <a:custGeom>
              <a:rect b="b" l="l" r="r" t="t"/>
              <a:pathLst>
                <a:path extrusionOk="0" h="971033" w="9517195">
                  <a:moveTo>
                    <a:pt x="0" y="0"/>
                  </a:moveTo>
                  <a:lnTo>
                    <a:pt x="9517195" y="0"/>
                  </a:lnTo>
                  <a:lnTo>
                    <a:pt x="9517195" y="971033"/>
                  </a:lnTo>
                  <a:lnTo>
                    <a:pt x="0" y="97103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7359" l="0" r="0" t="-164583"/>
              </a:stretch>
            </a:blipFill>
            <a:ln>
              <a:noFill/>
            </a:ln>
          </p:spPr>
        </p:sp>
        <p:sp>
          <p:nvSpPr>
            <p:cNvPr id="273" name="Google Shape;273;p4"/>
            <p:cNvSpPr txBox="1"/>
            <p:nvPr/>
          </p:nvSpPr>
          <p:spPr>
            <a:xfrm>
              <a:off x="0" y="0"/>
              <a:ext cx="9517190" cy="9710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Trainer, PEFT, and Accelerate support serious customization.</a:t>
              </a:r>
              <a:endParaRPr/>
            </a:p>
          </p:txBody>
        </p:sp>
      </p:grpSp>
      <p:sp>
        <p:nvSpPr>
          <p:cNvPr id="274" name="Google Shape;274;p4"/>
          <p:cNvSpPr/>
          <p:nvPr/>
        </p:nvSpPr>
        <p:spPr>
          <a:xfrm>
            <a:off x="9599171" y="8267681"/>
            <a:ext cx="128968" cy="128968"/>
          </a:xfrm>
          <a:custGeom>
            <a:rect b="b" l="l" r="r" t="t"/>
            <a:pathLst>
              <a:path extrusionOk="0" h="171958" w="171958">
                <a:moveTo>
                  <a:pt x="0" y="85979"/>
                </a:moveTo>
                <a:cubicBezTo>
                  <a:pt x="0" y="38481"/>
                  <a:pt x="38481" y="0"/>
                  <a:pt x="85979" y="0"/>
                </a:cubicBezTo>
                <a:cubicBezTo>
                  <a:pt x="133477" y="0"/>
                  <a:pt x="171958" y="38481"/>
                  <a:pt x="171958" y="85979"/>
                </a:cubicBezTo>
                <a:cubicBezTo>
                  <a:pt x="171958" y="133477"/>
                  <a:pt x="133477" y="171958"/>
                  <a:pt x="85979" y="171958"/>
                </a:cubicBezTo>
                <a:cubicBezTo>
                  <a:pt x="38481" y="171958"/>
                  <a:pt x="0" y="133350"/>
                  <a:pt x="0" y="85979"/>
                </a:cubicBezTo>
                <a:close/>
              </a:path>
            </a:pathLst>
          </a:custGeom>
          <a:solidFill>
            <a:srgbClr val="FFC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5" name="Google Shape;275;p4"/>
          <p:cNvGrpSpPr/>
          <p:nvPr/>
        </p:nvGrpSpPr>
        <p:grpSpPr>
          <a:xfrm>
            <a:off x="9855784" y="8167402"/>
            <a:ext cx="7275166" cy="764770"/>
            <a:chOff x="0" y="0"/>
            <a:chExt cx="9700222" cy="1019693"/>
          </a:xfrm>
        </p:grpSpPr>
        <p:sp>
          <p:nvSpPr>
            <p:cNvPr id="276" name="Google Shape;276;p4"/>
            <p:cNvSpPr/>
            <p:nvPr/>
          </p:nvSpPr>
          <p:spPr>
            <a:xfrm>
              <a:off x="0" y="0"/>
              <a:ext cx="9700218" cy="1019681"/>
            </a:xfrm>
            <a:custGeom>
              <a:rect b="b" l="l" r="r" t="t"/>
              <a:pathLst>
                <a:path extrusionOk="0" h="1019681" w="9700218">
                  <a:moveTo>
                    <a:pt x="0" y="0"/>
                  </a:moveTo>
                  <a:lnTo>
                    <a:pt x="9700218" y="0"/>
                  </a:lnTo>
                  <a:lnTo>
                    <a:pt x="9700218" y="1019681"/>
                  </a:lnTo>
                  <a:lnTo>
                    <a:pt x="0" y="101968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10492" l="0" r="0" t="-160236"/>
              </a:stretch>
            </a:blipFill>
            <a:ln>
              <a:noFill/>
            </a:ln>
          </p:spPr>
        </p:sp>
        <p:sp>
          <p:nvSpPr>
            <p:cNvPr id="277" name="Google Shape;277;p4"/>
            <p:cNvSpPr txBox="1"/>
            <p:nvPr/>
          </p:nvSpPr>
          <p:spPr>
            <a:xfrm>
              <a:off x="0" y="0"/>
              <a:ext cx="9700222" cy="1019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You control the deployment: laptop, server, cloud, or hosted service.</a:t>
              </a:r>
              <a:endParaRPr/>
            </a:p>
          </p:txBody>
        </p:sp>
      </p:grpSp>
      <p:grpSp>
        <p:nvGrpSpPr>
          <p:cNvPr id="278" name="Google Shape;278;p4"/>
          <p:cNvGrpSpPr/>
          <p:nvPr/>
        </p:nvGrpSpPr>
        <p:grpSpPr>
          <a:xfrm>
            <a:off x="16952500" y="9629013"/>
            <a:ext cx="343168" cy="309134"/>
            <a:chOff x="0" y="-9525"/>
            <a:chExt cx="457557" cy="412179"/>
          </a:xfrm>
        </p:grpSpPr>
        <p:sp>
          <p:nvSpPr>
            <p:cNvPr id="279" name="Google Shape;279;p4"/>
            <p:cNvSpPr/>
            <p:nvPr/>
          </p:nvSpPr>
          <p:spPr>
            <a:xfrm>
              <a:off x="0" y="0"/>
              <a:ext cx="457557" cy="402651"/>
            </a:xfrm>
            <a:custGeom>
              <a:rect b="b" l="l" r="r" t="t"/>
              <a:pathLst>
                <a:path extrusionOk="0" h="402651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02651"/>
                  </a:lnTo>
                  <a:lnTo>
                    <a:pt x="0" y="40265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62908" r="-62908" t="0"/>
              </a:stretch>
            </a:blipFill>
            <a:ln>
              <a:noFill/>
            </a:ln>
          </p:spPr>
        </p:sp>
        <p:sp>
          <p:nvSpPr>
            <p:cNvPr id="280" name="Google Shape;280;p4"/>
            <p:cNvSpPr txBox="1"/>
            <p:nvPr/>
          </p:nvSpPr>
          <p:spPr>
            <a:xfrm>
              <a:off x="0" y="-9525"/>
              <a:ext cx="457556" cy="412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5" u="none" cap="none" strike="noStrike">
                  <a:solidFill>
                    <a:srgbClr val="778195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281" name="Google Shape;281;p4"/>
          <p:cNvSpPr txBox="1"/>
          <p:nvPr/>
        </p:nvSpPr>
        <p:spPr>
          <a:xfrm>
            <a:off x="587573" y="9422797"/>
            <a:ext cx="5699270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Names : Emmanuel ABABIO, Robert Thompson, Olis Bahari</a:t>
            </a:r>
            <a:endParaRPr/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"/>
          <p:cNvSpPr/>
          <p:nvPr/>
        </p:nvSpPr>
        <p:spPr>
          <a:xfrm>
            <a:off x="196367" y="196367"/>
            <a:ext cx="540639" cy="540639"/>
          </a:xfrm>
          <a:custGeom>
            <a:rect b="b" l="l" r="r" t="t"/>
            <a:pathLst>
              <a:path extrusionOk="0" h="720852" w="720852">
                <a:moveTo>
                  <a:pt x="0" y="0"/>
                </a:moveTo>
                <a:lnTo>
                  <a:pt x="720852" y="0"/>
                </a:lnTo>
                <a:lnTo>
                  <a:pt x="720852" y="720852"/>
                </a:lnTo>
                <a:lnTo>
                  <a:pt x="0" y="720852"/>
                </a:lnTo>
                <a:close/>
              </a:path>
            </a:pathLst>
          </a:custGeom>
          <a:solidFill>
            <a:srgbClr val="FFF2B8">
              <a:alpha val="35686"/>
            </a:srgbClr>
          </a:solidFill>
          <a:ln>
            <a:noFill/>
          </a:ln>
        </p:spPr>
      </p:sp>
      <p:sp>
        <p:nvSpPr>
          <p:cNvPr id="287" name="Google Shape;287;p5"/>
          <p:cNvSpPr/>
          <p:nvPr/>
        </p:nvSpPr>
        <p:spPr>
          <a:xfrm>
            <a:off x="17354769" y="9530544"/>
            <a:ext cx="499491" cy="499491"/>
          </a:xfrm>
          <a:custGeom>
            <a:rect b="b" l="l" r="r" t="t"/>
            <a:pathLst>
              <a:path extrusionOk="0" h="665988" w="665988">
                <a:moveTo>
                  <a:pt x="0" y="0"/>
                </a:moveTo>
                <a:lnTo>
                  <a:pt x="665988" y="0"/>
                </a:lnTo>
                <a:lnTo>
                  <a:pt x="665988" y="665988"/>
                </a:lnTo>
                <a:lnTo>
                  <a:pt x="0" y="665988"/>
                </a:lnTo>
                <a:close/>
              </a:path>
            </a:pathLst>
          </a:custGeom>
          <a:solidFill>
            <a:srgbClr val="DFF7EF">
              <a:alpha val="35686"/>
            </a:srgbClr>
          </a:solidFill>
          <a:ln>
            <a:noFill/>
          </a:ln>
        </p:spPr>
      </p:sp>
      <p:grpSp>
        <p:nvGrpSpPr>
          <p:cNvPr id="288" name="Google Shape;288;p5"/>
          <p:cNvGrpSpPr/>
          <p:nvPr/>
        </p:nvGrpSpPr>
        <p:grpSpPr>
          <a:xfrm>
            <a:off x="892235" y="521618"/>
            <a:ext cx="13040392" cy="576523"/>
            <a:chOff x="0" y="0"/>
            <a:chExt cx="17387189" cy="768697"/>
          </a:xfrm>
        </p:grpSpPr>
        <p:sp>
          <p:nvSpPr>
            <p:cNvPr id="289" name="Google Shape;289;p5"/>
            <p:cNvSpPr/>
            <p:nvPr/>
          </p:nvSpPr>
          <p:spPr>
            <a:xfrm>
              <a:off x="0" y="0"/>
              <a:ext cx="17387184" cy="768697"/>
            </a:xfrm>
            <a:custGeom>
              <a:rect b="b" l="l" r="r" t="t"/>
              <a:pathLst>
                <a:path extrusionOk="0" h="768697" w="17387184">
                  <a:moveTo>
                    <a:pt x="0" y="0"/>
                  </a:moveTo>
                  <a:lnTo>
                    <a:pt x="17387184" y="0"/>
                  </a:lnTo>
                  <a:lnTo>
                    <a:pt x="17387184" y="768697"/>
                  </a:lnTo>
                  <a:lnTo>
                    <a:pt x="0" y="76869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0761" l="0" r="0" t="-390761"/>
              </a:stretch>
            </a:blipFill>
            <a:ln>
              <a:noFill/>
            </a:ln>
          </p:spPr>
        </p:sp>
        <p:sp>
          <p:nvSpPr>
            <p:cNvPr id="290" name="Google Shape;290;p5"/>
            <p:cNvSpPr txBox="1"/>
            <p:nvPr/>
          </p:nvSpPr>
          <p:spPr>
            <a:xfrm>
              <a:off x="0" y="0"/>
              <a:ext cx="17387189" cy="768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03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OpenAI API: the managed model path</a:t>
              </a:r>
              <a:endParaRPr/>
            </a:p>
          </p:txBody>
        </p:sp>
      </p:grpSp>
      <p:grpSp>
        <p:nvGrpSpPr>
          <p:cNvPr id="291" name="Google Shape;291;p5"/>
          <p:cNvGrpSpPr/>
          <p:nvPr/>
        </p:nvGrpSpPr>
        <p:grpSpPr>
          <a:xfrm>
            <a:off x="905961" y="1194225"/>
            <a:ext cx="14275794" cy="411804"/>
            <a:chOff x="0" y="0"/>
            <a:chExt cx="19034392" cy="549072"/>
          </a:xfrm>
        </p:grpSpPr>
        <p:sp>
          <p:nvSpPr>
            <p:cNvPr id="292" name="Google Shape;292;p5"/>
            <p:cNvSpPr/>
            <p:nvPr/>
          </p:nvSpPr>
          <p:spPr>
            <a:xfrm>
              <a:off x="0" y="0"/>
              <a:ext cx="19034390" cy="549069"/>
            </a:xfrm>
            <a:custGeom>
              <a:rect b="b" l="l" r="r" t="t"/>
              <a:pathLst>
                <a:path extrusionOk="0" h="549069" w="19034390">
                  <a:moveTo>
                    <a:pt x="0" y="0"/>
                  </a:moveTo>
                  <a:lnTo>
                    <a:pt x="19034390" y="0"/>
                  </a:lnTo>
                  <a:lnTo>
                    <a:pt x="19034390" y="549069"/>
                  </a:lnTo>
                  <a:lnTo>
                    <a:pt x="0" y="54906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25493" l="0" r="0" t="-625493"/>
              </a:stretch>
            </a:blipFill>
            <a:ln>
              <a:noFill/>
            </a:ln>
          </p:spPr>
        </p:sp>
        <p:sp>
          <p:nvSpPr>
            <p:cNvPr id="293" name="Google Shape;293;p5"/>
            <p:cNvSpPr txBox="1"/>
            <p:nvPr/>
          </p:nvSpPr>
          <p:spPr>
            <a:xfrm>
              <a:off x="0" y="0"/>
              <a:ext cx="19034392" cy="549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6" u="none" cap="none" strike="noStrike">
                  <a:solidFill>
                    <a:srgbClr val="586174"/>
                  </a:solidFill>
                  <a:latin typeface="Arial"/>
                  <a:ea typeface="Arial"/>
                  <a:cs typeface="Arial"/>
                  <a:sym typeface="Arial"/>
                </a:rPr>
                <a:t>Best when the project needs strong performance quickly without managing model infrastructure.</a:t>
              </a:r>
              <a:endParaRPr/>
            </a:p>
          </p:txBody>
        </p:sp>
      </p:grpSp>
      <p:cxnSp>
        <p:nvCxnSpPr>
          <p:cNvPr id="294" name="Google Shape;294;p5"/>
          <p:cNvCxnSpPr/>
          <p:nvPr/>
        </p:nvCxnSpPr>
        <p:spPr>
          <a:xfrm>
            <a:off x="3368002" y="5078892"/>
            <a:ext cx="1493549" cy="0"/>
          </a:xfrm>
          <a:prstGeom prst="straightConnector1">
            <a:avLst/>
          </a:prstGeom>
          <a:noFill/>
          <a:ln cap="rnd" cmpd="sng" w="19050">
            <a:solidFill>
              <a:srgbClr val="10A3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5" name="Google Shape;295;p5"/>
          <p:cNvCxnSpPr/>
          <p:nvPr/>
        </p:nvCxnSpPr>
        <p:spPr>
          <a:xfrm>
            <a:off x="7492508" y="5078892"/>
            <a:ext cx="1651492" cy="0"/>
          </a:xfrm>
          <a:prstGeom prst="straightConnector1">
            <a:avLst/>
          </a:prstGeom>
          <a:noFill/>
          <a:ln cap="rnd" cmpd="sng" w="19050">
            <a:solidFill>
              <a:srgbClr val="10A3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" name="Google Shape;296;p5"/>
          <p:cNvCxnSpPr/>
          <p:nvPr/>
        </p:nvCxnSpPr>
        <p:spPr>
          <a:xfrm>
            <a:off x="11774957" y="5078892"/>
            <a:ext cx="1634884" cy="0"/>
          </a:xfrm>
          <a:prstGeom prst="straightConnector1">
            <a:avLst/>
          </a:prstGeom>
          <a:noFill/>
          <a:ln cap="rnd" cmpd="sng" w="19050">
            <a:solidFill>
              <a:srgbClr val="10A37F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97" name="Google Shape;297;p5"/>
          <p:cNvGrpSpPr/>
          <p:nvPr/>
        </p:nvGrpSpPr>
        <p:grpSpPr>
          <a:xfrm>
            <a:off x="737044" y="4305338"/>
            <a:ext cx="2630995" cy="1540002"/>
            <a:chOff x="0" y="-9525"/>
            <a:chExt cx="3507994" cy="2053336"/>
          </a:xfrm>
        </p:grpSpPr>
        <p:sp>
          <p:nvSpPr>
            <p:cNvPr id="298" name="Google Shape;298;p5"/>
            <p:cNvSpPr/>
            <p:nvPr/>
          </p:nvSpPr>
          <p:spPr>
            <a:xfrm>
              <a:off x="0" y="0"/>
              <a:ext cx="3507994" cy="2043811"/>
            </a:xfrm>
            <a:custGeom>
              <a:rect b="b" l="l" r="r" t="t"/>
              <a:pathLst>
                <a:path extrusionOk="0" h="2043811" w="3507994">
                  <a:moveTo>
                    <a:pt x="0" y="0"/>
                  </a:moveTo>
                  <a:lnTo>
                    <a:pt x="3507994" y="0"/>
                  </a:lnTo>
                  <a:lnTo>
                    <a:pt x="3507994" y="2043811"/>
                  </a:lnTo>
                  <a:lnTo>
                    <a:pt x="0" y="2043811"/>
                  </a:lnTo>
                  <a:close/>
                </a:path>
              </a:pathLst>
            </a:custGeom>
            <a:solidFill>
              <a:srgbClr val="FFFFFF"/>
            </a:solidFill>
            <a:ln cap="sq" cmpd="sng" w="22875">
              <a:solidFill>
                <a:srgbClr val="10A37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99" name="Google Shape;299;p5"/>
            <p:cNvSpPr txBox="1"/>
            <p:nvPr/>
          </p:nvSpPr>
          <p:spPr>
            <a:xfrm>
              <a:off x="0" y="-9525"/>
              <a:ext cx="3507943" cy="20532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App</a:t>
              </a:r>
              <a:endParaRPr/>
            </a:p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website</a:t>
              </a:r>
              <a:endParaRPr/>
            </a:p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chatbot</a:t>
              </a:r>
              <a:endParaRPr/>
            </a:p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workflow</a:t>
              </a:r>
              <a:endParaRPr/>
            </a:p>
          </p:txBody>
        </p:sp>
      </p:grpSp>
      <p:grpSp>
        <p:nvGrpSpPr>
          <p:cNvPr id="300" name="Google Shape;300;p5"/>
          <p:cNvGrpSpPr/>
          <p:nvPr/>
        </p:nvGrpSpPr>
        <p:grpSpPr>
          <a:xfrm>
            <a:off x="4861550" y="4305338"/>
            <a:ext cx="2630995" cy="1540002"/>
            <a:chOff x="0" y="-9525"/>
            <a:chExt cx="3507994" cy="2053336"/>
          </a:xfrm>
        </p:grpSpPr>
        <p:sp>
          <p:nvSpPr>
            <p:cNvPr id="301" name="Google Shape;301;p5"/>
            <p:cNvSpPr/>
            <p:nvPr/>
          </p:nvSpPr>
          <p:spPr>
            <a:xfrm>
              <a:off x="0" y="0"/>
              <a:ext cx="3507994" cy="2043811"/>
            </a:xfrm>
            <a:custGeom>
              <a:rect b="b" l="l" r="r" t="t"/>
              <a:pathLst>
                <a:path extrusionOk="0" h="2043811" w="3507994">
                  <a:moveTo>
                    <a:pt x="0" y="0"/>
                  </a:moveTo>
                  <a:lnTo>
                    <a:pt x="3507994" y="0"/>
                  </a:lnTo>
                  <a:lnTo>
                    <a:pt x="3507994" y="2043811"/>
                  </a:lnTo>
                  <a:lnTo>
                    <a:pt x="0" y="2043811"/>
                  </a:lnTo>
                  <a:close/>
                </a:path>
              </a:pathLst>
            </a:custGeom>
            <a:solidFill>
              <a:srgbClr val="DFF7EF"/>
            </a:solidFill>
            <a:ln cap="sq" cmpd="sng" w="22875">
              <a:solidFill>
                <a:srgbClr val="10A37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02" name="Google Shape;302;p5"/>
            <p:cNvSpPr txBox="1"/>
            <p:nvPr/>
          </p:nvSpPr>
          <p:spPr>
            <a:xfrm>
              <a:off x="0" y="-9525"/>
              <a:ext cx="3507943" cy="20532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Responses API</a:t>
              </a:r>
              <a:endParaRPr/>
            </a:p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prompt</a:t>
              </a:r>
              <a:endParaRPr/>
            </a:p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messages</a:t>
              </a:r>
              <a:endParaRPr/>
            </a:p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tools</a:t>
              </a:r>
              <a:endParaRPr/>
            </a:p>
          </p:txBody>
        </p:sp>
      </p:grpSp>
      <p:grpSp>
        <p:nvGrpSpPr>
          <p:cNvPr id="303" name="Google Shape;303;p5"/>
          <p:cNvGrpSpPr/>
          <p:nvPr/>
        </p:nvGrpSpPr>
        <p:grpSpPr>
          <a:xfrm>
            <a:off x="9144000" y="4305338"/>
            <a:ext cx="2630995" cy="1540002"/>
            <a:chOff x="0" y="-9525"/>
            <a:chExt cx="3507994" cy="2053336"/>
          </a:xfrm>
        </p:grpSpPr>
        <p:sp>
          <p:nvSpPr>
            <p:cNvPr id="304" name="Google Shape;304;p5"/>
            <p:cNvSpPr/>
            <p:nvPr/>
          </p:nvSpPr>
          <p:spPr>
            <a:xfrm>
              <a:off x="0" y="0"/>
              <a:ext cx="3507994" cy="2043811"/>
            </a:xfrm>
            <a:custGeom>
              <a:rect b="b" l="l" r="r" t="t"/>
              <a:pathLst>
                <a:path extrusionOk="0" h="2043811" w="3507994">
                  <a:moveTo>
                    <a:pt x="0" y="0"/>
                  </a:moveTo>
                  <a:lnTo>
                    <a:pt x="3507994" y="0"/>
                  </a:lnTo>
                  <a:lnTo>
                    <a:pt x="3507994" y="2043811"/>
                  </a:lnTo>
                  <a:lnTo>
                    <a:pt x="0" y="2043811"/>
                  </a:lnTo>
                  <a:close/>
                </a:path>
              </a:pathLst>
            </a:custGeom>
            <a:solidFill>
              <a:srgbClr val="FFFFFF"/>
            </a:solidFill>
            <a:ln cap="sq" cmpd="sng" w="22875">
              <a:solidFill>
                <a:srgbClr val="10A37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05" name="Google Shape;305;p5"/>
            <p:cNvSpPr txBox="1"/>
            <p:nvPr/>
          </p:nvSpPr>
          <p:spPr>
            <a:xfrm>
              <a:off x="0" y="-9525"/>
              <a:ext cx="3507943" cy="20532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OpenAI models</a:t>
              </a:r>
              <a:endParaRPr/>
            </a:p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reasoning</a:t>
              </a:r>
              <a:endParaRPr/>
            </a:p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vision</a:t>
              </a:r>
              <a:endParaRPr/>
            </a:p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audio</a:t>
              </a:r>
              <a:endParaRPr/>
            </a:p>
          </p:txBody>
        </p:sp>
      </p:grpSp>
      <p:grpSp>
        <p:nvGrpSpPr>
          <p:cNvPr id="306" name="Google Shape;306;p5"/>
          <p:cNvGrpSpPr/>
          <p:nvPr/>
        </p:nvGrpSpPr>
        <p:grpSpPr>
          <a:xfrm>
            <a:off x="13409841" y="4305338"/>
            <a:ext cx="2630995" cy="1540002"/>
            <a:chOff x="0" y="-9525"/>
            <a:chExt cx="3507994" cy="2053336"/>
          </a:xfrm>
        </p:grpSpPr>
        <p:sp>
          <p:nvSpPr>
            <p:cNvPr id="307" name="Google Shape;307;p5"/>
            <p:cNvSpPr/>
            <p:nvPr/>
          </p:nvSpPr>
          <p:spPr>
            <a:xfrm>
              <a:off x="0" y="0"/>
              <a:ext cx="3507994" cy="2043811"/>
            </a:xfrm>
            <a:custGeom>
              <a:rect b="b" l="l" r="r" t="t"/>
              <a:pathLst>
                <a:path extrusionOk="0" h="2043811" w="3507994">
                  <a:moveTo>
                    <a:pt x="0" y="0"/>
                  </a:moveTo>
                  <a:lnTo>
                    <a:pt x="3507994" y="0"/>
                  </a:lnTo>
                  <a:lnTo>
                    <a:pt x="3507994" y="2043811"/>
                  </a:lnTo>
                  <a:lnTo>
                    <a:pt x="0" y="2043811"/>
                  </a:lnTo>
                  <a:close/>
                </a:path>
              </a:pathLst>
            </a:custGeom>
            <a:solidFill>
              <a:srgbClr val="FFFFFF"/>
            </a:solidFill>
            <a:ln cap="sq" cmpd="sng" w="22875">
              <a:solidFill>
                <a:srgbClr val="10A37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08" name="Google Shape;308;p5"/>
            <p:cNvSpPr txBox="1"/>
            <p:nvPr/>
          </p:nvSpPr>
          <p:spPr>
            <a:xfrm>
              <a:off x="0" y="-9525"/>
              <a:ext cx="3507943" cy="20532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Output</a:t>
              </a:r>
              <a:endParaRPr/>
            </a:p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answer</a:t>
              </a:r>
              <a:endParaRPr/>
            </a:p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JSON</a:t>
              </a:r>
              <a:endParaRPr/>
            </a:p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action</a:t>
              </a:r>
              <a:endParaRPr/>
            </a:p>
          </p:txBody>
        </p:sp>
      </p:grpSp>
      <p:grpSp>
        <p:nvGrpSpPr>
          <p:cNvPr id="309" name="Google Shape;309;p5"/>
          <p:cNvGrpSpPr/>
          <p:nvPr/>
        </p:nvGrpSpPr>
        <p:grpSpPr>
          <a:xfrm>
            <a:off x="1509941" y="7041813"/>
            <a:ext cx="5765225" cy="439256"/>
            <a:chOff x="0" y="0"/>
            <a:chExt cx="7686967" cy="585674"/>
          </a:xfrm>
        </p:grpSpPr>
        <p:sp>
          <p:nvSpPr>
            <p:cNvPr id="310" name="Google Shape;310;p5"/>
            <p:cNvSpPr/>
            <p:nvPr/>
          </p:nvSpPr>
          <p:spPr>
            <a:xfrm>
              <a:off x="0" y="0"/>
              <a:ext cx="7686966" cy="585674"/>
            </a:xfrm>
            <a:custGeom>
              <a:rect b="b" l="l" r="r" t="t"/>
              <a:pathLst>
                <a:path extrusionOk="0" h="585674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5728" l="0" r="0" t="-205728"/>
              </a:stretch>
            </a:blipFill>
            <a:ln>
              <a:noFill/>
            </a:ln>
          </p:spPr>
        </p:sp>
        <p:sp>
          <p:nvSpPr>
            <p:cNvPr id="311" name="Google Shape;311;p5"/>
            <p:cNvSpPr txBox="1"/>
            <p:nvPr/>
          </p:nvSpPr>
          <p:spPr>
            <a:xfrm>
              <a:off x="0" y="0"/>
              <a:ext cx="7686967" cy="5856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Built-in tools can extend the model</a:t>
              </a:r>
              <a:endParaRPr/>
            </a:p>
          </p:txBody>
        </p:sp>
      </p:grpSp>
      <p:grpSp>
        <p:nvGrpSpPr>
          <p:cNvPr id="312" name="Google Shape;312;p5"/>
          <p:cNvGrpSpPr/>
          <p:nvPr/>
        </p:nvGrpSpPr>
        <p:grpSpPr>
          <a:xfrm>
            <a:off x="1509941" y="7851681"/>
            <a:ext cx="2608078" cy="494162"/>
            <a:chOff x="0" y="0"/>
            <a:chExt cx="3477438" cy="658883"/>
          </a:xfrm>
        </p:grpSpPr>
        <p:sp>
          <p:nvSpPr>
            <p:cNvPr id="313" name="Google Shape;313;p5"/>
            <p:cNvSpPr/>
            <p:nvPr/>
          </p:nvSpPr>
          <p:spPr>
            <a:xfrm>
              <a:off x="0" y="0"/>
              <a:ext cx="3477387" cy="658870"/>
            </a:xfrm>
            <a:custGeom>
              <a:rect b="b" l="l" r="r" t="t"/>
              <a:pathLst>
                <a:path extrusionOk="0" h="658870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658870"/>
                  </a:lnTo>
                  <a:lnTo>
                    <a:pt x="0" y="658870"/>
                  </a:lnTo>
                  <a:close/>
                </a:path>
              </a:pathLst>
            </a:custGeom>
            <a:solidFill>
              <a:srgbClr val="10A37F"/>
            </a:solidFill>
            <a:ln>
              <a:noFill/>
            </a:ln>
          </p:spPr>
        </p:sp>
        <p:sp>
          <p:nvSpPr>
            <p:cNvPr id="314" name="Google Shape;314;p5"/>
            <p:cNvSpPr txBox="1"/>
            <p:nvPr/>
          </p:nvSpPr>
          <p:spPr>
            <a:xfrm>
              <a:off x="0" y="0"/>
              <a:ext cx="3477438" cy="658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6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Web search</a:t>
              </a:r>
              <a:endParaRPr/>
            </a:p>
          </p:txBody>
        </p:sp>
      </p:grpSp>
      <p:grpSp>
        <p:nvGrpSpPr>
          <p:cNvPr id="315" name="Google Shape;315;p5"/>
          <p:cNvGrpSpPr/>
          <p:nvPr/>
        </p:nvGrpSpPr>
        <p:grpSpPr>
          <a:xfrm>
            <a:off x="4598451" y="7851681"/>
            <a:ext cx="2608078" cy="494162"/>
            <a:chOff x="0" y="0"/>
            <a:chExt cx="3477438" cy="658883"/>
          </a:xfrm>
        </p:grpSpPr>
        <p:sp>
          <p:nvSpPr>
            <p:cNvPr id="316" name="Google Shape;316;p5"/>
            <p:cNvSpPr/>
            <p:nvPr/>
          </p:nvSpPr>
          <p:spPr>
            <a:xfrm>
              <a:off x="0" y="0"/>
              <a:ext cx="3477387" cy="658870"/>
            </a:xfrm>
            <a:custGeom>
              <a:rect b="b" l="l" r="r" t="t"/>
              <a:pathLst>
                <a:path extrusionOk="0" h="658870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658870"/>
                  </a:lnTo>
                  <a:lnTo>
                    <a:pt x="0" y="658870"/>
                  </a:ln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</p:sp>
        <p:sp>
          <p:nvSpPr>
            <p:cNvPr id="317" name="Google Shape;317;p5"/>
            <p:cNvSpPr txBox="1"/>
            <p:nvPr/>
          </p:nvSpPr>
          <p:spPr>
            <a:xfrm>
              <a:off x="0" y="0"/>
              <a:ext cx="3477438" cy="658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6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File search</a:t>
              </a:r>
              <a:endParaRPr/>
            </a:p>
          </p:txBody>
        </p:sp>
      </p:grpSp>
      <p:grpSp>
        <p:nvGrpSpPr>
          <p:cNvPr id="318" name="Google Shape;318;p5"/>
          <p:cNvGrpSpPr/>
          <p:nvPr/>
        </p:nvGrpSpPr>
        <p:grpSpPr>
          <a:xfrm>
            <a:off x="1509941" y="8592931"/>
            <a:ext cx="2608078" cy="494162"/>
            <a:chOff x="0" y="0"/>
            <a:chExt cx="3477438" cy="658883"/>
          </a:xfrm>
        </p:grpSpPr>
        <p:sp>
          <p:nvSpPr>
            <p:cNvPr id="319" name="Google Shape;319;p5"/>
            <p:cNvSpPr/>
            <p:nvPr/>
          </p:nvSpPr>
          <p:spPr>
            <a:xfrm>
              <a:off x="0" y="0"/>
              <a:ext cx="3477387" cy="658870"/>
            </a:xfrm>
            <a:custGeom>
              <a:rect b="b" l="l" r="r" t="t"/>
              <a:pathLst>
                <a:path extrusionOk="0" h="658870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658870"/>
                  </a:lnTo>
                  <a:lnTo>
                    <a:pt x="0" y="658870"/>
                  </a:lnTo>
                  <a:close/>
                </a:path>
              </a:pathLst>
            </a:custGeom>
            <a:solidFill>
              <a:srgbClr val="10A37F"/>
            </a:solidFill>
            <a:ln>
              <a:noFill/>
            </a:ln>
          </p:spPr>
        </p:sp>
        <p:sp>
          <p:nvSpPr>
            <p:cNvPr id="320" name="Google Shape;320;p5"/>
            <p:cNvSpPr txBox="1"/>
            <p:nvPr/>
          </p:nvSpPr>
          <p:spPr>
            <a:xfrm>
              <a:off x="0" y="0"/>
              <a:ext cx="3477438" cy="658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6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Code execution</a:t>
              </a:r>
              <a:endParaRPr/>
            </a:p>
          </p:txBody>
        </p:sp>
      </p:grpSp>
      <p:grpSp>
        <p:nvGrpSpPr>
          <p:cNvPr id="321" name="Google Shape;321;p5"/>
          <p:cNvGrpSpPr/>
          <p:nvPr/>
        </p:nvGrpSpPr>
        <p:grpSpPr>
          <a:xfrm>
            <a:off x="4648025" y="8592931"/>
            <a:ext cx="2608078" cy="494162"/>
            <a:chOff x="0" y="0"/>
            <a:chExt cx="3477438" cy="658883"/>
          </a:xfrm>
        </p:grpSpPr>
        <p:sp>
          <p:nvSpPr>
            <p:cNvPr id="322" name="Google Shape;322;p5"/>
            <p:cNvSpPr/>
            <p:nvPr/>
          </p:nvSpPr>
          <p:spPr>
            <a:xfrm>
              <a:off x="0" y="0"/>
              <a:ext cx="3477387" cy="658870"/>
            </a:xfrm>
            <a:custGeom>
              <a:rect b="b" l="l" r="r" t="t"/>
              <a:pathLst>
                <a:path extrusionOk="0" h="658870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658870"/>
                  </a:lnTo>
                  <a:lnTo>
                    <a:pt x="0" y="658870"/>
                  </a:ln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</p:sp>
        <p:sp>
          <p:nvSpPr>
            <p:cNvPr id="323" name="Google Shape;323;p5"/>
            <p:cNvSpPr txBox="1"/>
            <p:nvPr/>
          </p:nvSpPr>
          <p:spPr>
            <a:xfrm>
              <a:off x="0" y="0"/>
              <a:ext cx="3477438" cy="658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6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Structured output</a:t>
              </a:r>
              <a:endParaRPr/>
            </a:p>
          </p:txBody>
        </p:sp>
      </p:grpSp>
      <p:grpSp>
        <p:nvGrpSpPr>
          <p:cNvPr id="324" name="Google Shape;324;p5"/>
          <p:cNvGrpSpPr/>
          <p:nvPr/>
        </p:nvGrpSpPr>
        <p:grpSpPr>
          <a:xfrm>
            <a:off x="9677343" y="7378820"/>
            <a:ext cx="6726098" cy="1090573"/>
            <a:chOff x="0" y="-9525"/>
            <a:chExt cx="8968130" cy="1454096"/>
          </a:xfrm>
        </p:grpSpPr>
        <p:sp>
          <p:nvSpPr>
            <p:cNvPr id="325" name="Google Shape;325;p5"/>
            <p:cNvSpPr/>
            <p:nvPr/>
          </p:nvSpPr>
          <p:spPr>
            <a:xfrm>
              <a:off x="0" y="0"/>
              <a:ext cx="8968126" cy="1444571"/>
            </a:xfrm>
            <a:custGeom>
              <a:rect b="b" l="l" r="r" t="t"/>
              <a:pathLst>
                <a:path extrusionOk="0" h="1444571" w="8968126">
                  <a:moveTo>
                    <a:pt x="0" y="0"/>
                  </a:moveTo>
                  <a:lnTo>
                    <a:pt x="8968126" y="0"/>
                  </a:lnTo>
                  <a:lnTo>
                    <a:pt x="8968126" y="1444571"/>
                  </a:lnTo>
                  <a:lnTo>
                    <a:pt x="0" y="144457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6577" l="0" r="0" t="-75354"/>
              </a:stretch>
            </a:blipFill>
            <a:ln>
              <a:noFill/>
            </a:ln>
          </p:spPr>
        </p:sp>
        <p:sp>
          <p:nvSpPr>
            <p:cNvPr id="326" name="Google Shape;326;p5"/>
            <p:cNvSpPr txBox="1"/>
            <p:nvPr/>
          </p:nvSpPr>
          <p:spPr>
            <a:xfrm>
              <a:off x="0" y="-9525"/>
              <a:ext cx="8968130" cy="14540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 tradeoff: you get operational simplicity, but you do not host or directly modify the main model weights.</a:t>
              </a:r>
              <a:endParaRPr/>
            </a:p>
          </p:txBody>
        </p:sp>
      </p:grpSp>
      <p:grpSp>
        <p:nvGrpSpPr>
          <p:cNvPr id="327" name="Google Shape;327;p5"/>
          <p:cNvGrpSpPr/>
          <p:nvPr/>
        </p:nvGrpSpPr>
        <p:grpSpPr>
          <a:xfrm>
            <a:off x="16952500" y="9629013"/>
            <a:ext cx="343168" cy="309134"/>
            <a:chOff x="0" y="-9525"/>
            <a:chExt cx="457557" cy="412179"/>
          </a:xfrm>
        </p:grpSpPr>
        <p:sp>
          <p:nvSpPr>
            <p:cNvPr id="328" name="Google Shape;328;p5"/>
            <p:cNvSpPr/>
            <p:nvPr/>
          </p:nvSpPr>
          <p:spPr>
            <a:xfrm>
              <a:off x="0" y="0"/>
              <a:ext cx="457557" cy="402651"/>
            </a:xfrm>
            <a:custGeom>
              <a:rect b="b" l="l" r="r" t="t"/>
              <a:pathLst>
                <a:path extrusionOk="0" h="402651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02651"/>
                  </a:lnTo>
                  <a:lnTo>
                    <a:pt x="0" y="40265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62908" r="-62908" t="0"/>
              </a:stretch>
            </a:blipFill>
            <a:ln>
              <a:noFill/>
            </a:ln>
          </p:spPr>
        </p:sp>
        <p:sp>
          <p:nvSpPr>
            <p:cNvPr id="329" name="Google Shape;329;p5"/>
            <p:cNvSpPr txBox="1"/>
            <p:nvPr/>
          </p:nvSpPr>
          <p:spPr>
            <a:xfrm>
              <a:off x="0" y="-9525"/>
              <a:ext cx="457556" cy="412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5" u="none" cap="none" strike="noStrike">
                  <a:solidFill>
                    <a:srgbClr val="778195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sp>
        <p:nvSpPr>
          <p:cNvPr id="330" name="Google Shape;330;p5"/>
          <p:cNvSpPr txBox="1"/>
          <p:nvPr/>
        </p:nvSpPr>
        <p:spPr>
          <a:xfrm>
            <a:off x="477759" y="9617107"/>
            <a:ext cx="5699270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Names : Emmanuel ABABIO, Robert Thompson, Olis Bahari</a:t>
            </a:r>
            <a:endParaRPr/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B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"/>
          <p:cNvSpPr/>
          <p:nvPr/>
        </p:nvSpPr>
        <p:spPr>
          <a:xfrm>
            <a:off x="196367" y="196367"/>
            <a:ext cx="540639" cy="540639"/>
          </a:xfrm>
          <a:custGeom>
            <a:rect b="b" l="l" r="r" t="t"/>
            <a:pathLst>
              <a:path extrusionOk="0" h="720852" w="720852">
                <a:moveTo>
                  <a:pt x="0" y="0"/>
                </a:moveTo>
                <a:lnTo>
                  <a:pt x="720852" y="0"/>
                </a:lnTo>
                <a:lnTo>
                  <a:pt x="720852" y="720852"/>
                </a:lnTo>
                <a:lnTo>
                  <a:pt x="0" y="720852"/>
                </a:lnTo>
                <a:close/>
              </a:path>
            </a:pathLst>
          </a:custGeom>
          <a:solidFill>
            <a:srgbClr val="FFF2B8">
              <a:alpha val="35686"/>
            </a:srgbClr>
          </a:solidFill>
          <a:ln>
            <a:noFill/>
          </a:ln>
        </p:spPr>
      </p:sp>
      <p:sp>
        <p:nvSpPr>
          <p:cNvPr id="336" name="Google Shape;336;p6"/>
          <p:cNvSpPr/>
          <p:nvPr/>
        </p:nvSpPr>
        <p:spPr>
          <a:xfrm>
            <a:off x="17354769" y="9530544"/>
            <a:ext cx="499491" cy="499491"/>
          </a:xfrm>
          <a:custGeom>
            <a:rect b="b" l="l" r="r" t="t"/>
            <a:pathLst>
              <a:path extrusionOk="0" h="665988" w="665988">
                <a:moveTo>
                  <a:pt x="0" y="0"/>
                </a:moveTo>
                <a:lnTo>
                  <a:pt x="665988" y="0"/>
                </a:lnTo>
                <a:lnTo>
                  <a:pt x="665988" y="665988"/>
                </a:lnTo>
                <a:lnTo>
                  <a:pt x="0" y="665988"/>
                </a:lnTo>
                <a:close/>
              </a:path>
            </a:pathLst>
          </a:custGeom>
          <a:solidFill>
            <a:srgbClr val="DFF7EF">
              <a:alpha val="35686"/>
            </a:srgbClr>
          </a:solidFill>
          <a:ln>
            <a:noFill/>
          </a:ln>
        </p:spPr>
      </p:sp>
      <p:grpSp>
        <p:nvGrpSpPr>
          <p:cNvPr id="337" name="Google Shape;337;p6"/>
          <p:cNvGrpSpPr/>
          <p:nvPr/>
        </p:nvGrpSpPr>
        <p:grpSpPr>
          <a:xfrm>
            <a:off x="892235" y="521618"/>
            <a:ext cx="13040392" cy="576523"/>
            <a:chOff x="0" y="0"/>
            <a:chExt cx="17387189" cy="768697"/>
          </a:xfrm>
        </p:grpSpPr>
        <p:sp>
          <p:nvSpPr>
            <p:cNvPr id="338" name="Google Shape;338;p6"/>
            <p:cNvSpPr/>
            <p:nvPr/>
          </p:nvSpPr>
          <p:spPr>
            <a:xfrm>
              <a:off x="0" y="0"/>
              <a:ext cx="17387184" cy="768697"/>
            </a:xfrm>
            <a:custGeom>
              <a:rect b="b" l="l" r="r" t="t"/>
              <a:pathLst>
                <a:path extrusionOk="0" h="768697" w="17387184">
                  <a:moveTo>
                    <a:pt x="0" y="0"/>
                  </a:moveTo>
                  <a:lnTo>
                    <a:pt x="17387184" y="0"/>
                  </a:lnTo>
                  <a:lnTo>
                    <a:pt x="17387184" y="768697"/>
                  </a:lnTo>
                  <a:lnTo>
                    <a:pt x="0" y="76869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0761" l="0" r="0" t="-390761"/>
              </a:stretch>
            </a:blipFill>
            <a:ln>
              <a:noFill/>
            </a:ln>
          </p:spPr>
        </p:sp>
        <p:sp>
          <p:nvSpPr>
            <p:cNvPr id="339" name="Google Shape;339;p6"/>
            <p:cNvSpPr txBox="1"/>
            <p:nvPr/>
          </p:nvSpPr>
          <p:spPr>
            <a:xfrm>
              <a:off x="0" y="0"/>
              <a:ext cx="17387189" cy="768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03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Key features side-by-side</a:t>
              </a:r>
              <a:endParaRPr/>
            </a:p>
          </p:txBody>
        </p:sp>
      </p:grpSp>
      <p:grpSp>
        <p:nvGrpSpPr>
          <p:cNvPr id="340" name="Google Shape;340;p6"/>
          <p:cNvGrpSpPr/>
          <p:nvPr/>
        </p:nvGrpSpPr>
        <p:grpSpPr>
          <a:xfrm>
            <a:off x="905961" y="1194225"/>
            <a:ext cx="14275794" cy="411804"/>
            <a:chOff x="0" y="0"/>
            <a:chExt cx="19034392" cy="549072"/>
          </a:xfrm>
        </p:grpSpPr>
        <p:sp>
          <p:nvSpPr>
            <p:cNvPr id="341" name="Google Shape;341;p6"/>
            <p:cNvSpPr/>
            <p:nvPr/>
          </p:nvSpPr>
          <p:spPr>
            <a:xfrm>
              <a:off x="0" y="0"/>
              <a:ext cx="19034390" cy="549069"/>
            </a:xfrm>
            <a:custGeom>
              <a:rect b="b" l="l" r="r" t="t"/>
              <a:pathLst>
                <a:path extrusionOk="0" h="549069" w="19034390">
                  <a:moveTo>
                    <a:pt x="0" y="0"/>
                  </a:moveTo>
                  <a:lnTo>
                    <a:pt x="19034390" y="0"/>
                  </a:lnTo>
                  <a:lnTo>
                    <a:pt x="19034390" y="549069"/>
                  </a:lnTo>
                  <a:lnTo>
                    <a:pt x="0" y="54906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25493" l="0" r="0" t="-625493"/>
              </a:stretch>
            </a:blipFill>
            <a:ln>
              <a:noFill/>
            </a:ln>
          </p:spPr>
        </p:sp>
        <p:sp>
          <p:nvSpPr>
            <p:cNvPr id="342" name="Google Shape;342;p6"/>
            <p:cNvSpPr txBox="1"/>
            <p:nvPr/>
          </p:nvSpPr>
          <p:spPr>
            <a:xfrm>
              <a:off x="0" y="0"/>
              <a:ext cx="19034392" cy="549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6" u="none" cap="none" strike="noStrike">
                  <a:solidFill>
                    <a:srgbClr val="586174"/>
                  </a:solidFill>
                  <a:latin typeface="Arial"/>
                  <a:ea typeface="Arial"/>
                  <a:cs typeface="Arial"/>
                  <a:sym typeface="Arial"/>
                </a:rPr>
                <a:t>The difference is mostly open customization versus managed capability.</a:t>
              </a:r>
              <a:endParaRPr/>
            </a:p>
          </p:txBody>
        </p:sp>
      </p:grpSp>
      <p:grpSp>
        <p:nvGrpSpPr>
          <p:cNvPr id="343" name="Google Shape;343;p6"/>
          <p:cNvGrpSpPr/>
          <p:nvPr/>
        </p:nvGrpSpPr>
        <p:grpSpPr>
          <a:xfrm>
            <a:off x="1372676" y="1990373"/>
            <a:ext cx="3912118" cy="1070705"/>
            <a:chOff x="0" y="0"/>
            <a:chExt cx="5216157" cy="1427607"/>
          </a:xfrm>
        </p:grpSpPr>
        <p:sp>
          <p:nvSpPr>
            <p:cNvPr id="344" name="Google Shape;344;p6"/>
            <p:cNvSpPr/>
            <p:nvPr/>
          </p:nvSpPr>
          <p:spPr>
            <a:xfrm>
              <a:off x="0" y="0"/>
              <a:ext cx="5216144" cy="1427607"/>
            </a:xfrm>
            <a:custGeom>
              <a:rect b="b" l="l" r="r" t="t"/>
              <a:pathLst>
                <a:path extrusionOk="0" h="1427607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1427607"/>
                  </a:lnTo>
                  <a:lnTo>
                    <a:pt x="0" y="1427607"/>
                  </a:lnTo>
                  <a:close/>
                </a:path>
              </a:pathLst>
            </a:custGeom>
            <a:solidFill>
              <a:srgbClr val="FFF2B8"/>
            </a:solidFill>
            <a:ln>
              <a:noFill/>
            </a:ln>
          </p:spPr>
        </p:sp>
        <p:sp>
          <p:nvSpPr>
            <p:cNvPr id="345" name="Google Shape;345;p6"/>
            <p:cNvSpPr txBox="1"/>
            <p:nvPr/>
          </p:nvSpPr>
          <p:spPr>
            <a:xfrm>
              <a:off x="0" y="0"/>
              <a:ext cx="5216157" cy="1427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2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🤗  Hugging Face</a:t>
              </a:r>
              <a:endParaRPr/>
            </a:p>
          </p:txBody>
        </p:sp>
      </p:grpSp>
      <p:grpSp>
        <p:nvGrpSpPr>
          <p:cNvPr id="346" name="Google Shape;346;p6"/>
          <p:cNvGrpSpPr/>
          <p:nvPr/>
        </p:nvGrpSpPr>
        <p:grpSpPr>
          <a:xfrm>
            <a:off x="9883245" y="1990373"/>
            <a:ext cx="3912118" cy="1070705"/>
            <a:chOff x="0" y="0"/>
            <a:chExt cx="5216157" cy="1427607"/>
          </a:xfrm>
        </p:grpSpPr>
        <p:sp>
          <p:nvSpPr>
            <p:cNvPr id="347" name="Google Shape;347;p6"/>
            <p:cNvSpPr/>
            <p:nvPr/>
          </p:nvSpPr>
          <p:spPr>
            <a:xfrm>
              <a:off x="0" y="0"/>
              <a:ext cx="5216144" cy="1427607"/>
            </a:xfrm>
            <a:custGeom>
              <a:rect b="b" l="l" r="r" t="t"/>
              <a:pathLst>
                <a:path extrusionOk="0" h="1427607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1427607"/>
                  </a:lnTo>
                  <a:lnTo>
                    <a:pt x="0" y="1427607"/>
                  </a:lnTo>
                  <a:close/>
                </a:path>
              </a:pathLst>
            </a:custGeom>
            <a:solidFill>
              <a:srgbClr val="DFF7EF"/>
            </a:solidFill>
            <a:ln>
              <a:noFill/>
            </a:ln>
          </p:spPr>
        </p:sp>
        <p:sp>
          <p:nvSpPr>
            <p:cNvPr id="348" name="Google Shape;348;p6"/>
            <p:cNvSpPr txBox="1"/>
            <p:nvPr/>
          </p:nvSpPr>
          <p:spPr>
            <a:xfrm>
              <a:off x="0" y="0"/>
              <a:ext cx="5216157" cy="1427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2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◎  OpenAI API</a:t>
              </a:r>
              <a:endParaRPr/>
            </a:p>
          </p:txBody>
        </p:sp>
      </p:grpSp>
      <p:sp>
        <p:nvSpPr>
          <p:cNvPr id="349" name="Google Shape;349;p6"/>
          <p:cNvSpPr/>
          <p:nvPr/>
        </p:nvSpPr>
        <p:spPr>
          <a:xfrm>
            <a:off x="1527858" y="3737867"/>
            <a:ext cx="128968" cy="128968"/>
          </a:xfrm>
          <a:custGeom>
            <a:rect b="b" l="l" r="r" t="t"/>
            <a:pathLst>
              <a:path extrusionOk="0" h="171958" w="171958">
                <a:moveTo>
                  <a:pt x="0" y="85979"/>
                </a:moveTo>
                <a:cubicBezTo>
                  <a:pt x="0" y="38481"/>
                  <a:pt x="38481" y="0"/>
                  <a:pt x="85979" y="0"/>
                </a:cubicBezTo>
                <a:cubicBezTo>
                  <a:pt x="133477" y="0"/>
                  <a:pt x="171958" y="38481"/>
                  <a:pt x="171958" y="85979"/>
                </a:cubicBezTo>
                <a:cubicBezTo>
                  <a:pt x="171958" y="133477"/>
                  <a:pt x="133477" y="171958"/>
                  <a:pt x="85979" y="171958"/>
                </a:cubicBezTo>
                <a:cubicBezTo>
                  <a:pt x="38481" y="171958"/>
                  <a:pt x="0" y="133350"/>
                  <a:pt x="0" y="85979"/>
                </a:cubicBezTo>
                <a:close/>
              </a:path>
            </a:pathLst>
          </a:custGeom>
          <a:solidFill>
            <a:srgbClr val="FFC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0" name="Google Shape;350;p6"/>
          <p:cNvGrpSpPr/>
          <p:nvPr/>
        </p:nvGrpSpPr>
        <p:grpSpPr>
          <a:xfrm>
            <a:off x="1784471" y="3637578"/>
            <a:ext cx="6451561" cy="384353"/>
            <a:chOff x="0" y="0"/>
            <a:chExt cx="8602080" cy="512470"/>
          </a:xfrm>
        </p:grpSpPr>
        <p:sp>
          <p:nvSpPr>
            <p:cNvPr id="351" name="Google Shape;351;p6"/>
            <p:cNvSpPr/>
            <p:nvPr/>
          </p:nvSpPr>
          <p:spPr>
            <a:xfrm>
              <a:off x="0" y="0"/>
              <a:ext cx="8602080" cy="512464"/>
            </a:xfrm>
            <a:custGeom>
              <a:rect b="b" l="l" r="r" t="t"/>
              <a:pathLst>
                <a:path extrusionOk="0" h="512464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512464"/>
                  </a:lnTo>
                  <a:lnTo>
                    <a:pt x="0" y="5124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7054" l="0" r="0" t="-277054"/>
              </a:stretch>
            </a:blipFill>
            <a:ln>
              <a:noFill/>
            </a:ln>
          </p:spPr>
        </p:sp>
        <p:sp>
          <p:nvSpPr>
            <p:cNvPr id="352" name="Google Shape;352;p6"/>
            <p:cNvSpPr txBox="1"/>
            <p:nvPr/>
          </p:nvSpPr>
          <p:spPr>
            <a:xfrm>
              <a:off x="0" y="0"/>
              <a:ext cx="8602078" cy="512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Open-source ecosystem</a:t>
              </a:r>
              <a:endParaRPr/>
            </a:p>
          </p:txBody>
        </p:sp>
      </p:grpSp>
      <p:sp>
        <p:nvSpPr>
          <p:cNvPr id="353" name="Google Shape;353;p6"/>
          <p:cNvSpPr/>
          <p:nvPr/>
        </p:nvSpPr>
        <p:spPr>
          <a:xfrm>
            <a:off x="1527858" y="4492838"/>
            <a:ext cx="128968" cy="128968"/>
          </a:xfrm>
          <a:custGeom>
            <a:rect b="b" l="l" r="r" t="t"/>
            <a:pathLst>
              <a:path extrusionOk="0" h="171958" w="171958">
                <a:moveTo>
                  <a:pt x="0" y="85979"/>
                </a:moveTo>
                <a:cubicBezTo>
                  <a:pt x="0" y="38481"/>
                  <a:pt x="38481" y="0"/>
                  <a:pt x="85979" y="0"/>
                </a:cubicBezTo>
                <a:cubicBezTo>
                  <a:pt x="133477" y="0"/>
                  <a:pt x="171958" y="38481"/>
                  <a:pt x="171958" y="85979"/>
                </a:cubicBezTo>
                <a:cubicBezTo>
                  <a:pt x="171958" y="133477"/>
                  <a:pt x="133477" y="171958"/>
                  <a:pt x="85979" y="171958"/>
                </a:cubicBezTo>
                <a:cubicBezTo>
                  <a:pt x="38481" y="171958"/>
                  <a:pt x="0" y="133350"/>
                  <a:pt x="0" y="85979"/>
                </a:cubicBezTo>
                <a:close/>
              </a:path>
            </a:pathLst>
          </a:custGeom>
          <a:solidFill>
            <a:srgbClr val="FFC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4" name="Google Shape;354;p6"/>
          <p:cNvGrpSpPr/>
          <p:nvPr/>
        </p:nvGrpSpPr>
        <p:grpSpPr>
          <a:xfrm>
            <a:off x="1784471" y="4392549"/>
            <a:ext cx="6451561" cy="384353"/>
            <a:chOff x="0" y="0"/>
            <a:chExt cx="8602080" cy="512470"/>
          </a:xfrm>
        </p:grpSpPr>
        <p:sp>
          <p:nvSpPr>
            <p:cNvPr id="355" name="Google Shape;355;p6"/>
            <p:cNvSpPr/>
            <p:nvPr/>
          </p:nvSpPr>
          <p:spPr>
            <a:xfrm>
              <a:off x="0" y="0"/>
              <a:ext cx="8602080" cy="512464"/>
            </a:xfrm>
            <a:custGeom>
              <a:rect b="b" l="l" r="r" t="t"/>
              <a:pathLst>
                <a:path extrusionOk="0" h="512464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512464"/>
                  </a:lnTo>
                  <a:lnTo>
                    <a:pt x="0" y="5124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7054" l="0" r="0" t="-277054"/>
              </a:stretch>
            </a:blipFill>
            <a:ln>
              <a:noFill/>
            </a:ln>
          </p:spPr>
        </p:sp>
        <p:sp>
          <p:nvSpPr>
            <p:cNvPr id="356" name="Google Shape;356;p6"/>
            <p:cNvSpPr txBox="1"/>
            <p:nvPr/>
          </p:nvSpPr>
          <p:spPr>
            <a:xfrm>
              <a:off x="0" y="0"/>
              <a:ext cx="8602078" cy="512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Access to many model families</a:t>
              </a:r>
              <a:endParaRPr/>
            </a:p>
          </p:txBody>
        </p:sp>
      </p:grpSp>
      <p:sp>
        <p:nvSpPr>
          <p:cNvPr id="357" name="Google Shape;357;p6"/>
          <p:cNvSpPr/>
          <p:nvPr/>
        </p:nvSpPr>
        <p:spPr>
          <a:xfrm>
            <a:off x="1527858" y="5247799"/>
            <a:ext cx="128968" cy="128968"/>
          </a:xfrm>
          <a:custGeom>
            <a:rect b="b" l="l" r="r" t="t"/>
            <a:pathLst>
              <a:path extrusionOk="0" h="171958" w="171958">
                <a:moveTo>
                  <a:pt x="0" y="85979"/>
                </a:moveTo>
                <a:cubicBezTo>
                  <a:pt x="0" y="38481"/>
                  <a:pt x="38481" y="0"/>
                  <a:pt x="85979" y="0"/>
                </a:cubicBezTo>
                <a:cubicBezTo>
                  <a:pt x="133477" y="0"/>
                  <a:pt x="171958" y="38481"/>
                  <a:pt x="171958" y="85979"/>
                </a:cubicBezTo>
                <a:cubicBezTo>
                  <a:pt x="171958" y="133477"/>
                  <a:pt x="133477" y="171958"/>
                  <a:pt x="85979" y="171958"/>
                </a:cubicBezTo>
                <a:cubicBezTo>
                  <a:pt x="38481" y="171958"/>
                  <a:pt x="0" y="133350"/>
                  <a:pt x="0" y="85979"/>
                </a:cubicBezTo>
                <a:close/>
              </a:path>
            </a:pathLst>
          </a:custGeom>
          <a:solidFill>
            <a:srgbClr val="FFC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8" name="Google Shape;358;p6"/>
          <p:cNvGrpSpPr/>
          <p:nvPr/>
        </p:nvGrpSpPr>
        <p:grpSpPr>
          <a:xfrm>
            <a:off x="1784471" y="5147520"/>
            <a:ext cx="6451561" cy="384353"/>
            <a:chOff x="0" y="0"/>
            <a:chExt cx="8602080" cy="512470"/>
          </a:xfrm>
        </p:grpSpPr>
        <p:sp>
          <p:nvSpPr>
            <p:cNvPr id="359" name="Google Shape;359;p6"/>
            <p:cNvSpPr/>
            <p:nvPr/>
          </p:nvSpPr>
          <p:spPr>
            <a:xfrm>
              <a:off x="0" y="0"/>
              <a:ext cx="8602080" cy="512464"/>
            </a:xfrm>
            <a:custGeom>
              <a:rect b="b" l="l" r="r" t="t"/>
              <a:pathLst>
                <a:path extrusionOk="0" h="512464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512464"/>
                  </a:lnTo>
                  <a:lnTo>
                    <a:pt x="0" y="5124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7054" l="0" r="0" t="-277054"/>
              </a:stretch>
            </a:blipFill>
            <a:ln>
              <a:noFill/>
            </a:ln>
          </p:spPr>
        </p:sp>
        <p:sp>
          <p:nvSpPr>
            <p:cNvPr id="360" name="Google Shape;360;p6"/>
            <p:cNvSpPr txBox="1"/>
            <p:nvPr/>
          </p:nvSpPr>
          <p:spPr>
            <a:xfrm>
              <a:off x="0" y="0"/>
              <a:ext cx="8602078" cy="512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Local fine-tuning and PEFT</a:t>
              </a:r>
              <a:endParaRPr/>
            </a:p>
          </p:txBody>
        </p:sp>
      </p:grpSp>
      <p:sp>
        <p:nvSpPr>
          <p:cNvPr id="361" name="Google Shape;361;p6"/>
          <p:cNvSpPr/>
          <p:nvPr/>
        </p:nvSpPr>
        <p:spPr>
          <a:xfrm>
            <a:off x="1527858" y="6002769"/>
            <a:ext cx="128968" cy="128968"/>
          </a:xfrm>
          <a:custGeom>
            <a:rect b="b" l="l" r="r" t="t"/>
            <a:pathLst>
              <a:path extrusionOk="0" h="171958" w="171958">
                <a:moveTo>
                  <a:pt x="0" y="85979"/>
                </a:moveTo>
                <a:cubicBezTo>
                  <a:pt x="0" y="38481"/>
                  <a:pt x="38481" y="0"/>
                  <a:pt x="85979" y="0"/>
                </a:cubicBezTo>
                <a:cubicBezTo>
                  <a:pt x="133477" y="0"/>
                  <a:pt x="171958" y="38481"/>
                  <a:pt x="171958" y="85979"/>
                </a:cubicBezTo>
                <a:cubicBezTo>
                  <a:pt x="171958" y="133477"/>
                  <a:pt x="133477" y="171958"/>
                  <a:pt x="85979" y="171958"/>
                </a:cubicBezTo>
                <a:cubicBezTo>
                  <a:pt x="38481" y="171958"/>
                  <a:pt x="0" y="133350"/>
                  <a:pt x="0" y="85979"/>
                </a:cubicBezTo>
                <a:close/>
              </a:path>
            </a:pathLst>
          </a:custGeom>
          <a:solidFill>
            <a:srgbClr val="FFC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2" name="Google Shape;362;p6"/>
          <p:cNvGrpSpPr/>
          <p:nvPr/>
        </p:nvGrpSpPr>
        <p:grpSpPr>
          <a:xfrm>
            <a:off x="1784471" y="5902490"/>
            <a:ext cx="6451561" cy="384353"/>
            <a:chOff x="0" y="0"/>
            <a:chExt cx="8602080" cy="512470"/>
          </a:xfrm>
        </p:grpSpPr>
        <p:sp>
          <p:nvSpPr>
            <p:cNvPr id="363" name="Google Shape;363;p6"/>
            <p:cNvSpPr/>
            <p:nvPr/>
          </p:nvSpPr>
          <p:spPr>
            <a:xfrm>
              <a:off x="0" y="0"/>
              <a:ext cx="8602080" cy="512464"/>
            </a:xfrm>
            <a:custGeom>
              <a:rect b="b" l="l" r="r" t="t"/>
              <a:pathLst>
                <a:path extrusionOk="0" h="512464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512464"/>
                  </a:lnTo>
                  <a:lnTo>
                    <a:pt x="0" y="5124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7054" l="0" r="0" t="-277054"/>
              </a:stretch>
            </a:blipFill>
            <a:ln>
              <a:noFill/>
            </a:ln>
          </p:spPr>
        </p:sp>
        <p:sp>
          <p:nvSpPr>
            <p:cNvPr id="364" name="Google Shape;364;p6"/>
            <p:cNvSpPr txBox="1"/>
            <p:nvPr/>
          </p:nvSpPr>
          <p:spPr>
            <a:xfrm>
              <a:off x="0" y="0"/>
              <a:ext cx="8602078" cy="512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Deploy locally, on-prem, edge, or cloud</a:t>
              </a:r>
              <a:endParaRPr/>
            </a:p>
          </p:txBody>
        </p:sp>
      </p:grpSp>
      <p:sp>
        <p:nvSpPr>
          <p:cNvPr id="365" name="Google Shape;365;p6"/>
          <p:cNvSpPr/>
          <p:nvPr/>
        </p:nvSpPr>
        <p:spPr>
          <a:xfrm>
            <a:off x="1527858" y="6757740"/>
            <a:ext cx="128968" cy="128968"/>
          </a:xfrm>
          <a:custGeom>
            <a:rect b="b" l="l" r="r" t="t"/>
            <a:pathLst>
              <a:path extrusionOk="0" h="171958" w="171958">
                <a:moveTo>
                  <a:pt x="0" y="85979"/>
                </a:moveTo>
                <a:cubicBezTo>
                  <a:pt x="0" y="38481"/>
                  <a:pt x="38481" y="0"/>
                  <a:pt x="85979" y="0"/>
                </a:cubicBezTo>
                <a:cubicBezTo>
                  <a:pt x="133477" y="0"/>
                  <a:pt x="171958" y="38481"/>
                  <a:pt x="171958" y="85979"/>
                </a:cubicBezTo>
                <a:cubicBezTo>
                  <a:pt x="171958" y="133477"/>
                  <a:pt x="133477" y="171958"/>
                  <a:pt x="85979" y="171958"/>
                </a:cubicBezTo>
                <a:cubicBezTo>
                  <a:pt x="38481" y="171958"/>
                  <a:pt x="0" y="133350"/>
                  <a:pt x="0" y="85979"/>
                </a:cubicBezTo>
                <a:close/>
              </a:path>
            </a:pathLst>
          </a:custGeom>
          <a:solidFill>
            <a:srgbClr val="FFC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6" name="Google Shape;366;p6"/>
          <p:cNvGrpSpPr/>
          <p:nvPr/>
        </p:nvGrpSpPr>
        <p:grpSpPr>
          <a:xfrm>
            <a:off x="1784471" y="6657461"/>
            <a:ext cx="6451561" cy="384353"/>
            <a:chOff x="0" y="0"/>
            <a:chExt cx="8602080" cy="512470"/>
          </a:xfrm>
        </p:grpSpPr>
        <p:sp>
          <p:nvSpPr>
            <p:cNvPr id="367" name="Google Shape;367;p6"/>
            <p:cNvSpPr/>
            <p:nvPr/>
          </p:nvSpPr>
          <p:spPr>
            <a:xfrm>
              <a:off x="0" y="0"/>
              <a:ext cx="8602080" cy="512464"/>
            </a:xfrm>
            <a:custGeom>
              <a:rect b="b" l="l" r="r" t="t"/>
              <a:pathLst>
                <a:path extrusionOk="0" h="512464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512464"/>
                  </a:lnTo>
                  <a:lnTo>
                    <a:pt x="0" y="5124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7054" l="0" r="0" t="-277054"/>
              </a:stretch>
            </a:blipFill>
            <a:ln>
              <a:noFill/>
            </a:ln>
          </p:spPr>
        </p:sp>
        <p:sp>
          <p:nvSpPr>
            <p:cNvPr id="368" name="Google Shape;368;p6"/>
            <p:cNvSpPr txBox="1"/>
            <p:nvPr/>
          </p:nvSpPr>
          <p:spPr>
            <a:xfrm>
              <a:off x="0" y="0"/>
              <a:ext cx="8602078" cy="512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Compute cost depends on your hardware</a:t>
              </a:r>
              <a:endParaRPr/>
            </a:p>
          </p:txBody>
        </p:sp>
      </p:grpSp>
      <p:sp>
        <p:nvSpPr>
          <p:cNvPr id="369" name="Google Shape;369;p6"/>
          <p:cNvSpPr/>
          <p:nvPr/>
        </p:nvSpPr>
        <p:spPr>
          <a:xfrm>
            <a:off x="10038426" y="3737867"/>
            <a:ext cx="128968" cy="128968"/>
          </a:xfrm>
          <a:custGeom>
            <a:rect b="b" l="l" r="r" t="t"/>
            <a:pathLst>
              <a:path extrusionOk="0" h="171958" w="171958">
                <a:moveTo>
                  <a:pt x="0" y="85979"/>
                </a:moveTo>
                <a:cubicBezTo>
                  <a:pt x="0" y="38481"/>
                  <a:pt x="38481" y="0"/>
                  <a:pt x="85979" y="0"/>
                </a:cubicBezTo>
                <a:cubicBezTo>
                  <a:pt x="133477" y="0"/>
                  <a:pt x="171958" y="38481"/>
                  <a:pt x="171958" y="85979"/>
                </a:cubicBezTo>
                <a:cubicBezTo>
                  <a:pt x="171958" y="133477"/>
                  <a:pt x="133477" y="171958"/>
                  <a:pt x="85979" y="171958"/>
                </a:cubicBezTo>
                <a:cubicBezTo>
                  <a:pt x="38481" y="171958"/>
                  <a:pt x="0" y="133350"/>
                  <a:pt x="0" y="85979"/>
                </a:cubicBezTo>
                <a:close/>
              </a:path>
            </a:pathLst>
          </a:custGeom>
          <a:solidFill>
            <a:srgbClr val="10A3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0" name="Google Shape;370;p6"/>
          <p:cNvGrpSpPr/>
          <p:nvPr/>
        </p:nvGrpSpPr>
        <p:grpSpPr>
          <a:xfrm>
            <a:off x="10295039" y="3637578"/>
            <a:ext cx="6588828" cy="384353"/>
            <a:chOff x="0" y="0"/>
            <a:chExt cx="8785103" cy="512470"/>
          </a:xfrm>
        </p:grpSpPr>
        <p:sp>
          <p:nvSpPr>
            <p:cNvPr id="371" name="Google Shape;371;p6"/>
            <p:cNvSpPr/>
            <p:nvPr/>
          </p:nvSpPr>
          <p:spPr>
            <a:xfrm>
              <a:off x="0" y="0"/>
              <a:ext cx="8785103" cy="512464"/>
            </a:xfrm>
            <a:custGeom>
              <a:rect b="b" l="l" r="r" t="t"/>
              <a:pathLst>
                <a:path extrusionOk="0" h="512464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512464"/>
                  </a:lnTo>
                  <a:lnTo>
                    <a:pt x="0" y="5124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4046" l="0" r="0" t="-284046"/>
              </a:stretch>
            </a:blipFill>
            <a:ln>
              <a:noFill/>
            </a:ln>
          </p:spPr>
        </p:sp>
        <p:sp>
          <p:nvSpPr>
            <p:cNvPr id="372" name="Google Shape;372;p6"/>
            <p:cNvSpPr txBox="1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Hosted frontier models</a:t>
              </a:r>
              <a:endParaRPr/>
            </a:p>
          </p:txBody>
        </p:sp>
      </p:grpSp>
      <p:sp>
        <p:nvSpPr>
          <p:cNvPr id="373" name="Google Shape;373;p6"/>
          <p:cNvSpPr/>
          <p:nvPr/>
        </p:nvSpPr>
        <p:spPr>
          <a:xfrm>
            <a:off x="10038426" y="4492838"/>
            <a:ext cx="128968" cy="128968"/>
          </a:xfrm>
          <a:custGeom>
            <a:rect b="b" l="l" r="r" t="t"/>
            <a:pathLst>
              <a:path extrusionOk="0" h="171958" w="171958">
                <a:moveTo>
                  <a:pt x="0" y="85979"/>
                </a:moveTo>
                <a:cubicBezTo>
                  <a:pt x="0" y="38481"/>
                  <a:pt x="38481" y="0"/>
                  <a:pt x="85979" y="0"/>
                </a:cubicBezTo>
                <a:cubicBezTo>
                  <a:pt x="133477" y="0"/>
                  <a:pt x="171958" y="38481"/>
                  <a:pt x="171958" y="85979"/>
                </a:cubicBezTo>
                <a:cubicBezTo>
                  <a:pt x="171958" y="133477"/>
                  <a:pt x="133477" y="171958"/>
                  <a:pt x="85979" y="171958"/>
                </a:cubicBezTo>
                <a:cubicBezTo>
                  <a:pt x="38481" y="171958"/>
                  <a:pt x="0" y="133350"/>
                  <a:pt x="0" y="85979"/>
                </a:cubicBezTo>
                <a:close/>
              </a:path>
            </a:pathLst>
          </a:custGeom>
          <a:solidFill>
            <a:srgbClr val="10A3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4" name="Google Shape;374;p6"/>
          <p:cNvGrpSpPr/>
          <p:nvPr/>
        </p:nvGrpSpPr>
        <p:grpSpPr>
          <a:xfrm>
            <a:off x="10295039" y="4392549"/>
            <a:ext cx="6588828" cy="384353"/>
            <a:chOff x="0" y="0"/>
            <a:chExt cx="8785103" cy="512470"/>
          </a:xfrm>
        </p:grpSpPr>
        <p:sp>
          <p:nvSpPr>
            <p:cNvPr id="375" name="Google Shape;375;p6"/>
            <p:cNvSpPr/>
            <p:nvPr/>
          </p:nvSpPr>
          <p:spPr>
            <a:xfrm>
              <a:off x="0" y="0"/>
              <a:ext cx="8785103" cy="512464"/>
            </a:xfrm>
            <a:custGeom>
              <a:rect b="b" l="l" r="r" t="t"/>
              <a:pathLst>
                <a:path extrusionOk="0" h="512464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512464"/>
                  </a:lnTo>
                  <a:lnTo>
                    <a:pt x="0" y="5124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4046" l="0" r="0" t="-284046"/>
              </a:stretch>
            </a:blipFill>
            <a:ln>
              <a:noFill/>
            </a:ln>
          </p:spPr>
        </p:sp>
        <p:sp>
          <p:nvSpPr>
            <p:cNvPr id="376" name="Google Shape;376;p6"/>
            <p:cNvSpPr txBox="1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Simple API integration</a:t>
              </a:r>
              <a:endParaRPr/>
            </a:p>
          </p:txBody>
        </p:sp>
      </p:grpSp>
      <p:sp>
        <p:nvSpPr>
          <p:cNvPr id="377" name="Google Shape;377;p6"/>
          <p:cNvSpPr/>
          <p:nvPr/>
        </p:nvSpPr>
        <p:spPr>
          <a:xfrm>
            <a:off x="10038426" y="5247799"/>
            <a:ext cx="128968" cy="128968"/>
          </a:xfrm>
          <a:custGeom>
            <a:rect b="b" l="l" r="r" t="t"/>
            <a:pathLst>
              <a:path extrusionOk="0" h="171958" w="171958">
                <a:moveTo>
                  <a:pt x="0" y="85979"/>
                </a:moveTo>
                <a:cubicBezTo>
                  <a:pt x="0" y="38481"/>
                  <a:pt x="38481" y="0"/>
                  <a:pt x="85979" y="0"/>
                </a:cubicBezTo>
                <a:cubicBezTo>
                  <a:pt x="133477" y="0"/>
                  <a:pt x="171958" y="38481"/>
                  <a:pt x="171958" y="85979"/>
                </a:cubicBezTo>
                <a:cubicBezTo>
                  <a:pt x="171958" y="133477"/>
                  <a:pt x="133477" y="171958"/>
                  <a:pt x="85979" y="171958"/>
                </a:cubicBezTo>
                <a:cubicBezTo>
                  <a:pt x="38481" y="171958"/>
                  <a:pt x="0" y="133350"/>
                  <a:pt x="0" y="85979"/>
                </a:cubicBezTo>
                <a:close/>
              </a:path>
            </a:pathLst>
          </a:custGeom>
          <a:solidFill>
            <a:srgbClr val="10A3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8" name="Google Shape;378;p6"/>
          <p:cNvGrpSpPr/>
          <p:nvPr/>
        </p:nvGrpSpPr>
        <p:grpSpPr>
          <a:xfrm>
            <a:off x="10295039" y="5147520"/>
            <a:ext cx="6588828" cy="384353"/>
            <a:chOff x="0" y="0"/>
            <a:chExt cx="8785103" cy="512470"/>
          </a:xfrm>
        </p:grpSpPr>
        <p:sp>
          <p:nvSpPr>
            <p:cNvPr id="379" name="Google Shape;379;p6"/>
            <p:cNvSpPr/>
            <p:nvPr/>
          </p:nvSpPr>
          <p:spPr>
            <a:xfrm>
              <a:off x="0" y="0"/>
              <a:ext cx="8785103" cy="512464"/>
            </a:xfrm>
            <a:custGeom>
              <a:rect b="b" l="l" r="r" t="t"/>
              <a:pathLst>
                <a:path extrusionOk="0" h="512464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512464"/>
                  </a:lnTo>
                  <a:lnTo>
                    <a:pt x="0" y="5124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4046" l="0" r="0" t="-284046"/>
              </a:stretch>
            </a:blipFill>
            <a:ln>
              <a:noFill/>
            </a:ln>
          </p:spPr>
        </p:sp>
        <p:sp>
          <p:nvSpPr>
            <p:cNvPr id="380" name="Google Shape;380;p6"/>
            <p:cNvSpPr txBox="1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Built-in tools and structured outputs</a:t>
              </a:r>
              <a:endParaRPr/>
            </a:p>
          </p:txBody>
        </p:sp>
      </p:grpSp>
      <p:sp>
        <p:nvSpPr>
          <p:cNvPr id="381" name="Google Shape;381;p6"/>
          <p:cNvSpPr/>
          <p:nvPr/>
        </p:nvSpPr>
        <p:spPr>
          <a:xfrm>
            <a:off x="10038426" y="6002769"/>
            <a:ext cx="128968" cy="128968"/>
          </a:xfrm>
          <a:custGeom>
            <a:rect b="b" l="l" r="r" t="t"/>
            <a:pathLst>
              <a:path extrusionOk="0" h="171958" w="171958">
                <a:moveTo>
                  <a:pt x="0" y="85979"/>
                </a:moveTo>
                <a:cubicBezTo>
                  <a:pt x="0" y="38481"/>
                  <a:pt x="38481" y="0"/>
                  <a:pt x="85979" y="0"/>
                </a:cubicBezTo>
                <a:cubicBezTo>
                  <a:pt x="133477" y="0"/>
                  <a:pt x="171958" y="38481"/>
                  <a:pt x="171958" y="85979"/>
                </a:cubicBezTo>
                <a:cubicBezTo>
                  <a:pt x="171958" y="133477"/>
                  <a:pt x="133477" y="171958"/>
                  <a:pt x="85979" y="171958"/>
                </a:cubicBezTo>
                <a:cubicBezTo>
                  <a:pt x="38481" y="171958"/>
                  <a:pt x="0" y="133350"/>
                  <a:pt x="0" y="85979"/>
                </a:cubicBezTo>
                <a:close/>
              </a:path>
            </a:pathLst>
          </a:custGeom>
          <a:solidFill>
            <a:srgbClr val="10A3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2" name="Google Shape;382;p6"/>
          <p:cNvGrpSpPr/>
          <p:nvPr/>
        </p:nvGrpSpPr>
        <p:grpSpPr>
          <a:xfrm>
            <a:off x="10295039" y="5902490"/>
            <a:ext cx="6588828" cy="384353"/>
            <a:chOff x="0" y="0"/>
            <a:chExt cx="8785103" cy="512470"/>
          </a:xfrm>
        </p:grpSpPr>
        <p:sp>
          <p:nvSpPr>
            <p:cNvPr id="383" name="Google Shape;383;p6"/>
            <p:cNvSpPr/>
            <p:nvPr/>
          </p:nvSpPr>
          <p:spPr>
            <a:xfrm>
              <a:off x="0" y="0"/>
              <a:ext cx="8785103" cy="512464"/>
            </a:xfrm>
            <a:custGeom>
              <a:rect b="b" l="l" r="r" t="t"/>
              <a:pathLst>
                <a:path extrusionOk="0" h="512464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512464"/>
                  </a:lnTo>
                  <a:lnTo>
                    <a:pt x="0" y="5124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4046" l="0" r="0" t="-284046"/>
              </a:stretch>
            </a:blipFill>
            <a:ln>
              <a:noFill/>
            </a:ln>
          </p:spPr>
        </p:sp>
        <p:sp>
          <p:nvSpPr>
            <p:cNvPr id="384" name="Google Shape;384;p6"/>
            <p:cNvSpPr txBox="1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Text, image, audio, and agent workflows</a:t>
              </a:r>
              <a:endParaRPr/>
            </a:p>
          </p:txBody>
        </p:sp>
      </p:grpSp>
      <p:sp>
        <p:nvSpPr>
          <p:cNvPr id="385" name="Google Shape;385;p6"/>
          <p:cNvSpPr/>
          <p:nvPr/>
        </p:nvSpPr>
        <p:spPr>
          <a:xfrm>
            <a:off x="10038426" y="6757740"/>
            <a:ext cx="128968" cy="128968"/>
          </a:xfrm>
          <a:custGeom>
            <a:rect b="b" l="l" r="r" t="t"/>
            <a:pathLst>
              <a:path extrusionOk="0" h="171958" w="171958">
                <a:moveTo>
                  <a:pt x="0" y="85979"/>
                </a:moveTo>
                <a:cubicBezTo>
                  <a:pt x="0" y="38481"/>
                  <a:pt x="38481" y="0"/>
                  <a:pt x="85979" y="0"/>
                </a:cubicBezTo>
                <a:cubicBezTo>
                  <a:pt x="133477" y="0"/>
                  <a:pt x="171958" y="38481"/>
                  <a:pt x="171958" y="85979"/>
                </a:cubicBezTo>
                <a:cubicBezTo>
                  <a:pt x="171958" y="133477"/>
                  <a:pt x="133477" y="171958"/>
                  <a:pt x="85979" y="171958"/>
                </a:cubicBezTo>
                <a:cubicBezTo>
                  <a:pt x="38481" y="171958"/>
                  <a:pt x="0" y="133350"/>
                  <a:pt x="0" y="85979"/>
                </a:cubicBezTo>
                <a:close/>
              </a:path>
            </a:pathLst>
          </a:custGeom>
          <a:solidFill>
            <a:srgbClr val="10A3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6" name="Google Shape;386;p6"/>
          <p:cNvGrpSpPr/>
          <p:nvPr/>
        </p:nvGrpSpPr>
        <p:grpSpPr>
          <a:xfrm>
            <a:off x="10295039" y="6657461"/>
            <a:ext cx="6588828" cy="384353"/>
            <a:chOff x="0" y="0"/>
            <a:chExt cx="8785103" cy="512470"/>
          </a:xfrm>
        </p:grpSpPr>
        <p:sp>
          <p:nvSpPr>
            <p:cNvPr id="387" name="Google Shape;387;p6"/>
            <p:cNvSpPr/>
            <p:nvPr/>
          </p:nvSpPr>
          <p:spPr>
            <a:xfrm>
              <a:off x="0" y="0"/>
              <a:ext cx="8785103" cy="512464"/>
            </a:xfrm>
            <a:custGeom>
              <a:rect b="b" l="l" r="r" t="t"/>
              <a:pathLst>
                <a:path extrusionOk="0" h="512464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512464"/>
                  </a:lnTo>
                  <a:lnTo>
                    <a:pt x="0" y="5124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4046" l="0" r="0" t="-284046"/>
              </a:stretch>
            </a:blipFill>
            <a:ln>
              <a:noFill/>
            </a:ln>
          </p:spPr>
        </p:sp>
        <p:sp>
          <p:nvSpPr>
            <p:cNvPr id="388" name="Google Shape;388;p6"/>
            <p:cNvSpPr txBox="1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Pay-per-token usage pricing</a:t>
              </a:r>
              <a:endParaRPr/>
            </a:p>
          </p:txBody>
        </p:sp>
      </p:grpSp>
      <p:cxnSp>
        <p:nvCxnSpPr>
          <p:cNvPr id="389" name="Google Shape;389;p6"/>
          <p:cNvCxnSpPr/>
          <p:nvPr/>
        </p:nvCxnSpPr>
        <p:spPr>
          <a:xfrm rot="5389680">
            <a:off x="5824309" y="5280022"/>
            <a:ext cx="6333382" cy="0"/>
          </a:xfrm>
          <a:prstGeom prst="straightConnector1">
            <a:avLst/>
          </a:prstGeom>
          <a:noFill/>
          <a:ln cap="rnd" cmpd="sng" w="9525">
            <a:solidFill>
              <a:srgbClr val="D7DDE8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0" name="Google Shape;390;p6"/>
          <p:cNvGrpSpPr/>
          <p:nvPr/>
        </p:nvGrpSpPr>
        <p:grpSpPr>
          <a:xfrm>
            <a:off x="16952500" y="9629013"/>
            <a:ext cx="343168" cy="309134"/>
            <a:chOff x="0" y="-9525"/>
            <a:chExt cx="457557" cy="412179"/>
          </a:xfrm>
        </p:grpSpPr>
        <p:sp>
          <p:nvSpPr>
            <p:cNvPr id="391" name="Google Shape;391;p6"/>
            <p:cNvSpPr/>
            <p:nvPr/>
          </p:nvSpPr>
          <p:spPr>
            <a:xfrm>
              <a:off x="0" y="0"/>
              <a:ext cx="457557" cy="402651"/>
            </a:xfrm>
            <a:custGeom>
              <a:rect b="b" l="l" r="r" t="t"/>
              <a:pathLst>
                <a:path extrusionOk="0" h="402651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02651"/>
                  </a:lnTo>
                  <a:lnTo>
                    <a:pt x="0" y="40265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62908" r="-62908" t="0"/>
              </a:stretch>
            </a:blipFill>
            <a:ln>
              <a:noFill/>
            </a:ln>
          </p:spPr>
        </p:sp>
        <p:sp>
          <p:nvSpPr>
            <p:cNvPr id="392" name="Google Shape;392;p6"/>
            <p:cNvSpPr txBox="1"/>
            <p:nvPr/>
          </p:nvSpPr>
          <p:spPr>
            <a:xfrm>
              <a:off x="0" y="-9525"/>
              <a:ext cx="457556" cy="412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5" u="none" cap="none" strike="noStrike">
                  <a:solidFill>
                    <a:srgbClr val="778195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</p:grpSp>
      <p:sp>
        <p:nvSpPr>
          <p:cNvPr id="393" name="Google Shape;393;p6"/>
          <p:cNvSpPr txBox="1"/>
          <p:nvPr/>
        </p:nvSpPr>
        <p:spPr>
          <a:xfrm>
            <a:off x="587573" y="9422797"/>
            <a:ext cx="5699270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Names : Emmanuel ABABIO, Robert Thompson, Olis Bahari</a:t>
            </a:r>
            <a:endParaRPr/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B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7"/>
          <p:cNvSpPr/>
          <p:nvPr/>
        </p:nvSpPr>
        <p:spPr>
          <a:xfrm>
            <a:off x="196367" y="196367"/>
            <a:ext cx="540639" cy="540639"/>
          </a:xfrm>
          <a:custGeom>
            <a:rect b="b" l="l" r="r" t="t"/>
            <a:pathLst>
              <a:path extrusionOk="0" h="720852" w="720852">
                <a:moveTo>
                  <a:pt x="0" y="0"/>
                </a:moveTo>
                <a:lnTo>
                  <a:pt x="720852" y="0"/>
                </a:lnTo>
                <a:lnTo>
                  <a:pt x="720852" y="720852"/>
                </a:lnTo>
                <a:lnTo>
                  <a:pt x="0" y="720852"/>
                </a:lnTo>
                <a:close/>
              </a:path>
            </a:pathLst>
          </a:custGeom>
          <a:solidFill>
            <a:srgbClr val="FFF2B8">
              <a:alpha val="35686"/>
            </a:srgbClr>
          </a:solidFill>
          <a:ln>
            <a:noFill/>
          </a:ln>
        </p:spPr>
      </p:sp>
      <p:sp>
        <p:nvSpPr>
          <p:cNvPr id="399" name="Google Shape;399;p7"/>
          <p:cNvSpPr/>
          <p:nvPr/>
        </p:nvSpPr>
        <p:spPr>
          <a:xfrm>
            <a:off x="17354769" y="9530544"/>
            <a:ext cx="499491" cy="499491"/>
          </a:xfrm>
          <a:custGeom>
            <a:rect b="b" l="l" r="r" t="t"/>
            <a:pathLst>
              <a:path extrusionOk="0" h="665988" w="665988">
                <a:moveTo>
                  <a:pt x="0" y="0"/>
                </a:moveTo>
                <a:lnTo>
                  <a:pt x="665988" y="0"/>
                </a:lnTo>
                <a:lnTo>
                  <a:pt x="665988" y="665988"/>
                </a:lnTo>
                <a:lnTo>
                  <a:pt x="0" y="665988"/>
                </a:lnTo>
                <a:close/>
              </a:path>
            </a:pathLst>
          </a:custGeom>
          <a:solidFill>
            <a:srgbClr val="DFF7EF">
              <a:alpha val="35686"/>
            </a:srgbClr>
          </a:solidFill>
          <a:ln>
            <a:noFill/>
          </a:ln>
        </p:spPr>
      </p:sp>
      <p:grpSp>
        <p:nvGrpSpPr>
          <p:cNvPr id="400" name="Google Shape;400;p7"/>
          <p:cNvGrpSpPr/>
          <p:nvPr/>
        </p:nvGrpSpPr>
        <p:grpSpPr>
          <a:xfrm>
            <a:off x="892235" y="521618"/>
            <a:ext cx="13040392" cy="576523"/>
            <a:chOff x="0" y="0"/>
            <a:chExt cx="17387189" cy="768697"/>
          </a:xfrm>
        </p:grpSpPr>
        <p:sp>
          <p:nvSpPr>
            <p:cNvPr id="401" name="Google Shape;401;p7"/>
            <p:cNvSpPr/>
            <p:nvPr/>
          </p:nvSpPr>
          <p:spPr>
            <a:xfrm>
              <a:off x="0" y="0"/>
              <a:ext cx="17387184" cy="768697"/>
            </a:xfrm>
            <a:custGeom>
              <a:rect b="b" l="l" r="r" t="t"/>
              <a:pathLst>
                <a:path extrusionOk="0" h="768697" w="17387184">
                  <a:moveTo>
                    <a:pt x="0" y="0"/>
                  </a:moveTo>
                  <a:lnTo>
                    <a:pt x="17387184" y="0"/>
                  </a:lnTo>
                  <a:lnTo>
                    <a:pt x="17387184" y="768697"/>
                  </a:lnTo>
                  <a:lnTo>
                    <a:pt x="0" y="76869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0761" l="0" r="0" t="-390761"/>
              </a:stretch>
            </a:blipFill>
            <a:ln>
              <a:noFill/>
            </a:ln>
          </p:spPr>
        </p:sp>
        <p:sp>
          <p:nvSpPr>
            <p:cNvPr id="402" name="Google Shape;402;p7"/>
            <p:cNvSpPr txBox="1"/>
            <p:nvPr/>
          </p:nvSpPr>
          <p:spPr>
            <a:xfrm>
              <a:off x="0" y="0"/>
              <a:ext cx="17387189" cy="768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03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Comparative perspective</a:t>
              </a:r>
              <a:endParaRPr/>
            </a:p>
          </p:txBody>
        </p:sp>
      </p:grpSp>
      <p:grpSp>
        <p:nvGrpSpPr>
          <p:cNvPr id="403" name="Google Shape;403;p7"/>
          <p:cNvGrpSpPr/>
          <p:nvPr/>
        </p:nvGrpSpPr>
        <p:grpSpPr>
          <a:xfrm>
            <a:off x="905961" y="1194225"/>
            <a:ext cx="14275794" cy="411804"/>
            <a:chOff x="0" y="0"/>
            <a:chExt cx="19034392" cy="549072"/>
          </a:xfrm>
        </p:grpSpPr>
        <p:sp>
          <p:nvSpPr>
            <p:cNvPr id="404" name="Google Shape;404;p7"/>
            <p:cNvSpPr/>
            <p:nvPr/>
          </p:nvSpPr>
          <p:spPr>
            <a:xfrm>
              <a:off x="0" y="0"/>
              <a:ext cx="19034390" cy="549069"/>
            </a:xfrm>
            <a:custGeom>
              <a:rect b="b" l="l" r="r" t="t"/>
              <a:pathLst>
                <a:path extrusionOk="0" h="549069" w="19034390">
                  <a:moveTo>
                    <a:pt x="0" y="0"/>
                  </a:moveTo>
                  <a:lnTo>
                    <a:pt x="19034390" y="0"/>
                  </a:lnTo>
                  <a:lnTo>
                    <a:pt x="19034390" y="549069"/>
                  </a:lnTo>
                  <a:lnTo>
                    <a:pt x="0" y="54906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25493" l="0" r="0" t="-625493"/>
              </a:stretch>
            </a:blipFill>
            <a:ln>
              <a:noFill/>
            </a:ln>
          </p:spPr>
        </p:sp>
        <p:sp>
          <p:nvSpPr>
            <p:cNvPr id="405" name="Google Shape;405;p7"/>
            <p:cNvSpPr txBox="1"/>
            <p:nvPr/>
          </p:nvSpPr>
          <p:spPr>
            <a:xfrm>
              <a:off x="0" y="0"/>
              <a:ext cx="19034392" cy="549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 clean way to choose is to compare what the project needs most.</a:t>
              </a:r>
              <a:endParaRPr/>
            </a:p>
          </p:txBody>
        </p:sp>
      </p:grpSp>
      <p:grpSp>
        <p:nvGrpSpPr>
          <p:cNvPr id="406" name="Google Shape;406;p7"/>
          <p:cNvGrpSpPr/>
          <p:nvPr/>
        </p:nvGrpSpPr>
        <p:grpSpPr>
          <a:xfrm>
            <a:off x="16952500" y="9629013"/>
            <a:ext cx="343168" cy="309134"/>
            <a:chOff x="0" y="-9525"/>
            <a:chExt cx="457557" cy="412179"/>
          </a:xfrm>
        </p:grpSpPr>
        <p:sp>
          <p:nvSpPr>
            <p:cNvPr id="407" name="Google Shape;407;p7"/>
            <p:cNvSpPr/>
            <p:nvPr/>
          </p:nvSpPr>
          <p:spPr>
            <a:xfrm>
              <a:off x="0" y="0"/>
              <a:ext cx="457557" cy="402651"/>
            </a:xfrm>
            <a:custGeom>
              <a:rect b="b" l="l" r="r" t="t"/>
              <a:pathLst>
                <a:path extrusionOk="0" h="402651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02651"/>
                  </a:lnTo>
                  <a:lnTo>
                    <a:pt x="0" y="40265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62908" r="-62908" t="0"/>
              </a:stretch>
            </a:blipFill>
            <a:ln>
              <a:noFill/>
            </a:ln>
          </p:spPr>
        </p:sp>
        <p:sp>
          <p:nvSpPr>
            <p:cNvPr id="408" name="Google Shape;408;p7"/>
            <p:cNvSpPr txBox="1"/>
            <p:nvPr/>
          </p:nvSpPr>
          <p:spPr>
            <a:xfrm>
              <a:off x="0" y="-9525"/>
              <a:ext cx="457556" cy="412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5" u="none" cap="none" strike="noStrike">
                  <a:solidFill>
                    <a:srgbClr val="778195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</p:grpSp>
      <p:sp>
        <p:nvSpPr>
          <p:cNvPr id="409" name="Google Shape;409;p7"/>
          <p:cNvSpPr txBox="1"/>
          <p:nvPr/>
        </p:nvSpPr>
        <p:spPr>
          <a:xfrm>
            <a:off x="587573" y="9422797"/>
            <a:ext cx="5699270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Names : Emmanuel ABABIO, Robert Thompson, Olis Bahari</a:t>
            </a:r>
            <a:endParaRPr/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0" name="Google Shape;410;p7"/>
          <p:cNvGraphicFramePr/>
          <p:nvPr/>
        </p:nvGraphicFramePr>
        <p:xfrm>
          <a:off x="2209825" y="203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{25D24635-AAC9-4FE0-9679-C60B3300224D}</a:tableStyleId>
              </a:tblPr>
              <a:tblGrid>
                <a:gridCol w="4535625"/>
                <a:gridCol w="4535625"/>
                <a:gridCol w="4535625"/>
              </a:tblGrid>
              <a:tr h="102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7F8FB"/>
                          </a:solidFill>
                        </a:rPr>
                        <a:t>Dimension</a:t>
                      </a:r>
                      <a:endParaRPr sz="1500">
                        <a:solidFill>
                          <a:srgbClr val="F7F8FB"/>
                        </a:solidFill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7F8FB"/>
                          </a:solidFill>
                        </a:rPr>
                        <a:t>Hugging Face Transformers</a:t>
                      </a:r>
                      <a:endParaRPr sz="1500">
                        <a:solidFill>
                          <a:srgbClr val="F7F8FB"/>
                        </a:solidFill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7F8FB"/>
                          </a:solidFill>
                        </a:rPr>
                        <a:t>OpenAI API</a:t>
                      </a:r>
                      <a:endParaRPr sz="1500">
                        <a:solidFill>
                          <a:srgbClr val="F7F8FB"/>
                        </a:solidFill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102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Ease of Use</a:t>
                      </a:r>
                      <a:endParaRPr b="1" sz="1500"/>
                    </a:p>
                  </a:txBody>
                  <a:tcPr marT="91425" marB="91425" marR="91425" marL="91425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Takes more setup and ML knowledge</a:t>
                      </a:r>
                      <a:endParaRPr sz="1500"/>
                    </a:p>
                  </a:txBody>
                  <a:tcPr marT="91425" marB="91425" marR="91425" marL="91425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Easier to use with an API</a:t>
                      </a:r>
                      <a:endParaRPr sz="1500"/>
                    </a:p>
                  </a:txBody>
                  <a:tcPr marT="91425" marB="91425" marR="91425" marL="91425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2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Performance</a:t>
                      </a:r>
                      <a:endParaRPr b="1" sz="1500"/>
                    </a:p>
                  </a:txBody>
                  <a:tcPr marT="91425" marB="91425" marR="91425" marL="91425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DD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Depends on the model you choose</a:t>
                      </a:r>
                      <a:endParaRPr sz="1500"/>
                    </a:p>
                  </a:txBody>
                  <a:tcPr marT="91425" marB="91425" marR="91425" marL="91425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DD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Strong performance right away</a:t>
                      </a:r>
                      <a:endParaRPr sz="1500"/>
                    </a:p>
                  </a:txBody>
                  <a:tcPr marT="91425" marB="91425" marR="91425" marL="91425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DDE8"/>
                    </a:solidFill>
                  </a:tcPr>
                </a:tc>
              </a:tr>
              <a:tr h="102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Support</a:t>
                      </a:r>
                      <a:endParaRPr b="1" sz="1500"/>
                    </a:p>
                  </a:txBody>
                  <a:tcPr marT="91425" marB="91425" marR="91425" marL="91425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Community help, docs, and paid support</a:t>
                      </a:r>
                      <a:endParaRPr sz="1500"/>
                    </a:p>
                  </a:txBody>
                  <a:tcPr marT="91425" marB="91425" marR="91425" marL="91425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Official docs and company support</a:t>
                      </a:r>
                      <a:endParaRPr sz="1500"/>
                    </a:p>
                  </a:txBody>
                  <a:tcPr marT="91425" marB="91425" marR="91425" marL="91425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2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Scaling</a:t>
                      </a:r>
                      <a:endParaRPr b="1" sz="1500"/>
                    </a:p>
                  </a:txBody>
                  <a:tcPr marT="91425" marB="91425" marR="91425" marL="91425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DD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You manage the computer power yourself</a:t>
                      </a:r>
                      <a:endParaRPr sz="1500"/>
                    </a:p>
                  </a:txBody>
                  <a:tcPr marT="91425" marB="91425" marR="91425" marL="91425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DD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OpenAI handles scaling for you</a:t>
                      </a:r>
                      <a:endParaRPr sz="1500"/>
                    </a:p>
                  </a:txBody>
                  <a:tcPr marT="91425" marB="91425" marR="91425" marL="91425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DDE8"/>
                    </a:solidFill>
                  </a:tcPr>
                </a:tc>
              </a:tr>
              <a:tr h="102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Best For</a:t>
                      </a:r>
                      <a:endParaRPr b="1" sz="1500"/>
                    </a:p>
                  </a:txBody>
                  <a:tcPr marT="91425" marB="91425" marR="91425" marL="91425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Research, privacy, and custom models</a:t>
                      </a:r>
                      <a:endParaRPr sz="1500"/>
                    </a:p>
                  </a:txBody>
                  <a:tcPr marT="91425" marB="91425" marR="91425" marL="91425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Fast apps, chatbots, and multimodal AI</a:t>
                      </a:r>
                      <a:endParaRPr sz="1500"/>
                    </a:p>
                  </a:txBody>
                  <a:tcPr marT="91425" marB="91425" marR="91425" marL="91425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B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8"/>
          <p:cNvSpPr/>
          <p:nvPr/>
        </p:nvSpPr>
        <p:spPr>
          <a:xfrm>
            <a:off x="196367" y="196367"/>
            <a:ext cx="540639" cy="540639"/>
          </a:xfrm>
          <a:custGeom>
            <a:rect b="b" l="l" r="r" t="t"/>
            <a:pathLst>
              <a:path extrusionOk="0" h="720852" w="720852">
                <a:moveTo>
                  <a:pt x="0" y="0"/>
                </a:moveTo>
                <a:lnTo>
                  <a:pt x="720852" y="0"/>
                </a:lnTo>
                <a:lnTo>
                  <a:pt x="720852" y="720852"/>
                </a:lnTo>
                <a:lnTo>
                  <a:pt x="0" y="720852"/>
                </a:lnTo>
                <a:close/>
              </a:path>
            </a:pathLst>
          </a:custGeom>
          <a:solidFill>
            <a:srgbClr val="FFF2B8">
              <a:alpha val="35686"/>
            </a:srgbClr>
          </a:solidFill>
          <a:ln>
            <a:noFill/>
          </a:ln>
        </p:spPr>
      </p:sp>
      <p:sp>
        <p:nvSpPr>
          <p:cNvPr id="416" name="Google Shape;416;p8"/>
          <p:cNvSpPr/>
          <p:nvPr/>
        </p:nvSpPr>
        <p:spPr>
          <a:xfrm>
            <a:off x="17354769" y="9530544"/>
            <a:ext cx="499491" cy="499491"/>
          </a:xfrm>
          <a:custGeom>
            <a:rect b="b" l="l" r="r" t="t"/>
            <a:pathLst>
              <a:path extrusionOk="0" h="665988" w="665988">
                <a:moveTo>
                  <a:pt x="0" y="0"/>
                </a:moveTo>
                <a:lnTo>
                  <a:pt x="665988" y="0"/>
                </a:lnTo>
                <a:lnTo>
                  <a:pt x="665988" y="665988"/>
                </a:lnTo>
                <a:lnTo>
                  <a:pt x="0" y="665988"/>
                </a:lnTo>
                <a:close/>
              </a:path>
            </a:pathLst>
          </a:custGeom>
          <a:solidFill>
            <a:srgbClr val="DFF7EF">
              <a:alpha val="35686"/>
            </a:srgbClr>
          </a:solidFill>
          <a:ln>
            <a:noFill/>
          </a:ln>
        </p:spPr>
      </p:sp>
      <p:grpSp>
        <p:nvGrpSpPr>
          <p:cNvPr id="417" name="Google Shape;417;p8"/>
          <p:cNvGrpSpPr/>
          <p:nvPr/>
        </p:nvGrpSpPr>
        <p:grpSpPr>
          <a:xfrm>
            <a:off x="892235" y="521618"/>
            <a:ext cx="13040392" cy="576523"/>
            <a:chOff x="0" y="0"/>
            <a:chExt cx="17387189" cy="768697"/>
          </a:xfrm>
        </p:grpSpPr>
        <p:sp>
          <p:nvSpPr>
            <p:cNvPr id="418" name="Google Shape;418;p8"/>
            <p:cNvSpPr/>
            <p:nvPr/>
          </p:nvSpPr>
          <p:spPr>
            <a:xfrm>
              <a:off x="0" y="0"/>
              <a:ext cx="17387184" cy="768697"/>
            </a:xfrm>
            <a:custGeom>
              <a:rect b="b" l="l" r="r" t="t"/>
              <a:pathLst>
                <a:path extrusionOk="0" h="768697" w="17387184">
                  <a:moveTo>
                    <a:pt x="0" y="0"/>
                  </a:moveTo>
                  <a:lnTo>
                    <a:pt x="17387184" y="0"/>
                  </a:lnTo>
                  <a:lnTo>
                    <a:pt x="17387184" y="768697"/>
                  </a:lnTo>
                  <a:lnTo>
                    <a:pt x="0" y="76869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0761" l="0" r="0" t="-390761"/>
              </a:stretch>
            </a:blipFill>
            <a:ln>
              <a:noFill/>
            </a:ln>
          </p:spPr>
        </p:sp>
        <p:sp>
          <p:nvSpPr>
            <p:cNvPr id="419" name="Google Shape;419;p8"/>
            <p:cNvSpPr txBox="1"/>
            <p:nvPr/>
          </p:nvSpPr>
          <p:spPr>
            <a:xfrm>
              <a:off x="0" y="0"/>
              <a:ext cx="17387189" cy="768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03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Which should you choose?</a:t>
              </a:r>
              <a:endParaRPr/>
            </a:p>
          </p:txBody>
        </p:sp>
      </p:grpSp>
      <p:grpSp>
        <p:nvGrpSpPr>
          <p:cNvPr id="420" name="Google Shape;420;p8"/>
          <p:cNvGrpSpPr/>
          <p:nvPr/>
        </p:nvGrpSpPr>
        <p:grpSpPr>
          <a:xfrm>
            <a:off x="905961" y="1194225"/>
            <a:ext cx="14275794" cy="411804"/>
            <a:chOff x="0" y="0"/>
            <a:chExt cx="19034392" cy="549072"/>
          </a:xfrm>
        </p:grpSpPr>
        <p:sp>
          <p:nvSpPr>
            <p:cNvPr id="421" name="Google Shape;421;p8"/>
            <p:cNvSpPr/>
            <p:nvPr/>
          </p:nvSpPr>
          <p:spPr>
            <a:xfrm>
              <a:off x="0" y="0"/>
              <a:ext cx="19034390" cy="549069"/>
            </a:xfrm>
            <a:custGeom>
              <a:rect b="b" l="l" r="r" t="t"/>
              <a:pathLst>
                <a:path extrusionOk="0" h="549069" w="19034390">
                  <a:moveTo>
                    <a:pt x="0" y="0"/>
                  </a:moveTo>
                  <a:lnTo>
                    <a:pt x="19034390" y="0"/>
                  </a:lnTo>
                  <a:lnTo>
                    <a:pt x="19034390" y="549069"/>
                  </a:lnTo>
                  <a:lnTo>
                    <a:pt x="0" y="54906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25493" l="0" r="0" t="-625493"/>
              </a:stretch>
            </a:blipFill>
            <a:ln>
              <a:noFill/>
            </a:ln>
          </p:spPr>
        </p:sp>
        <p:sp>
          <p:nvSpPr>
            <p:cNvPr id="422" name="Google Shape;422;p8"/>
            <p:cNvSpPr txBox="1"/>
            <p:nvPr/>
          </p:nvSpPr>
          <p:spPr>
            <a:xfrm>
              <a:off x="0" y="0"/>
              <a:ext cx="19034392" cy="549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6" u="none" cap="none" strike="noStrike">
                  <a:solidFill>
                    <a:srgbClr val="586174"/>
                  </a:solidFill>
                  <a:latin typeface="Arial"/>
                  <a:ea typeface="Arial"/>
                  <a:cs typeface="Arial"/>
                  <a:sym typeface="Arial"/>
                </a:rPr>
                <a:t>Choose based on the constraint that matters most.</a:t>
              </a:r>
              <a:endParaRPr/>
            </a:p>
          </p:txBody>
        </p:sp>
      </p:grpSp>
      <p:grpSp>
        <p:nvGrpSpPr>
          <p:cNvPr id="423" name="Google Shape;423;p8"/>
          <p:cNvGrpSpPr/>
          <p:nvPr/>
        </p:nvGrpSpPr>
        <p:grpSpPr>
          <a:xfrm>
            <a:off x="1372676" y="2127647"/>
            <a:ext cx="5765225" cy="439256"/>
            <a:chOff x="0" y="0"/>
            <a:chExt cx="7686967" cy="585674"/>
          </a:xfrm>
        </p:grpSpPr>
        <p:sp>
          <p:nvSpPr>
            <p:cNvPr id="424" name="Google Shape;424;p8"/>
            <p:cNvSpPr/>
            <p:nvPr/>
          </p:nvSpPr>
          <p:spPr>
            <a:xfrm>
              <a:off x="0" y="0"/>
              <a:ext cx="7686966" cy="585674"/>
            </a:xfrm>
            <a:custGeom>
              <a:rect b="b" l="l" r="r" t="t"/>
              <a:pathLst>
                <a:path extrusionOk="0" h="585674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5728" l="0" r="0" t="-205728"/>
              </a:stretch>
            </a:blipFill>
            <a:ln>
              <a:noFill/>
            </a:ln>
          </p:spPr>
        </p:sp>
        <p:sp>
          <p:nvSpPr>
            <p:cNvPr id="425" name="Google Shape;425;p8"/>
            <p:cNvSpPr txBox="1"/>
            <p:nvPr/>
          </p:nvSpPr>
          <p:spPr>
            <a:xfrm>
              <a:off x="0" y="0"/>
              <a:ext cx="7686967" cy="5856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52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Choose Hugging Face when…</a:t>
              </a:r>
              <a:endParaRPr/>
            </a:p>
          </p:txBody>
        </p:sp>
      </p:grpSp>
      <p:sp>
        <p:nvSpPr>
          <p:cNvPr id="426" name="Google Shape;426;p8"/>
          <p:cNvSpPr/>
          <p:nvPr/>
        </p:nvSpPr>
        <p:spPr>
          <a:xfrm>
            <a:off x="1431769" y="3147612"/>
            <a:ext cx="128968" cy="128969"/>
          </a:xfrm>
          <a:custGeom>
            <a:rect b="b" l="l" r="r" t="t"/>
            <a:pathLst>
              <a:path extrusionOk="0" h="171958" w="171958">
                <a:moveTo>
                  <a:pt x="0" y="85979"/>
                </a:moveTo>
                <a:cubicBezTo>
                  <a:pt x="0" y="38481"/>
                  <a:pt x="38481" y="0"/>
                  <a:pt x="85979" y="0"/>
                </a:cubicBezTo>
                <a:cubicBezTo>
                  <a:pt x="133477" y="0"/>
                  <a:pt x="171958" y="38481"/>
                  <a:pt x="171958" y="85979"/>
                </a:cubicBezTo>
                <a:cubicBezTo>
                  <a:pt x="171958" y="133477"/>
                  <a:pt x="133477" y="171958"/>
                  <a:pt x="85979" y="171958"/>
                </a:cubicBezTo>
                <a:cubicBezTo>
                  <a:pt x="38481" y="171958"/>
                  <a:pt x="0" y="133350"/>
                  <a:pt x="0" y="85979"/>
                </a:cubicBezTo>
                <a:close/>
              </a:path>
            </a:pathLst>
          </a:custGeom>
          <a:solidFill>
            <a:srgbClr val="FFC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7" name="Google Shape;427;p8"/>
          <p:cNvGrpSpPr/>
          <p:nvPr/>
        </p:nvGrpSpPr>
        <p:grpSpPr>
          <a:xfrm>
            <a:off x="1688382" y="3047333"/>
            <a:ext cx="6863363" cy="384353"/>
            <a:chOff x="0" y="0"/>
            <a:chExt cx="9151150" cy="512470"/>
          </a:xfrm>
        </p:grpSpPr>
        <p:sp>
          <p:nvSpPr>
            <p:cNvPr id="428" name="Google Shape;428;p8"/>
            <p:cNvSpPr/>
            <p:nvPr/>
          </p:nvSpPr>
          <p:spPr>
            <a:xfrm>
              <a:off x="0" y="0"/>
              <a:ext cx="9151149" cy="512464"/>
            </a:xfrm>
            <a:custGeom>
              <a:rect b="b" l="l" r="r" t="t"/>
              <a:pathLst>
                <a:path extrusionOk="0" h="512464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12464"/>
                  </a:lnTo>
                  <a:lnTo>
                    <a:pt x="0" y="5124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7947" l="0" r="0" t="-297947"/>
              </a:stretch>
            </a:blipFill>
            <a:ln>
              <a:noFill/>
            </a:ln>
          </p:spPr>
        </p:sp>
        <p:sp>
          <p:nvSpPr>
            <p:cNvPr id="429" name="Google Shape;429;p8"/>
            <p:cNvSpPr txBox="1"/>
            <p:nvPr/>
          </p:nvSpPr>
          <p:spPr>
            <a:xfrm>
              <a:off x="0" y="0"/>
              <a:ext cx="9151150" cy="512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You need model-weight access</a:t>
              </a:r>
              <a:endParaRPr/>
            </a:p>
          </p:txBody>
        </p:sp>
      </p:grpSp>
      <p:sp>
        <p:nvSpPr>
          <p:cNvPr id="430" name="Google Shape;430;p8"/>
          <p:cNvSpPr/>
          <p:nvPr/>
        </p:nvSpPr>
        <p:spPr>
          <a:xfrm>
            <a:off x="1431769" y="3902583"/>
            <a:ext cx="128968" cy="128968"/>
          </a:xfrm>
          <a:custGeom>
            <a:rect b="b" l="l" r="r" t="t"/>
            <a:pathLst>
              <a:path extrusionOk="0" h="171958" w="171958">
                <a:moveTo>
                  <a:pt x="0" y="85979"/>
                </a:moveTo>
                <a:cubicBezTo>
                  <a:pt x="0" y="38481"/>
                  <a:pt x="38481" y="0"/>
                  <a:pt x="85979" y="0"/>
                </a:cubicBezTo>
                <a:cubicBezTo>
                  <a:pt x="133477" y="0"/>
                  <a:pt x="171958" y="38481"/>
                  <a:pt x="171958" y="85979"/>
                </a:cubicBezTo>
                <a:cubicBezTo>
                  <a:pt x="171958" y="133477"/>
                  <a:pt x="133477" y="171958"/>
                  <a:pt x="85979" y="171958"/>
                </a:cubicBezTo>
                <a:cubicBezTo>
                  <a:pt x="38481" y="171958"/>
                  <a:pt x="0" y="133350"/>
                  <a:pt x="0" y="85979"/>
                </a:cubicBezTo>
                <a:close/>
              </a:path>
            </a:pathLst>
          </a:custGeom>
          <a:solidFill>
            <a:srgbClr val="FFC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1" name="Google Shape;431;p8"/>
          <p:cNvGrpSpPr/>
          <p:nvPr/>
        </p:nvGrpSpPr>
        <p:grpSpPr>
          <a:xfrm>
            <a:off x="1688382" y="3802304"/>
            <a:ext cx="6863363" cy="384353"/>
            <a:chOff x="0" y="0"/>
            <a:chExt cx="9151150" cy="512470"/>
          </a:xfrm>
        </p:grpSpPr>
        <p:sp>
          <p:nvSpPr>
            <p:cNvPr id="432" name="Google Shape;432;p8"/>
            <p:cNvSpPr/>
            <p:nvPr/>
          </p:nvSpPr>
          <p:spPr>
            <a:xfrm>
              <a:off x="0" y="0"/>
              <a:ext cx="9151149" cy="512464"/>
            </a:xfrm>
            <a:custGeom>
              <a:rect b="b" l="l" r="r" t="t"/>
              <a:pathLst>
                <a:path extrusionOk="0" h="512464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12464"/>
                  </a:lnTo>
                  <a:lnTo>
                    <a:pt x="0" y="5124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7947" l="0" r="0" t="-297947"/>
              </a:stretch>
            </a:blipFill>
            <a:ln>
              <a:noFill/>
            </a:ln>
          </p:spPr>
        </p:sp>
        <p:sp>
          <p:nvSpPr>
            <p:cNvPr id="433" name="Google Shape;433;p8"/>
            <p:cNvSpPr txBox="1"/>
            <p:nvPr/>
          </p:nvSpPr>
          <p:spPr>
            <a:xfrm>
              <a:off x="0" y="0"/>
              <a:ext cx="9151150" cy="512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Privacy or offline use matters</a:t>
              </a:r>
              <a:endParaRPr/>
            </a:p>
          </p:txBody>
        </p:sp>
      </p:grpSp>
      <p:sp>
        <p:nvSpPr>
          <p:cNvPr id="434" name="Google Shape;434;p8"/>
          <p:cNvSpPr/>
          <p:nvPr/>
        </p:nvSpPr>
        <p:spPr>
          <a:xfrm>
            <a:off x="1431769" y="4657554"/>
            <a:ext cx="128968" cy="128968"/>
          </a:xfrm>
          <a:custGeom>
            <a:rect b="b" l="l" r="r" t="t"/>
            <a:pathLst>
              <a:path extrusionOk="0" h="171958" w="171958">
                <a:moveTo>
                  <a:pt x="0" y="85979"/>
                </a:moveTo>
                <a:cubicBezTo>
                  <a:pt x="0" y="38481"/>
                  <a:pt x="38481" y="0"/>
                  <a:pt x="85979" y="0"/>
                </a:cubicBezTo>
                <a:cubicBezTo>
                  <a:pt x="133477" y="0"/>
                  <a:pt x="171958" y="38481"/>
                  <a:pt x="171958" y="85979"/>
                </a:cubicBezTo>
                <a:cubicBezTo>
                  <a:pt x="171958" y="133477"/>
                  <a:pt x="133477" y="171958"/>
                  <a:pt x="85979" y="171958"/>
                </a:cubicBezTo>
                <a:cubicBezTo>
                  <a:pt x="38481" y="171958"/>
                  <a:pt x="0" y="133350"/>
                  <a:pt x="0" y="85979"/>
                </a:cubicBezTo>
                <a:close/>
              </a:path>
            </a:pathLst>
          </a:custGeom>
          <a:solidFill>
            <a:srgbClr val="FFC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5" name="Google Shape;435;p8"/>
          <p:cNvGrpSpPr/>
          <p:nvPr/>
        </p:nvGrpSpPr>
        <p:grpSpPr>
          <a:xfrm>
            <a:off x="1688382" y="4557274"/>
            <a:ext cx="6863363" cy="384353"/>
            <a:chOff x="0" y="0"/>
            <a:chExt cx="9151150" cy="512470"/>
          </a:xfrm>
        </p:grpSpPr>
        <p:sp>
          <p:nvSpPr>
            <p:cNvPr id="436" name="Google Shape;436;p8"/>
            <p:cNvSpPr/>
            <p:nvPr/>
          </p:nvSpPr>
          <p:spPr>
            <a:xfrm>
              <a:off x="0" y="0"/>
              <a:ext cx="9151149" cy="512464"/>
            </a:xfrm>
            <a:custGeom>
              <a:rect b="b" l="l" r="r" t="t"/>
              <a:pathLst>
                <a:path extrusionOk="0" h="512464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12464"/>
                  </a:lnTo>
                  <a:lnTo>
                    <a:pt x="0" y="5124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7947" l="0" r="0" t="-297947"/>
              </a:stretch>
            </a:blipFill>
            <a:ln>
              <a:noFill/>
            </a:ln>
          </p:spPr>
        </p:sp>
        <p:sp>
          <p:nvSpPr>
            <p:cNvPr id="437" name="Google Shape;437;p8"/>
            <p:cNvSpPr txBox="1"/>
            <p:nvPr/>
          </p:nvSpPr>
          <p:spPr>
            <a:xfrm>
              <a:off x="0" y="0"/>
              <a:ext cx="9151150" cy="512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You want to test many model families</a:t>
              </a:r>
              <a:endParaRPr/>
            </a:p>
          </p:txBody>
        </p:sp>
      </p:grpSp>
      <p:sp>
        <p:nvSpPr>
          <p:cNvPr id="438" name="Google Shape;438;p8"/>
          <p:cNvSpPr/>
          <p:nvPr/>
        </p:nvSpPr>
        <p:spPr>
          <a:xfrm>
            <a:off x="1431769" y="5412524"/>
            <a:ext cx="128968" cy="128968"/>
          </a:xfrm>
          <a:custGeom>
            <a:rect b="b" l="l" r="r" t="t"/>
            <a:pathLst>
              <a:path extrusionOk="0" h="171958" w="171958">
                <a:moveTo>
                  <a:pt x="0" y="85979"/>
                </a:moveTo>
                <a:cubicBezTo>
                  <a:pt x="0" y="38481"/>
                  <a:pt x="38481" y="0"/>
                  <a:pt x="85979" y="0"/>
                </a:cubicBezTo>
                <a:cubicBezTo>
                  <a:pt x="133477" y="0"/>
                  <a:pt x="171958" y="38481"/>
                  <a:pt x="171958" y="85979"/>
                </a:cubicBezTo>
                <a:cubicBezTo>
                  <a:pt x="171958" y="133477"/>
                  <a:pt x="133477" y="171958"/>
                  <a:pt x="85979" y="171958"/>
                </a:cubicBezTo>
                <a:cubicBezTo>
                  <a:pt x="38481" y="171958"/>
                  <a:pt x="0" y="133350"/>
                  <a:pt x="0" y="85979"/>
                </a:cubicBezTo>
                <a:close/>
              </a:path>
            </a:pathLst>
          </a:custGeom>
          <a:solidFill>
            <a:srgbClr val="FFCC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9" name="Google Shape;439;p8"/>
          <p:cNvGrpSpPr/>
          <p:nvPr/>
        </p:nvGrpSpPr>
        <p:grpSpPr>
          <a:xfrm>
            <a:off x="1688382" y="5312245"/>
            <a:ext cx="6863363" cy="384353"/>
            <a:chOff x="0" y="0"/>
            <a:chExt cx="9151150" cy="512470"/>
          </a:xfrm>
        </p:grpSpPr>
        <p:sp>
          <p:nvSpPr>
            <p:cNvPr id="440" name="Google Shape;440;p8"/>
            <p:cNvSpPr/>
            <p:nvPr/>
          </p:nvSpPr>
          <p:spPr>
            <a:xfrm>
              <a:off x="0" y="0"/>
              <a:ext cx="9151149" cy="512464"/>
            </a:xfrm>
            <a:custGeom>
              <a:rect b="b" l="l" r="r" t="t"/>
              <a:pathLst>
                <a:path extrusionOk="0" h="512464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512464"/>
                  </a:lnTo>
                  <a:lnTo>
                    <a:pt x="0" y="5124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97947" l="0" r="0" t="-297947"/>
              </a:stretch>
            </a:blipFill>
            <a:ln>
              <a:noFill/>
            </a:ln>
          </p:spPr>
        </p:sp>
        <p:sp>
          <p:nvSpPr>
            <p:cNvPr id="441" name="Google Shape;441;p8"/>
            <p:cNvSpPr txBox="1"/>
            <p:nvPr/>
          </p:nvSpPr>
          <p:spPr>
            <a:xfrm>
              <a:off x="0" y="0"/>
              <a:ext cx="9151150" cy="512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Your team can manage compute</a:t>
              </a:r>
              <a:endParaRPr/>
            </a:p>
          </p:txBody>
        </p:sp>
      </p:grpSp>
      <p:grpSp>
        <p:nvGrpSpPr>
          <p:cNvPr id="442" name="Google Shape;442;p8"/>
          <p:cNvGrpSpPr/>
          <p:nvPr/>
        </p:nvGrpSpPr>
        <p:grpSpPr>
          <a:xfrm>
            <a:off x="9608706" y="2127647"/>
            <a:ext cx="5765225" cy="439256"/>
            <a:chOff x="0" y="0"/>
            <a:chExt cx="7686967" cy="585674"/>
          </a:xfrm>
        </p:grpSpPr>
        <p:sp>
          <p:nvSpPr>
            <p:cNvPr id="443" name="Google Shape;443;p8"/>
            <p:cNvSpPr/>
            <p:nvPr/>
          </p:nvSpPr>
          <p:spPr>
            <a:xfrm>
              <a:off x="0" y="0"/>
              <a:ext cx="7686966" cy="585674"/>
            </a:xfrm>
            <a:custGeom>
              <a:rect b="b" l="l" r="r" t="t"/>
              <a:pathLst>
                <a:path extrusionOk="0" h="585674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5728" l="0" r="0" t="-205728"/>
              </a:stretch>
            </a:blipFill>
            <a:ln>
              <a:noFill/>
            </a:ln>
          </p:spPr>
        </p:sp>
        <p:sp>
          <p:nvSpPr>
            <p:cNvPr id="444" name="Google Shape;444;p8"/>
            <p:cNvSpPr txBox="1"/>
            <p:nvPr/>
          </p:nvSpPr>
          <p:spPr>
            <a:xfrm>
              <a:off x="0" y="0"/>
              <a:ext cx="7686967" cy="5856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52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Choose OpenAI when…</a:t>
              </a:r>
              <a:endParaRPr/>
            </a:p>
          </p:txBody>
        </p:sp>
      </p:grpSp>
      <p:sp>
        <p:nvSpPr>
          <p:cNvPr id="445" name="Google Shape;445;p8"/>
          <p:cNvSpPr/>
          <p:nvPr/>
        </p:nvSpPr>
        <p:spPr>
          <a:xfrm>
            <a:off x="9667808" y="3147612"/>
            <a:ext cx="128968" cy="128969"/>
          </a:xfrm>
          <a:custGeom>
            <a:rect b="b" l="l" r="r" t="t"/>
            <a:pathLst>
              <a:path extrusionOk="0" h="171958" w="171958">
                <a:moveTo>
                  <a:pt x="0" y="85979"/>
                </a:moveTo>
                <a:cubicBezTo>
                  <a:pt x="0" y="38481"/>
                  <a:pt x="38481" y="0"/>
                  <a:pt x="85979" y="0"/>
                </a:cubicBezTo>
                <a:cubicBezTo>
                  <a:pt x="133477" y="0"/>
                  <a:pt x="171958" y="38481"/>
                  <a:pt x="171958" y="85979"/>
                </a:cubicBezTo>
                <a:cubicBezTo>
                  <a:pt x="171958" y="133477"/>
                  <a:pt x="133477" y="171958"/>
                  <a:pt x="85979" y="171958"/>
                </a:cubicBezTo>
                <a:cubicBezTo>
                  <a:pt x="38481" y="171958"/>
                  <a:pt x="0" y="133350"/>
                  <a:pt x="0" y="85979"/>
                </a:cubicBezTo>
                <a:close/>
              </a:path>
            </a:pathLst>
          </a:custGeom>
          <a:solidFill>
            <a:srgbClr val="10A3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6" name="Google Shape;446;p8"/>
          <p:cNvGrpSpPr/>
          <p:nvPr/>
        </p:nvGrpSpPr>
        <p:grpSpPr>
          <a:xfrm>
            <a:off x="9924421" y="3047333"/>
            <a:ext cx="7000628" cy="384353"/>
            <a:chOff x="0" y="0"/>
            <a:chExt cx="9334172" cy="512470"/>
          </a:xfrm>
        </p:grpSpPr>
        <p:sp>
          <p:nvSpPr>
            <p:cNvPr id="447" name="Google Shape;447;p8"/>
            <p:cNvSpPr/>
            <p:nvPr/>
          </p:nvSpPr>
          <p:spPr>
            <a:xfrm>
              <a:off x="0" y="0"/>
              <a:ext cx="9334172" cy="512464"/>
            </a:xfrm>
            <a:custGeom>
              <a:rect b="b" l="l" r="r" t="t"/>
              <a:pathLst>
                <a:path extrusionOk="0" h="512464" w="9334172">
                  <a:moveTo>
                    <a:pt x="0" y="0"/>
                  </a:moveTo>
                  <a:lnTo>
                    <a:pt x="9334172" y="0"/>
                  </a:lnTo>
                  <a:lnTo>
                    <a:pt x="9334172" y="512464"/>
                  </a:lnTo>
                  <a:lnTo>
                    <a:pt x="0" y="5124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04912" l="0" r="0" t="-304912"/>
              </a:stretch>
            </a:blipFill>
            <a:ln>
              <a:noFill/>
            </a:ln>
          </p:spPr>
        </p:sp>
        <p:sp>
          <p:nvSpPr>
            <p:cNvPr id="448" name="Google Shape;448;p8"/>
            <p:cNvSpPr txBox="1"/>
            <p:nvPr/>
          </p:nvSpPr>
          <p:spPr>
            <a:xfrm>
              <a:off x="0" y="0"/>
              <a:ext cx="9334170" cy="512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You need the fastest path to a good app</a:t>
              </a:r>
              <a:endParaRPr/>
            </a:p>
          </p:txBody>
        </p:sp>
      </p:grpSp>
      <p:sp>
        <p:nvSpPr>
          <p:cNvPr id="449" name="Google Shape;449;p8"/>
          <p:cNvSpPr/>
          <p:nvPr/>
        </p:nvSpPr>
        <p:spPr>
          <a:xfrm>
            <a:off x="9667808" y="3902583"/>
            <a:ext cx="128968" cy="128968"/>
          </a:xfrm>
          <a:custGeom>
            <a:rect b="b" l="l" r="r" t="t"/>
            <a:pathLst>
              <a:path extrusionOk="0" h="171958" w="171958">
                <a:moveTo>
                  <a:pt x="0" y="85979"/>
                </a:moveTo>
                <a:cubicBezTo>
                  <a:pt x="0" y="38481"/>
                  <a:pt x="38481" y="0"/>
                  <a:pt x="85979" y="0"/>
                </a:cubicBezTo>
                <a:cubicBezTo>
                  <a:pt x="133477" y="0"/>
                  <a:pt x="171958" y="38481"/>
                  <a:pt x="171958" y="85979"/>
                </a:cubicBezTo>
                <a:cubicBezTo>
                  <a:pt x="171958" y="133477"/>
                  <a:pt x="133477" y="171958"/>
                  <a:pt x="85979" y="171958"/>
                </a:cubicBezTo>
                <a:cubicBezTo>
                  <a:pt x="38481" y="171958"/>
                  <a:pt x="0" y="133350"/>
                  <a:pt x="0" y="85979"/>
                </a:cubicBezTo>
                <a:close/>
              </a:path>
            </a:pathLst>
          </a:custGeom>
          <a:solidFill>
            <a:srgbClr val="10A3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0" name="Google Shape;450;p8"/>
          <p:cNvGrpSpPr/>
          <p:nvPr/>
        </p:nvGrpSpPr>
        <p:grpSpPr>
          <a:xfrm>
            <a:off x="9924421" y="3802304"/>
            <a:ext cx="7000628" cy="384353"/>
            <a:chOff x="0" y="0"/>
            <a:chExt cx="9334172" cy="512470"/>
          </a:xfrm>
        </p:grpSpPr>
        <p:sp>
          <p:nvSpPr>
            <p:cNvPr id="451" name="Google Shape;451;p8"/>
            <p:cNvSpPr/>
            <p:nvPr/>
          </p:nvSpPr>
          <p:spPr>
            <a:xfrm>
              <a:off x="0" y="0"/>
              <a:ext cx="9334172" cy="512464"/>
            </a:xfrm>
            <a:custGeom>
              <a:rect b="b" l="l" r="r" t="t"/>
              <a:pathLst>
                <a:path extrusionOk="0" h="512464" w="9334172">
                  <a:moveTo>
                    <a:pt x="0" y="0"/>
                  </a:moveTo>
                  <a:lnTo>
                    <a:pt x="9334172" y="0"/>
                  </a:lnTo>
                  <a:lnTo>
                    <a:pt x="9334172" y="512464"/>
                  </a:lnTo>
                  <a:lnTo>
                    <a:pt x="0" y="5124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04912" l="0" r="0" t="-304912"/>
              </a:stretch>
            </a:blipFill>
            <a:ln>
              <a:noFill/>
            </a:ln>
          </p:spPr>
        </p:sp>
        <p:sp>
          <p:nvSpPr>
            <p:cNvPr id="452" name="Google Shape;452;p8"/>
            <p:cNvSpPr txBox="1"/>
            <p:nvPr/>
          </p:nvSpPr>
          <p:spPr>
            <a:xfrm>
              <a:off x="0" y="0"/>
              <a:ext cx="9334170" cy="512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Managed scaling is valuable</a:t>
              </a:r>
              <a:endParaRPr/>
            </a:p>
          </p:txBody>
        </p:sp>
      </p:grpSp>
      <p:sp>
        <p:nvSpPr>
          <p:cNvPr id="453" name="Google Shape;453;p8"/>
          <p:cNvSpPr/>
          <p:nvPr/>
        </p:nvSpPr>
        <p:spPr>
          <a:xfrm>
            <a:off x="9667808" y="4657554"/>
            <a:ext cx="128968" cy="128968"/>
          </a:xfrm>
          <a:custGeom>
            <a:rect b="b" l="l" r="r" t="t"/>
            <a:pathLst>
              <a:path extrusionOk="0" h="171958" w="171958">
                <a:moveTo>
                  <a:pt x="0" y="85979"/>
                </a:moveTo>
                <a:cubicBezTo>
                  <a:pt x="0" y="38481"/>
                  <a:pt x="38481" y="0"/>
                  <a:pt x="85979" y="0"/>
                </a:cubicBezTo>
                <a:cubicBezTo>
                  <a:pt x="133477" y="0"/>
                  <a:pt x="171958" y="38481"/>
                  <a:pt x="171958" y="85979"/>
                </a:cubicBezTo>
                <a:cubicBezTo>
                  <a:pt x="171958" y="133477"/>
                  <a:pt x="133477" y="171958"/>
                  <a:pt x="85979" y="171958"/>
                </a:cubicBezTo>
                <a:cubicBezTo>
                  <a:pt x="38481" y="171958"/>
                  <a:pt x="0" y="133350"/>
                  <a:pt x="0" y="85979"/>
                </a:cubicBezTo>
                <a:close/>
              </a:path>
            </a:pathLst>
          </a:custGeom>
          <a:solidFill>
            <a:srgbClr val="10A3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4" name="Google Shape;454;p8"/>
          <p:cNvGrpSpPr/>
          <p:nvPr/>
        </p:nvGrpSpPr>
        <p:grpSpPr>
          <a:xfrm>
            <a:off x="9924421" y="4557274"/>
            <a:ext cx="7000628" cy="384353"/>
            <a:chOff x="0" y="0"/>
            <a:chExt cx="9334172" cy="512470"/>
          </a:xfrm>
        </p:grpSpPr>
        <p:sp>
          <p:nvSpPr>
            <p:cNvPr id="455" name="Google Shape;455;p8"/>
            <p:cNvSpPr/>
            <p:nvPr/>
          </p:nvSpPr>
          <p:spPr>
            <a:xfrm>
              <a:off x="0" y="0"/>
              <a:ext cx="9334172" cy="512464"/>
            </a:xfrm>
            <a:custGeom>
              <a:rect b="b" l="l" r="r" t="t"/>
              <a:pathLst>
                <a:path extrusionOk="0" h="512464" w="9334172">
                  <a:moveTo>
                    <a:pt x="0" y="0"/>
                  </a:moveTo>
                  <a:lnTo>
                    <a:pt x="9334172" y="0"/>
                  </a:lnTo>
                  <a:lnTo>
                    <a:pt x="9334172" y="512464"/>
                  </a:lnTo>
                  <a:lnTo>
                    <a:pt x="0" y="5124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04912" l="0" r="0" t="-304912"/>
              </a:stretch>
            </a:blipFill>
            <a:ln>
              <a:noFill/>
            </a:ln>
          </p:spPr>
        </p:sp>
        <p:sp>
          <p:nvSpPr>
            <p:cNvPr id="456" name="Google Shape;456;p8"/>
            <p:cNvSpPr txBox="1"/>
            <p:nvPr/>
          </p:nvSpPr>
          <p:spPr>
            <a:xfrm>
              <a:off x="0" y="0"/>
              <a:ext cx="9334170" cy="512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API access is easier than hosting</a:t>
              </a:r>
              <a:endParaRPr/>
            </a:p>
          </p:txBody>
        </p:sp>
      </p:grpSp>
      <p:sp>
        <p:nvSpPr>
          <p:cNvPr id="457" name="Google Shape;457;p8"/>
          <p:cNvSpPr/>
          <p:nvPr/>
        </p:nvSpPr>
        <p:spPr>
          <a:xfrm>
            <a:off x="9667808" y="5412524"/>
            <a:ext cx="128968" cy="128968"/>
          </a:xfrm>
          <a:custGeom>
            <a:rect b="b" l="l" r="r" t="t"/>
            <a:pathLst>
              <a:path extrusionOk="0" h="171958" w="171958">
                <a:moveTo>
                  <a:pt x="0" y="85979"/>
                </a:moveTo>
                <a:cubicBezTo>
                  <a:pt x="0" y="38481"/>
                  <a:pt x="38481" y="0"/>
                  <a:pt x="85979" y="0"/>
                </a:cubicBezTo>
                <a:cubicBezTo>
                  <a:pt x="133477" y="0"/>
                  <a:pt x="171958" y="38481"/>
                  <a:pt x="171958" y="85979"/>
                </a:cubicBezTo>
                <a:cubicBezTo>
                  <a:pt x="171958" y="133477"/>
                  <a:pt x="133477" y="171958"/>
                  <a:pt x="85979" y="171958"/>
                </a:cubicBezTo>
                <a:cubicBezTo>
                  <a:pt x="38481" y="171958"/>
                  <a:pt x="0" y="133350"/>
                  <a:pt x="0" y="85979"/>
                </a:cubicBezTo>
                <a:close/>
              </a:path>
            </a:pathLst>
          </a:custGeom>
          <a:solidFill>
            <a:srgbClr val="10A3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8" name="Google Shape;458;p8"/>
          <p:cNvGrpSpPr/>
          <p:nvPr/>
        </p:nvGrpSpPr>
        <p:grpSpPr>
          <a:xfrm>
            <a:off x="9924421" y="5312245"/>
            <a:ext cx="7000628" cy="384353"/>
            <a:chOff x="0" y="0"/>
            <a:chExt cx="9334172" cy="512470"/>
          </a:xfrm>
        </p:grpSpPr>
        <p:sp>
          <p:nvSpPr>
            <p:cNvPr id="459" name="Google Shape;459;p8"/>
            <p:cNvSpPr/>
            <p:nvPr/>
          </p:nvSpPr>
          <p:spPr>
            <a:xfrm>
              <a:off x="0" y="0"/>
              <a:ext cx="9334172" cy="512464"/>
            </a:xfrm>
            <a:custGeom>
              <a:rect b="b" l="l" r="r" t="t"/>
              <a:pathLst>
                <a:path extrusionOk="0" h="512464" w="9334172">
                  <a:moveTo>
                    <a:pt x="0" y="0"/>
                  </a:moveTo>
                  <a:lnTo>
                    <a:pt x="9334172" y="0"/>
                  </a:lnTo>
                  <a:lnTo>
                    <a:pt x="9334172" y="512464"/>
                  </a:lnTo>
                  <a:lnTo>
                    <a:pt x="0" y="5124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04912" l="0" r="0" t="-304912"/>
              </a:stretch>
            </a:blipFill>
            <a:ln>
              <a:noFill/>
            </a:ln>
          </p:spPr>
        </p:sp>
        <p:sp>
          <p:nvSpPr>
            <p:cNvPr id="460" name="Google Shape;460;p8"/>
            <p:cNvSpPr txBox="1"/>
            <p:nvPr/>
          </p:nvSpPr>
          <p:spPr>
            <a:xfrm>
              <a:off x="0" y="0"/>
              <a:ext cx="9334170" cy="512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Multimodal or agentic workflows matter</a:t>
              </a:r>
              <a:endParaRPr/>
            </a:p>
          </p:txBody>
        </p:sp>
      </p:grpSp>
      <p:grpSp>
        <p:nvGrpSpPr>
          <p:cNvPr id="461" name="Google Shape;461;p8"/>
          <p:cNvGrpSpPr/>
          <p:nvPr/>
        </p:nvGrpSpPr>
        <p:grpSpPr>
          <a:xfrm>
            <a:off x="3363049" y="8030137"/>
            <a:ext cx="12079519" cy="576549"/>
            <a:chOff x="0" y="0"/>
            <a:chExt cx="16106026" cy="768731"/>
          </a:xfrm>
        </p:grpSpPr>
        <p:sp>
          <p:nvSpPr>
            <p:cNvPr id="462" name="Google Shape;462;p8"/>
            <p:cNvSpPr/>
            <p:nvPr/>
          </p:nvSpPr>
          <p:spPr>
            <a:xfrm>
              <a:off x="0" y="0"/>
              <a:ext cx="16106012" cy="768731"/>
            </a:xfrm>
            <a:custGeom>
              <a:rect b="b" l="l" r="r" t="t"/>
              <a:pathLst>
                <a:path extrusionOk="0" h="768731" w="16106012">
                  <a:moveTo>
                    <a:pt x="0" y="0"/>
                  </a:moveTo>
                  <a:lnTo>
                    <a:pt x="16106012" y="0"/>
                  </a:lnTo>
                  <a:lnTo>
                    <a:pt x="16106012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</p:sp>
        <p:sp>
          <p:nvSpPr>
            <p:cNvPr id="463" name="Google Shape;463;p8"/>
            <p:cNvSpPr txBox="1"/>
            <p:nvPr/>
          </p:nvSpPr>
          <p:spPr>
            <a:xfrm>
              <a:off x="0" y="0"/>
              <a:ext cx="16106026" cy="768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76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Many real projects use both: open models for control + hosted models for hardest tasks.</a:t>
              </a:r>
              <a:endParaRPr/>
            </a:p>
          </p:txBody>
        </p:sp>
      </p:grpSp>
      <p:grpSp>
        <p:nvGrpSpPr>
          <p:cNvPr id="464" name="Google Shape;464;p8"/>
          <p:cNvGrpSpPr/>
          <p:nvPr/>
        </p:nvGrpSpPr>
        <p:grpSpPr>
          <a:xfrm>
            <a:off x="16952500" y="9629013"/>
            <a:ext cx="343168" cy="309134"/>
            <a:chOff x="0" y="-9525"/>
            <a:chExt cx="457557" cy="412179"/>
          </a:xfrm>
        </p:grpSpPr>
        <p:sp>
          <p:nvSpPr>
            <p:cNvPr id="465" name="Google Shape;465;p8"/>
            <p:cNvSpPr/>
            <p:nvPr/>
          </p:nvSpPr>
          <p:spPr>
            <a:xfrm>
              <a:off x="0" y="0"/>
              <a:ext cx="457557" cy="402651"/>
            </a:xfrm>
            <a:custGeom>
              <a:rect b="b" l="l" r="r" t="t"/>
              <a:pathLst>
                <a:path extrusionOk="0" h="402651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02651"/>
                  </a:lnTo>
                  <a:lnTo>
                    <a:pt x="0" y="40265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62908" r="-62908" t="0"/>
              </a:stretch>
            </a:blipFill>
            <a:ln>
              <a:noFill/>
            </a:ln>
          </p:spPr>
        </p:sp>
        <p:sp>
          <p:nvSpPr>
            <p:cNvPr id="466" name="Google Shape;466;p8"/>
            <p:cNvSpPr txBox="1"/>
            <p:nvPr/>
          </p:nvSpPr>
          <p:spPr>
            <a:xfrm>
              <a:off x="0" y="-9525"/>
              <a:ext cx="457556" cy="412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5" u="none" cap="none" strike="noStrike">
                  <a:solidFill>
                    <a:srgbClr val="778195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</p:grpSp>
      <p:sp>
        <p:nvSpPr>
          <p:cNvPr id="467" name="Google Shape;467;p8"/>
          <p:cNvSpPr txBox="1"/>
          <p:nvPr/>
        </p:nvSpPr>
        <p:spPr>
          <a:xfrm>
            <a:off x="587573" y="9422797"/>
            <a:ext cx="5699270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Names : Emmanuel ABABIO, Robert Thompson, Olis Bahari</a:t>
            </a:r>
            <a:endParaRPr/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B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9"/>
          <p:cNvSpPr/>
          <p:nvPr/>
        </p:nvSpPr>
        <p:spPr>
          <a:xfrm>
            <a:off x="196367" y="196367"/>
            <a:ext cx="540639" cy="540639"/>
          </a:xfrm>
          <a:custGeom>
            <a:rect b="b" l="l" r="r" t="t"/>
            <a:pathLst>
              <a:path extrusionOk="0" h="720852" w="720852">
                <a:moveTo>
                  <a:pt x="0" y="0"/>
                </a:moveTo>
                <a:lnTo>
                  <a:pt x="720852" y="0"/>
                </a:lnTo>
                <a:lnTo>
                  <a:pt x="720852" y="720852"/>
                </a:lnTo>
                <a:lnTo>
                  <a:pt x="0" y="720852"/>
                </a:lnTo>
                <a:close/>
              </a:path>
            </a:pathLst>
          </a:custGeom>
          <a:solidFill>
            <a:srgbClr val="FFF2B8">
              <a:alpha val="35686"/>
            </a:srgbClr>
          </a:solidFill>
          <a:ln>
            <a:noFill/>
          </a:ln>
        </p:spPr>
      </p:sp>
      <p:sp>
        <p:nvSpPr>
          <p:cNvPr id="473" name="Google Shape;473;p9"/>
          <p:cNvSpPr/>
          <p:nvPr/>
        </p:nvSpPr>
        <p:spPr>
          <a:xfrm>
            <a:off x="17354769" y="9530544"/>
            <a:ext cx="499491" cy="499491"/>
          </a:xfrm>
          <a:custGeom>
            <a:rect b="b" l="l" r="r" t="t"/>
            <a:pathLst>
              <a:path extrusionOk="0" h="665988" w="665988">
                <a:moveTo>
                  <a:pt x="0" y="0"/>
                </a:moveTo>
                <a:lnTo>
                  <a:pt x="665988" y="0"/>
                </a:lnTo>
                <a:lnTo>
                  <a:pt x="665988" y="665988"/>
                </a:lnTo>
                <a:lnTo>
                  <a:pt x="0" y="665988"/>
                </a:lnTo>
                <a:close/>
              </a:path>
            </a:pathLst>
          </a:custGeom>
          <a:solidFill>
            <a:srgbClr val="DFF7EF">
              <a:alpha val="35686"/>
            </a:srgbClr>
          </a:solidFill>
          <a:ln>
            <a:noFill/>
          </a:ln>
        </p:spPr>
      </p:sp>
      <p:grpSp>
        <p:nvGrpSpPr>
          <p:cNvPr id="474" name="Google Shape;474;p9"/>
          <p:cNvGrpSpPr/>
          <p:nvPr/>
        </p:nvGrpSpPr>
        <p:grpSpPr>
          <a:xfrm>
            <a:off x="892235" y="521618"/>
            <a:ext cx="13040392" cy="576523"/>
            <a:chOff x="0" y="0"/>
            <a:chExt cx="17387189" cy="768697"/>
          </a:xfrm>
        </p:grpSpPr>
        <p:sp>
          <p:nvSpPr>
            <p:cNvPr id="475" name="Google Shape;475;p9"/>
            <p:cNvSpPr/>
            <p:nvPr/>
          </p:nvSpPr>
          <p:spPr>
            <a:xfrm>
              <a:off x="0" y="0"/>
              <a:ext cx="17387184" cy="768697"/>
            </a:xfrm>
            <a:custGeom>
              <a:rect b="b" l="l" r="r" t="t"/>
              <a:pathLst>
                <a:path extrusionOk="0" h="768697" w="17387184">
                  <a:moveTo>
                    <a:pt x="0" y="0"/>
                  </a:moveTo>
                  <a:lnTo>
                    <a:pt x="17387184" y="0"/>
                  </a:lnTo>
                  <a:lnTo>
                    <a:pt x="17387184" y="768697"/>
                  </a:lnTo>
                  <a:lnTo>
                    <a:pt x="0" y="76869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0761" l="0" r="0" t="-390761"/>
              </a:stretch>
            </a:blipFill>
            <a:ln>
              <a:noFill/>
            </a:ln>
          </p:spPr>
        </p:sp>
        <p:sp>
          <p:nvSpPr>
            <p:cNvPr id="476" name="Google Shape;476;p9"/>
            <p:cNvSpPr txBox="1"/>
            <p:nvPr/>
          </p:nvSpPr>
          <p:spPr>
            <a:xfrm>
              <a:off x="0" y="0"/>
              <a:ext cx="17387189" cy="768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03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Real-world application examples</a:t>
              </a:r>
              <a:endParaRPr/>
            </a:p>
          </p:txBody>
        </p:sp>
      </p:grpSp>
      <p:grpSp>
        <p:nvGrpSpPr>
          <p:cNvPr id="477" name="Google Shape;477;p9"/>
          <p:cNvGrpSpPr/>
          <p:nvPr/>
        </p:nvGrpSpPr>
        <p:grpSpPr>
          <a:xfrm>
            <a:off x="905961" y="1194225"/>
            <a:ext cx="14275794" cy="411804"/>
            <a:chOff x="0" y="0"/>
            <a:chExt cx="19034392" cy="549072"/>
          </a:xfrm>
        </p:grpSpPr>
        <p:sp>
          <p:nvSpPr>
            <p:cNvPr id="478" name="Google Shape;478;p9"/>
            <p:cNvSpPr/>
            <p:nvPr/>
          </p:nvSpPr>
          <p:spPr>
            <a:xfrm>
              <a:off x="0" y="0"/>
              <a:ext cx="19034390" cy="549069"/>
            </a:xfrm>
            <a:custGeom>
              <a:rect b="b" l="l" r="r" t="t"/>
              <a:pathLst>
                <a:path extrusionOk="0" h="549069" w="19034390">
                  <a:moveTo>
                    <a:pt x="0" y="0"/>
                  </a:moveTo>
                  <a:lnTo>
                    <a:pt x="19034390" y="0"/>
                  </a:lnTo>
                  <a:lnTo>
                    <a:pt x="19034390" y="549069"/>
                  </a:lnTo>
                  <a:lnTo>
                    <a:pt x="0" y="54906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25493" l="0" r="0" t="-625493"/>
              </a:stretch>
            </a:blipFill>
            <a:ln>
              <a:noFill/>
            </a:ln>
          </p:spPr>
        </p:sp>
        <p:sp>
          <p:nvSpPr>
            <p:cNvPr id="479" name="Google Shape;479;p9"/>
            <p:cNvSpPr txBox="1"/>
            <p:nvPr/>
          </p:nvSpPr>
          <p:spPr>
            <a:xfrm>
              <a:off x="0" y="0"/>
              <a:ext cx="19034392" cy="549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6" u="none" cap="none" strike="noStrike">
                  <a:solidFill>
                    <a:srgbClr val="586174"/>
                  </a:solidFill>
                  <a:latin typeface="Arial"/>
                  <a:ea typeface="Arial"/>
                  <a:cs typeface="Arial"/>
                  <a:sym typeface="Arial"/>
                </a:rPr>
                <a:t>Both platforms are used in production, but often for different reasons.</a:t>
              </a:r>
              <a:endParaRPr/>
            </a:p>
          </p:txBody>
        </p:sp>
      </p:grpSp>
      <p:grpSp>
        <p:nvGrpSpPr>
          <p:cNvPr id="480" name="Google Shape;480;p9"/>
          <p:cNvGrpSpPr/>
          <p:nvPr/>
        </p:nvGrpSpPr>
        <p:grpSpPr>
          <a:xfrm>
            <a:off x="1235402" y="2264912"/>
            <a:ext cx="6794753" cy="1853108"/>
            <a:chOff x="0" y="0"/>
            <a:chExt cx="9059672" cy="2470810"/>
          </a:xfrm>
        </p:grpSpPr>
        <p:sp>
          <p:nvSpPr>
            <p:cNvPr id="481" name="Google Shape;481;p9"/>
            <p:cNvSpPr/>
            <p:nvPr/>
          </p:nvSpPr>
          <p:spPr>
            <a:xfrm>
              <a:off x="0" y="0"/>
              <a:ext cx="9059672" cy="2470785"/>
            </a:xfrm>
            <a:custGeom>
              <a:rect b="b" l="l" r="r" t="t"/>
              <a:pathLst>
                <a:path extrusionOk="0" h="2470785" w="9059672">
                  <a:moveTo>
                    <a:pt x="0" y="0"/>
                  </a:moveTo>
                  <a:lnTo>
                    <a:pt x="9059672" y="0"/>
                  </a:lnTo>
                  <a:lnTo>
                    <a:pt x="9059672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FFF2B8"/>
            </a:solidFill>
            <a:ln>
              <a:noFill/>
            </a:ln>
          </p:spPr>
        </p:sp>
        <p:sp>
          <p:nvSpPr>
            <p:cNvPr id="482" name="Google Shape;482;p9"/>
            <p:cNvSpPr txBox="1"/>
            <p:nvPr/>
          </p:nvSpPr>
          <p:spPr>
            <a:xfrm>
              <a:off x="0" y="9525"/>
              <a:ext cx="9059634" cy="24612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3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Prophia</a:t>
              </a:r>
              <a:endParaRPr/>
            </a:p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3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Hugging Face: Extracting named entities from commercial real-estate documents.</a:t>
              </a: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>
            <a:off x="9471441" y="2264912"/>
            <a:ext cx="6794753" cy="1853108"/>
            <a:chOff x="0" y="0"/>
            <a:chExt cx="9059672" cy="2470810"/>
          </a:xfrm>
        </p:grpSpPr>
        <p:sp>
          <p:nvSpPr>
            <p:cNvPr id="484" name="Google Shape;484;p9"/>
            <p:cNvSpPr/>
            <p:nvPr/>
          </p:nvSpPr>
          <p:spPr>
            <a:xfrm>
              <a:off x="0" y="0"/>
              <a:ext cx="9059672" cy="2470785"/>
            </a:xfrm>
            <a:custGeom>
              <a:rect b="b" l="l" r="r" t="t"/>
              <a:pathLst>
                <a:path extrusionOk="0" h="2470785" w="9059672">
                  <a:moveTo>
                    <a:pt x="0" y="0"/>
                  </a:moveTo>
                  <a:lnTo>
                    <a:pt x="9059672" y="0"/>
                  </a:lnTo>
                  <a:lnTo>
                    <a:pt x="9059672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FFF2B8"/>
            </a:solidFill>
            <a:ln>
              <a:noFill/>
            </a:ln>
          </p:spPr>
        </p:sp>
        <p:sp>
          <p:nvSpPr>
            <p:cNvPr id="485" name="Google Shape;485;p9"/>
            <p:cNvSpPr txBox="1"/>
            <p:nvPr/>
          </p:nvSpPr>
          <p:spPr>
            <a:xfrm>
              <a:off x="0" y="9525"/>
              <a:ext cx="9059634" cy="24612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3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BLOOM Project</a:t>
              </a:r>
              <a:endParaRPr/>
            </a:p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3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Hugging Face : Large open-science language model collaboration on the Hub.</a:t>
              </a:r>
              <a:endParaRPr/>
            </a:p>
          </p:txBody>
        </p:sp>
      </p:grpSp>
      <p:grpSp>
        <p:nvGrpSpPr>
          <p:cNvPr id="486" name="Google Shape;486;p9"/>
          <p:cNvGrpSpPr/>
          <p:nvPr/>
        </p:nvGrpSpPr>
        <p:grpSpPr>
          <a:xfrm>
            <a:off x="1235402" y="5078892"/>
            <a:ext cx="6794753" cy="1853108"/>
            <a:chOff x="0" y="0"/>
            <a:chExt cx="9059672" cy="2470810"/>
          </a:xfrm>
        </p:grpSpPr>
        <p:sp>
          <p:nvSpPr>
            <p:cNvPr id="487" name="Google Shape;487;p9"/>
            <p:cNvSpPr/>
            <p:nvPr/>
          </p:nvSpPr>
          <p:spPr>
            <a:xfrm>
              <a:off x="0" y="0"/>
              <a:ext cx="9059672" cy="2470785"/>
            </a:xfrm>
            <a:custGeom>
              <a:rect b="b" l="l" r="r" t="t"/>
              <a:pathLst>
                <a:path extrusionOk="0" h="2470785" w="9059672">
                  <a:moveTo>
                    <a:pt x="0" y="0"/>
                  </a:moveTo>
                  <a:lnTo>
                    <a:pt x="9059672" y="0"/>
                  </a:lnTo>
                  <a:lnTo>
                    <a:pt x="9059672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DFF7EF"/>
            </a:solidFill>
            <a:ln>
              <a:noFill/>
            </a:ln>
          </p:spPr>
        </p:sp>
        <p:sp>
          <p:nvSpPr>
            <p:cNvPr id="488" name="Google Shape;488;p9"/>
            <p:cNvSpPr txBox="1"/>
            <p:nvPr/>
          </p:nvSpPr>
          <p:spPr>
            <a:xfrm>
              <a:off x="0" y="9525"/>
              <a:ext cx="9059634" cy="24612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3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Intercom</a:t>
              </a:r>
              <a:endParaRPr/>
            </a:p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3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OpenAI API: AI support workflows using low-latency conversational models.</a:t>
              </a:r>
              <a:endParaRPr/>
            </a:p>
          </p:txBody>
        </p:sp>
      </p:grpSp>
      <p:grpSp>
        <p:nvGrpSpPr>
          <p:cNvPr id="489" name="Google Shape;489;p9"/>
          <p:cNvGrpSpPr/>
          <p:nvPr/>
        </p:nvGrpSpPr>
        <p:grpSpPr>
          <a:xfrm>
            <a:off x="9471441" y="5078892"/>
            <a:ext cx="6794753" cy="1853108"/>
            <a:chOff x="0" y="0"/>
            <a:chExt cx="9059672" cy="2470810"/>
          </a:xfrm>
        </p:grpSpPr>
        <p:sp>
          <p:nvSpPr>
            <p:cNvPr id="490" name="Google Shape;490;p9"/>
            <p:cNvSpPr/>
            <p:nvPr/>
          </p:nvSpPr>
          <p:spPr>
            <a:xfrm>
              <a:off x="0" y="0"/>
              <a:ext cx="9059672" cy="2470785"/>
            </a:xfrm>
            <a:custGeom>
              <a:rect b="b" l="l" r="r" t="t"/>
              <a:pathLst>
                <a:path extrusionOk="0" h="2470785" w="9059672">
                  <a:moveTo>
                    <a:pt x="0" y="0"/>
                  </a:moveTo>
                  <a:lnTo>
                    <a:pt x="9059672" y="0"/>
                  </a:lnTo>
                  <a:lnTo>
                    <a:pt x="9059672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DFF7EF"/>
            </a:solidFill>
            <a:ln>
              <a:noFill/>
            </a:ln>
          </p:spPr>
        </p:sp>
        <p:sp>
          <p:nvSpPr>
            <p:cNvPr id="491" name="Google Shape;491;p9"/>
            <p:cNvSpPr txBox="1"/>
            <p:nvPr/>
          </p:nvSpPr>
          <p:spPr>
            <a:xfrm>
              <a:off x="0" y="9525"/>
              <a:ext cx="9059634" cy="24612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3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Financial reporting teams</a:t>
              </a:r>
              <a:endParaRPr/>
            </a:p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3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OpenAI API:  Summarizing, analyzing, and drafting market/report content.</a:t>
              </a:r>
              <a:endParaRPr/>
            </a:p>
          </p:txBody>
        </p:sp>
      </p:grpSp>
      <p:grpSp>
        <p:nvGrpSpPr>
          <p:cNvPr id="492" name="Google Shape;492;p9"/>
          <p:cNvGrpSpPr/>
          <p:nvPr/>
        </p:nvGrpSpPr>
        <p:grpSpPr>
          <a:xfrm>
            <a:off x="16952500" y="9629013"/>
            <a:ext cx="343168" cy="309134"/>
            <a:chOff x="0" y="-9525"/>
            <a:chExt cx="457557" cy="412179"/>
          </a:xfrm>
        </p:grpSpPr>
        <p:sp>
          <p:nvSpPr>
            <p:cNvPr id="493" name="Google Shape;493;p9"/>
            <p:cNvSpPr/>
            <p:nvPr/>
          </p:nvSpPr>
          <p:spPr>
            <a:xfrm>
              <a:off x="0" y="0"/>
              <a:ext cx="457557" cy="402651"/>
            </a:xfrm>
            <a:custGeom>
              <a:rect b="b" l="l" r="r" t="t"/>
              <a:pathLst>
                <a:path extrusionOk="0" h="402651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02651"/>
                  </a:lnTo>
                  <a:lnTo>
                    <a:pt x="0" y="40265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62908" r="-62908" t="0"/>
              </a:stretch>
            </a:blipFill>
            <a:ln>
              <a:noFill/>
            </a:ln>
          </p:spPr>
        </p:sp>
        <p:sp>
          <p:nvSpPr>
            <p:cNvPr id="494" name="Google Shape;494;p9"/>
            <p:cNvSpPr txBox="1"/>
            <p:nvPr/>
          </p:nvSpPr>
          <p:spPr>
            <a:xfrm>
              <a:off x="0" y="-9525"/>
              <a:ext cx="457556" cy="412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5" u="none" cap="none" strike="noStrike">
                  <a:solidFill>
                    <a:srgbClr val="778195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/>
            </a:p>
          </p:txBody>
        </p:sp>
      </p:grpSp>
      <p:sp>
        <p:nvSpPr>
          <p:cNvPr id="495" name="Google Shape;495;p9"/>
          <p:cNvSpPr txBox="1"/>
          <p:nvPr/>
        </p:nvSpPr>
        <p:spPr>
          <a:xfrm>
            <a:off x="587573" y="9422797"/>
            <a:ext cx="5699270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Names : Emmanuel ABABIO, Robert Thompson, Olis Bahari</a:t>
            </a:r>
            <a:endParaRPr/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B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0"/>
          <p:cNvSpPr/>
          <p:nvPr/>
        </p:nvSpPr>
        <p:spPr>
          <a:xfrm>
            <a:off x="196367" y="196367"/>
            <a:ext cx="540639" cy="540639"/>
          </a:xfrm>
          <a:custGeom>
            <a:rect b="b" l="l" r="r" t="t"/>
            <a:pathLst>
              <a:path extrusionOk="0" h="720852" w="720852">
                <a:moveTo>
                  <a:pt x="0" y="0"/>
                </a:moveTo>
                <a:lnTo>
                  <a:pt x="720852" y="0"/>
                </a:lnTo>
                <a:lnTo>
                  <a:pt x="720852" y="720852"/>
                </a:lnTo>
                <a:lnTo>
                  <a:pt x="0" y="720852"/>
                </a:lnTo>
                <a:close/>
              </a:path>
            </a:pathLst>
          </a:custGeom>
          <a:solidFill>
            <a:srgbClr val="FFF2B8">
              <a:alpha val="35686"/>
            </a:srgbClr>
          </a:solidFill>
          <a:ln>
            <a:noFill/>
          </a:ln>
        </p:spPr>
      </p:sp>
      <p:sp>
        <p:nvSpPr>
          <p:cNvPr id="501" name="Google Shape;501;p10"/>
          <p:cNvSpPr/>
          <p:nvPr/>
        </p:nvSpPr>
        <p:spPr>
          <a:xfrm>
            <a:off x="17354769" y="9530544"/>
            <a:ext cx="499491" cy="499491"/>
          </a:xfrm>
          <a:custGeom>
            <a:rect b="b" l="l" r="r" t="t"/>
            <a:pathLst>
              <a:path extrusionOk="0" h="665988" w="665988">
                <a:moveTo>
                  <a:pt x="0" y="0"/>
                </a:moveTo>
                <a:lnTo>
                  <a:pt x="665988" y="0"/>
                </a:lnTo>
                <a:lnTo>
                  <a:pt x="665988" y="665988"/>
                </a:lnTo>
                <a:lnTo>
                  <a:pt x="0" y="665988"/>
                </a:lnTo>
                <a:close/>
              </a:path>
            </a:pathLst>
          </a:custGeom>
          <a:solidFill>
            <a:srgbClr val="DFF7EF">
              <a:alpha val="35686"/>
            </a:srgbClr>
          </a:solidFill>
          <a:ln>
            <a:noFill/>
          </a:ln>
        </p:spPr>
      </p:sp>
      <p:grpSp>
        <p:nvGrpSpPr>
          <p:cNvPr id="502" name="Google Shape;502;p10"/>
          <p:cNvGrpSpPr/>
          <p:nvPr/>
        </p:nvGrpSpPr>
        <p:grpSpPr>
          <a:xfrm>
            <a:off x="892235" y="521618"/>
            <a:ext cx="13040392" cy="576523"/>
            <a:chOff x="0" y="0"/>
            <a:chExt cx="17387189" cy="768697"/>
          </a:xfrm>
        </p:grpSpPr>
        <p:sp>
          <p:nvSpPr>
            <p:cNvPr id="503" name="Google Shape;503;p10"/>
            <p:cNvSpPr/>
            <p:nvPr/>
          </p:nvSpPr>
          <p:spPr>
            <a:xfrm>
              <a:off x="0" y="0"/>
              <a:ext cx="17387184" cy="768697"/>
            </a:xfrm>
            <a:custGeom>
              <a:rect b="b" l="l" r="r" t="t"/>
              <a:pathLst>
                <a:path extrusionOk="0" h="768697" w="17387184">
                  <a:moveTo>
                    <a:pt x="0" y="0"/>
                  </a:moveTo>
                  <a:lnTo>
                    <a:pt x="17387184" y="0"/>
                  </a:lnTo>
                  <a:lnTo>
                    <a:pt x="17387184" y="768697"/>
                  </a:lnTo>
                  <a:lnTo>
                    <a:pt x="0" y="76869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0761" l="0" r="0" t="-390761"/>
              </a:stretch>
            </a:blipFill>
            <a:ln>
              <a:noFill/>
            </a:ln>
          </p:spPr>
        </p:sp>
        <p:sp>
          <p:nvSpPr>
            <p:cNvPr id="504" name="Google Shape;504;p10"/>
            <p:cNvSpPr txBox="1"/>
            <p:nvPr/>
          </p:nvSpPr>
          <p:spPr>
            <a:xfrm>
              <a:off x="0" y="0"/>
              <a:ext cx="17387189" cy="768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03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Final takeaway</a:t>
              </a:r>
              <a:endParaRPr/>
            </a:p>
          </p:txBody>
        </p:sp>
      </p:grpSp>
      <p:grpSp>
        <p:nvGrpSpPr>
          <p:cNvPr id="505" name="Google Shape;505;p10"/>
          <p:cNvGrpSpPr/>
          <p:nvPr/>
        </p:nvGrpSpPr>
        <p:grpSpPr>
          <a:xfrm>
            <a:off x="905961" y="1194225"/>
            <a:ext cx="14275794" cy="411804"/>
            <a:chOff x="0" y="0"/>
            <a:chExt cx="19034392" cy="549072"/>
          </a:xfrm>
        </p:grpSpPr>
        <p:sp>
          <p:nvSpPr>
            <p:cNvPr id="506" name="Google Shape;506;p10"/>
            <p:cNvSpPr/>
            <p:nvPr/>
          </p:nvSpPr>
          <p:spPr>
            <a:xfrm>
              <a:off x="0" y="0"/>
              <a:ext cx="19034390" cy="549069"/>
            </a:xfrm>
            <a:custGeom>
              <a:rect b="b" l="l" r="r" t="t"/>
              <a:pathLst>
                <a:path extrusionOk="0" h="549069" w="19034390">
                  <a:moveTo>
                    <a:pt x="0" y="0"/>
                  </a:moveTo>
                  <a:lnTo>
                    <a:pt x="19034390" y="0"/>
                  </a:lnTo>
                  <a:lnTo>
                    <a:pt x="19034390" y="549069"/>
                  </a:lnTo>
                  <a:lnTo>
                    <a:pt x="0" y="54906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25493" l="0" r="0" t="-625493"/>
              </a:stretch>
            </a:blipFill>
            <a:ln>
              <a:noFill/>
            </a:ln>
          </p:spPr>
        </p:sp>
        <p:sp>
          <p:nvSpPr>
            <p:cNvPr id="507" name="Google Shape;507;p10"/>
            <p:cNvSpPr txBox="1"/>
            <p:nvPr/>
          </p:nvSpPr>
          <p:spPr>
            <a:xfrm>
              <a:off x="0" y="0"/>
              <a:ext cx="19034392" cy="549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6" u="none" cap="none" strike="noStrike">
                  <a:solidFill>
                    <a:srgbClr val="586174"/>
                  </a:solidFill>
                  <a:latin typeface="Arial"/>
                  <a:ea typeface="Arial"/>
                  <a:cs typeface="Arial"/>
                  <a:sym typeface="Arial"/>
                </a:rPr>
                <a:t>The strongest answer is not “A beats B.” It is choosing the right tool for the job.</a:t>
              </a:r>
              <a:endParaRPr/>
            </a:p>
          </p:txBody>
        </p:sp>
      </p:grpSp>
      <p:grpSp>
        <p:nvGrpSpPr>
          <p:cNvPr id="508" name="Google Shape;508;p10"/>
          <p:cNvGrpSpPr/>
          <p:nvPr/>
        </p:nvGrpSpPr>
        <p:grpSpPr>
          <a:xfrm>
            <a:off x="1509941" y="2443353"/>
            <a:ext cx="11804982" cy="549069"/>
            <a:chOff x="0" y="0"/>
            <a:chExt cx="15739977" cy="732092"/>
          </a:xfrm>
        </p:grpSpPr>
        <p:sp>
          <p:nvSpPr>
            <p:cNvPr id="509" name="Google Shape;509;p10"/>
            <p:cNvSpPr/>
            <p:nvPr/>
          </p:nvSpPr>
          <p:spPr>
            <a:xfrm>
              <a:off x="0" y="0"/>
              <a:ext cx="15739977" cy="732092"/>
            </a:xfrm>
            <a:custGeom>
              <a:rect b="b" l="l" r="r" t="t"/>
              <a:pathLst>
                <a:path extrusionOk="0" h="732092" w="15739977">
                  <a:moveTo>
                    <a:pt x="0" y="0"/>
                  </a:moveTo>
                  <a:lnTo>
                    <a:pt x="15739977" y="0"/>
                  </a:lnTo>
                  <a:lnTo>
                    <a:pt x="15739977" y="732092"/>
                  </a:lnTo>
                  <a:lnTo>
                    <a:pt x="0" y="7320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8901" l="0" r="0" t="-368901"/>
              </a:stretch>
            </a:blipFill>
            <a:ln>
              <a:noFill/>
            </a:ln>
          </p:spPr>
        </p:sp>
        <p:sp>
          <p:nvSpPr>
            <p:cNvPr id="510" name="Google Shape;510;p10"/>
            <p:cNvSpPr txBox="1"/>
            <p:nvPr/>
          </p:nvSpPr>
          <p:spPr>
            <a:xfrm>
              <a:off x="0" y="0"/>
              <a:ext cx="15739974" cy="732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2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Hugging Face = control, transparency, experimentation.</a:t>
              </a: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509941" y="3500314"/>
            <a:ext cx="13452189" cy="549069"/>
            <a:chOff x="0" y="0"/>
            <a:chExt cx="17936252" cy="732092"/>
          </a:xfrm>
        </p:grpSpPr>
        <p:sp>
          <p:nvSpPr>
            <p:cNvPr id="512" name="Google Shape;512;p10"/>
            <p:cNvSpPr/>
            <p:nvPr/>
          </p:nvSpPr>
          <p:spPr>
            <a:xfrm>
              <a:off x="0" y="0"/>
              <a:ext cx="17936252" cy="732092"/>
            </a:xfrm>
            <a:custGeom>
              <a:rect b="b" l="l" r="r" t="t"/>
              <a:pathLst>
                <a:path extrusionOk="0" h="732092" w="17936252">
                  <a:moveTo>
                    <a:pt x="0" y="0"/>
                  </a:moveTo>
                  <a:lnTo>
                    <a:pt x="17936252" y="0"/>
                  </a:lnTo>
                  <a:lnTo>
                    <a:pt x="17936252" y="732092"/>
                  </a:lnTo>
                  <a:lnTo>
                    <a:pt x="0" y="7320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27373" l="0" r="0" t="-427373"/>
              </a:stretch>
            </a:blipFill>
            <a:ln>
              <a:noFill/>
            </a:ln>
          </p:spPr>
        </p:sp>
        <p:sp>
          <p:nvSpPr>
            <p:cNvPr id="513" name="Google Shape;513;p10"/>
            <p:cNvSpPr txBox="1"/>
            <p:nvPr/>
          </p:nvSpPr>
          <p:spPr>
            <a:xfrm>
              <a:off x="0" y="0"/>
              <a:ext cx="17936248" cy="732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2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OpenAI API = speed, managed infrastructure, strong ready-to-use models.</a:t>
              </a:r>
              <a:endParaRPr/>
            </a:p>
          </p:txBody>
        </p:sp>
      </p:grpSp>
      <p:cxnSp>
        <p:nvCxnSpPr>
          <p:cNvPr id="514" name="Google Shape;514;p10"/>
          <p:cNvCxnSpPr/>
          <p:nvPr/>
        </p:nvCxnSpPr>
        <p:spPr>
          <a:xfrm rot="6480">
            <a:off x="1498492" y="4964316"/>
            <a:ext cx="12171055" cy="0"/>
          </a:xfrm>
          <a:prstGeom prst="straightConnector1">
            <a:avLst/>
          </a:prstGeom>
          <a:noFill/>
          <a:ln cap="rnd" cmpd="sng" w="9525">
            <a:solidFill>
              <a:srgbClr val="D4DAE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15" name="Google Shape;515;p10"/>
          <p:cNvGrpSpPr/>
          <p:nvPr/>
        </p:nvGrpSpPr>
        <p:grpSpPr>
          <a:xfrm>
            <a:off x="1509941" y="5758081"/>
            <a:ext cx="3294414" cy="399276"/>
            <a:chOff x="0" y="-9525"/>
            <a:chExt cx="4392552" cy="532368"/>
          </a:xfrm>
        </p:grpSpPr>
        <p:sp>
          <p:nvSpPr>
            <p:cNvPr id="516" name="Google Shape;516;p10"/>
            <p:cNvSpPr/>
            <p:nvPr/>
          </p:nvSpPr>
          <p:spPr>
            <a:xfrm>
              <a:off x="0" y="0"/>
              <a:ext cx="4392552" cy="522843"/>
            </a:xfrm>
            <a:custGeom>
              <a:rect b="b" l="l" r="r" t="t"/>
              <a:pathLst>
                <a:path extrusionOk="0" h="522843" w="4392552">
                  <a:moveTo>
                    <a:pt x="0" y="0"/>
                  </a:moveTo>
                  <a:lnTo>
                    <a:pt x="4392552" y="0"/>
                  </a:lnTo>
                  <a:lnTo>
                    <a:pt x="4392552" y="522843"/>
                  </a:lnTo>
                  <a:lnTo>
                    <a:pt x="0" y="52284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9210" l="0" r="0" t="-118197"/>
              </a:stretch>
            </a:blipFill>
            <a:ln>
              <a:noFill/>
            </a:ln>
          </p:spPr>
        </p:sp>
        <p:sp>
          <p:nvSpPr>
            <p:cNvPr id="517" name="Google Shape;517;p10"/>
            <p:cNvSpPr txBox="1"/>
            <p:nvPr/>
          </p:nvSpPr>
          <p:spPr>
            <a:xfrm>
              <a:off x="0" y="-9525"/>
              <a:ext cx="4392549" cy="532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  <a:endParaRPr/>
            </a:p>
          </p:txBody>
        </p:sp>
      </p:grpSp>
      <p:grpSp>
        <p:nvGrpSpPr>
          <p:cNvPr id="518" name="Google Shape;518;p10"/>
          <p:cNvGrpSpPr/>
          <p:nvPr/>
        </p:nvGrpSpPr>
        <p:grpSpPr>
          <a:xfrm>
            <a:off x="1509941" y="6341745"/>
            <a:ext cx="14756228" cy="1180500"/>
            <a:chOff x="0" y="0"/>
            <a:chExt cx="19674971" cy="1574000"/>
          </a:xfrm>
        </p:grpSpPr>
        <p:sp>
          <p:nvSpPr>
            <p:cNvPr id="519" name="Google Shape;519;p10"/>
            <p:cNvSpPr/>
            <p:nvPr/>
          </p:nvSpPr>
          <p:spPr>
            <a:xfrm>
              <a:off x="0" y="0"/>
              <a:ext cx="19674971" cy="1573998"/>
            </a:xfrm>
            <a:custGeom>
              <a:rect b="b" l="l" r="r" t="t"/>
              <a:pathLst>
                <a:path extrusionOk="0" h="1573998" w="19674971">
                  <a:moveTo>
                    <a:pt x="0" y="0"/>
                  </a:moveTo>
                  <a:lnTo>
                    <a:pt x="19674971" y="0"/>
                  </a:lnTo>
                  <a:lnTo>
                    <a:pt x="19674971" y="1573998"/>
                  </a:lnTo>
                  <a:lnTo>
                    <a:pt x="0" y="157399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3570" l="0" r="0" t="-193570"/>
              </a:stretch>
            </a:blipFill>
            <a:ln>
              <a:noFill/>
            </a:ln>
          </p:spPr>
        </p:sp>
        <p:sp>
          <p:nvSpPr>
            <p:cNvPr id="520" name="Google Shape;520;p10"/>
            <p:cNvSpPr txBox="1"/>
            <p:nvPr/>
          </p:nvSpPr>
          <p:spPr>
            <a:xfrm>
              <a:off x="0" y="0"/>
              <a:ext cx="19674967" cy="157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1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For learning, research, and custom deployments, I would start with Hugging Face. For a polished application that needs strong results quickly, I would start with OpenAI. In many serious projects, using both is the smartest move.</a:t>
              </a:r>
              <a:endParaRPr/>
            </a:p>
          </p:txBody>
        </p:sp>
      </p:grpSp>
      <p:grpSp>
        <p:nvGrpSpPr>
          <p:cNvPr id="521" name="Google Shape;521;p10"/>
          <p:cNvGrpSpPr/>
          <p:nvPr/>
        </p:nvGrpSpPr>
        <p:grpSpPr>
          <a:xfrm>
            <a:off x="16952500" y="9629013"/>
            <a:ext cx="343168" cy="309134"/>
            <a:chOff x="0" y="-9525"/>
            <a:chExt cx="457557" cy="412179"/>
          </a:xfrm>
        </p:grpSpPr>
        <p:sp>
          <p:nvSpPr>
            <p:cNvPr id="522" name="Google Shape;522;p10"/>
            <p:cNvSpPr/>
            <p:nvPr/>
          </p:nvSpPr>
          <p:spPr>
            <a:xfrm>
              <a:off x="0" y="0"/>
              <a:ext cx="457557" cy="402651"/>
            </a:xfrm>
            <a:custGeom>
              <a:rect b="b" l="l" r="r" t="t"/>
              <a:pathLst>
                <a:path extrusionOk="0" h="402651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02651"/>
                  </a:lnTo>
                  <a:lnTo>
                    <a:pt x="0" y="40265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62908" r="-62908" t="0"/>
              </a:stretch>
            </a:blipFill>
            <a:ln>
              <a:noFill/>
            </a:ln>
          </p:spPr>
        </p:sp>
        <p:sp>
          <p:nvSpPr>
            <p:cNvPr id="523" name="Google Shape;523;p10"/>
            <p:cNvSpPr txBox="1"/>
            <p:nvPr/>
          </p:nvSpPr>
          <p:spPr>
            <a:xfrm>
              <a:off x="0" y="-9525"/>
              <a:ext cx="457556" cy="412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5" u="none" cap="none" strike="noStrike">
                  <a:solidFill>
                    <a:srgbClr val="778195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</p:grpSp>
      <p:sp>
        <p:nvSpPr>
          <p:cNvPr id="524" name="Google Shape;524;p10"/>
          <p:cNvSpPr txBox="1"/>
          <p:nvPr/>
        </p:nvSpPr>
        <p:spPr>
          <a:xfrm>
            <a:off x="587573" y="9422797"/>
            <a:ext cx="5699270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Names : Emmanuel ABABIO, Robert Thompson, Olis Bahari</a:t>
            </a:r>
            <a:endParaRPr/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B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1"/>
          <p:cNvSpPr/>
          <p:nvPr/>
        </p:nvSpPr>
        <p:spPr>
          <a:xfrm>
            <a:off x="196367" y="196367"/>
            <a:ext cx="540639" cy="540639"/>
          </a:xfrm>
          <a:custGeom>
            <a:rect b="b" l="l" r="r" t="t"/>
            <a:pathLst>
              <a:path extrusionOk="0" h="720852" w="720852">
                <a:moveTo>
                  <a:pt x="0" y="0"/>
                </a:moveTo>
                <a:lnTo>
                  <a:pt x="720852" y="0"/>
                </a:lnTo>
                <a:lnTo>
                  <a:pt x="720852" y="720852"/>
                </a:lnTo>
                <a:lnTo>
                  <a:pt x="0" y="720852"/>
                </a:lnTo>
                <a:close/>
              </a:path>
            </a:pathLst>
          </a:custGeom>
          <a:solidFill>
            <a:srgbClr val="FFF2B8">
              <a:alpha val="35686"/>
            </a:srgbClr>
          </a:solidFill>
          <a:ln>
            <a:noFill/>
          </a:ln>
        </p:spPr>
      </p:sp>
      <p:sp>
        <p:nvSpPr>
          <p:cNvPr id="530" name="Google Shape;530;p11"/>
          <p:cNvSpPr/>
          <p:nvPr/>
        </p:nvSpPr>
        <p:spPr>
          <a:xfrm>
            <a:off x="17354769" y="9530544"/>
            <a:ext cx="499491" cy="499491"/>
          </a:xfrm>
          <a:custGeom>
            <a:rect b="b" l="l" r="r" t="t"/>
            <a:pathLst>
              <a:path extrusionOk="0" h="665988" w="665988">
                <a:moveTo>
                  <a:pt x="0" y="0"/>
                </a:moveTo>
                <a:lnTo>
                  <a:pt x="665988" y="0"/>
                </a:lnTo>
                <a:lnTo>
                  <a:pt x="665988" y="665988"/>
                </a:lnTo>
                <a:lnTo>
                  <a:pt x="0" y="665988"/>
                </a:lnTo>
                <a:close/>
              </a:path>
            </a:pathLst>
          </a:custGeom>
          <a:solidFill>
            <a:srgbClr val="DFF7EF">
              <a:alpha val="35686"/>
            </a:srgbClr>
          </a:solidFill>
          <a:ln>
            <a:noFill/>
          </a:ln>
        </p:spPr>
      </p:sp>
      <p:grpSp>
        <p:nvGrpSpPr>
          <p:cNvPr id="531" name="Google Shape;531;p11"/>
          <p:cNvGrpSpPr/>
          <p:nvPr/>
        </p:nvGrpSpPr>
        <p:grpSpPr>
          <a:xfrm>
            <a:off x="892235" y="521618"/>
            <a:ext cx="13040392" cy="576523"/>
            <a:chOff x="0" y="0"/>
            <a:chExt cx="17387189" cy="768697"/>
          </a:xfrm>
        </p:grpSpPr>
        <p:sp>
          <p:nvSpPr>
            <p:cNvPr id="532" name="Google Shape;532;p11"/>
            <p:cNvSpPr/>
            <p:nvPr/>
          </p:nvSpPr>
          <p:spPr>
            <a:xfrm>
              <a:off x="0" y="0"/>
              <a:ext cx="17387184" cy="768697"/>
            </a:xfrm>
            <a:custGeom>
              <a:rect b="b" l="l" r="r" t="t"/>
              <a:pathLst>
                <a:path extrusionOk="0" h="768697" w="17387184">
                  <a:moveTo>
                    <a:pt x="0" y="0"/>
                  </a:moveTo>
                  <a:lnTo>
                    <a:pt x="17387184" y="0"/>
                  </a:lnTo>
                  <a:lnTo>
                    <a:pt x="17387184" y="768697"/>
                  </a:lnTo>
                  <a:lnTo>
                    <a:pt x="0" y="76869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0761" l="0" r="0" t="-390761"/>
              </a:stretch>
            </a:blipFill>
            <a:ln>
              <a:noFill/>
            </a:ln>
          </p:spPr>
        </p:sp>
        <p:sp>
          <p:nvSpPr>
            <p:cNvPr id="533" name="Google Shape;533;p11"/>
            <p:cNvSpPr txBox="1"/>
            <p:nvPr/>
          </p:nvSpPr>
          <p:spPr>
            <a:xfrm>
              <a:off x="0" y="0"/>
              <a:ext cx="17387189" cy="768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03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References</a:t>
              </a:r>
              <a:endParaRPr/>
            </a:p>
          </p:txBody>
        </p:sp>
      </p:grpSp>
      <p:grpSp>
        <p:nvGrpSpPr>
          <p:cNvPr id="534" name="Google Shape;534;p11"/>
          <p:cNvGrpSpPr/>
          <p:nvPr/>
        </p:nvGrpSpPr>
        <p:grpSpPr>
          <a:xfrm>
            <a:off x="905961" y="1194225"/>
            <a:ext cx="14275794" cy="411804"/>
            <a:chOff x="0" y="0"/>
            <a:chExt cx="19034392" cy="549072"/>
          </a:xfrm>
        </p:grpSpPr>
        <p:sp>
          <p:nvSpPr>
            <p:cNvPr id="535" name="Google Shape;535;p11"/>
            <p:cNvSpPr/>
            <p:nvPr/>
          </p:nvSpPr>
          <p:spPr>
            <a:xfrm>
              <a:off x="0" y="0"/>
              <a:ext cx="19034390" cy="549069"/>
            </a:xfrm>
            <a:custGeom>
              <a:rect b="b" l="l" r="r" t="t"/>
              <a:pathLst>
                <a:path extrusionOk="0" h="549069" w="19034390">
                  <a:moveTo>
                    <a:pt x="0" y="0"/>
                  </a:moveTo>
                  <a:lnTo>
                    <a:pt x="19034390" y="0"/>
                  </a:lnTo>
                  <a:lnTo>
                    <a:pt x="19034390" y="549069"/>
                  </a:lnTo>
                  <a:lnTo>
                    <a:pt x="0" y="54906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25493" l="0" r="0" t="-625493"/>
              </a:stretch>
            </a:blipFill>
            <a:ln>
              <a:noFill/>
            </a:ln>
          </p:spPr>
        </p:sp>
        <p:sp>
          <p:nvSpPr>
            <p:cNvPr id="536" name="Google Shape;536;p11"/>
            <p:cNvSpPr txBox="1"/>
            <p:nvPr/>
          </p:nvSpPr>
          <p:spPr>
            <a:xfrm>
              <a:off x="0" y="0"/>
              <a:ext cx="19034392" cy="549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2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Credible sources used for this presentation.</a:t>
              </a:r>
              <a:endParaRPr/>
            </a:p>
          </p:txBody>
        </p:sp>
      </p:grpSp>
      <p:grpSp>
        <p:nvGrpSpPr>
          <p:cNvPr id="537" name="Google Shape;537;p11"/>
          <p:cNvGrpSpPr/>
          <p:nvPr/>
        </p:nvGrpSpPr>
        <p:grpSpPr>
          <a:xfrm>
            <a:off x="1372676" y="1949196"/>
            <a:ext cx="14962129" cy="439256"/>
            <a:chOff x="0" y="0"/>
            <a:chExt cx="19949506" cy="585674"/>
          </a:xfrm>
        </p:grpSpPr>
        <p:sp>
          <p:nvSpPr>
            <p:cNvPr id="538" name="Google Shape;538;p11"/>
            <p:cNvSpPr/>
            <p:nvPr/>
          </p:nvSpPr>
          <p:spPr>
            <a:xfrm>
              <a:off x="0" y="0"/>
              <a:ext cx="19949506" cy="585674"/>
            </a:xfrm>
            <a:custGeom>
              <a:rect b="b" l="l" r="r" t="t"/>
              <a:pathLst>
                <a:path extrusionOk="0" h="585674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13658" l="0" r="0" t="-613658"/>
              </a:stretch>
            </a:blipFill>
            <a:ln>
              <a:noFill/>
            </a:ln>
          </p:spPr>
        </p:sp>
        <p:sp>
          <p:nvSpPr>
            <p:cNvPr id="539" name="Google Shape;539;p11"/>
            <p:cNvSpPr txBox="1"/>
            <p:nvPr/>
          </p:nvSpPr>
          <p:spPr>
            <a:xfrm>
              <a:off x="0" y="9525"/>
              <a:ext cx="19949503" cy="576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1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Hugging Face. Transformers documentation. https://huggingface.co/docs/transformers/</a:t>
              </a:r>
              <a:endParaRPr/>
            </a:p>
          </p:txBody>
        </p:sp>
      </p:grpSp>
      <p:grpSp>
        <p:nvGrpSpPr>
          <p:cNvPr id="540" name="Google Shape;540;p11"/>
          <p:cNvGrpSpPr/>
          <p:nvPr/>
        </p:nvGrpSpPr>
        <p:grpSpPr>
          <a:xfrm>
            <a:off x="1372676" y="2745343"/>
            <a:ext cx="14962129" cy="439256"/>
            <a:chOff x="0" y="0"/>
            <a:chExt cx="19949506" cy="585674"/>
          </a:xfrm>
        </p:grpSpPr>
        <p:sp>
          <p:nvSpPr>
            <p:cNvPr id="541" name="Google Shape;541;p11"/>
            <p:cNvSpPr/>
            <p:nvPr/>
          </p:nvSpPr>
          <p:spPr>
            <a:xfrm>
              <a:off x="0" y="0"/>
              <a:ext cx="19949506" cy="585674"/>
            </a:xfrm>
            <a:custGeom>
              <a:rect b="b" l="l" r="r" t="t"/>
              <a:pathLst>
                <a:path extrusionOk="0" h="585674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13658" l="0" r="0" t="-613658"/>
              </a:stretch>
            </a:blipFill>
            <a:ln>
              <a:noFill/>
            </a:ln>
          </p:spPr>
        </p:sp>
        <p:sp>
          <p:nvSpPr>
            <p:cNvPr id="542" name="Google Shape;542;p11"/>
            <p:cNvSpPr txBox="1"/>
            <p:nvPr/>
          </p:nvSpPr>
          <p:spPr>
            <a:xfrm>
              <a:off x="0" y="9525"/>
              <a:ext cx="19949503" cy="576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1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Hugging Face. Hub documentation. https://huggingface.co/docs/hub/en/index</a:t>
              </a:r>
              <a:endParaRPr/>
            </a:p>
          </p:txBody>
        </p:sp>
      </p:grpSp>
      <p:grpSp>
        <p:nvGrpSpPr>
          <p:cNvPr id="543" name="Google Shape;543;p11"/>
          <p:cNvGrpSpPr/>
          <p:nvPr/>
        </p:nvGrpSpPr>
        <p:grpSpPr>
          <a:xfrm>
            <a:off x="1372676" y="3541490"/>
            <a:ext cx="14962129" cy="439256"/>
            <a:chOff x="0" y="0"/>
            <a:chExt cx="19949506" cy="585674"/>
          </a:xfrm>
        </p:grpSpPr>
        <p:sp>
          <p:nvSpPr>
            <p:cNvPr id="544" name="Google Shape;544;p11"/>
            <p:cNvSpPr/>
            <p:nvPr/>
          </p:nvSpPr>
          <p:spPr>
            <a:xfrm>
              <a:off x="0" y="0"/>
              <a:ext cx="19949506" cy="585674"/>
            </a:xfrm>
            <a:custGeom>
              <a:rect b="b" l="l" r="r" t="t"/>
              <a:pathLst>
                <a:path extrusionOk="0" h="585674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13658" l="0" r="0" t="-613658"/>
              </a:stretch>
            </a:blipFill>
            <a:ln>
              <a:noFill/>
            </a:ln>
          </p:spPr>
        </p:sp>
        <p:sp>
          <p:nvSpPr>
            <p:cNvPr id="545" name="Google Shape;545;p11"/>
            <p:cNvSpPr txBox="1"/>
            <p:nvPr/>
          </p:nvSpPr>
          <p:spPr>
            <a:xfrm>
              <a:off x="0" y="9525"/>
              <a:ext cx="19949503" cy="576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1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Hugging Face. PEFT and Trainer documentation. https://huggingface.co/docs/transformers/</a:t>
              </a:r>
              <a:endParaRPr/>
            </a:p>
          </p:txBody>
        </p:sp>
      </p:grpSp>
      <p:grpSp>
        <p:nvGrpSpPr>
          <p:cNvPr id="546" name="Google Shape;546;p11"/>
          <p:cNvGrpSpPr/>
          <p:nvPr/>
        </p:nvGrpSpPr>
        <p:grpSpPr>
          <a:xfrm>
            <a:off x="1372676" y="4337647"/>
            <a:ext cx="14962129" cy="439256"/>
            <a:chOff x="0" y="0"/>
            <a:chExt cx="19949506" cy="585674"/>
          </a:xfrm>
        </p:grpSpPr>
        <p:sp>
          <p:nvSpPr>
            <p:cNvPr id="547" name="Google Shape;547;p11"/>
            <p:cNvSpPr/>
            <p:nvPr/>
          </p:nvSpPr>
          <p:spPr>
            <a:xfrm>
              <a:off x="0" y="0"/>
              <a:ext cx="19949506" cy="585674"/>
            </a:xfrm>
            <a:custGeom>
              <a:rect b="b" l="l" r="r" t="t"/>
              <a:pathLst>
                <a:path extrusionOk="0" h="585674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13658" l="0" r="0" t="-613658"/>
              </a:stretch>
            </a:blipFill>
            <a:ln>
              <a:noFill/>
            </a:ln>
          </p:spPr>
        </p:sp>
        <p:sp>
          <p:nvSpPr>
            <p:cNvPr id="548" name="Google Shape;548;p11"/>
            <p:cNvSpPr txBox="1"/>
            <p:nvPr/>
          </p:nvSpPr>
          <p:spPr>
            <a:xfrm>
              <a:off x="0" y="9525"/>
              <a:ext cx="19949503" cy="576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1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OpenAI. OpenAI API documentation. https://platform.openai.com/docs/</a:t>
              </a:r>
              <a:endParaRPr/>
            </a:p>
          </p:txBody>
        </p:sp>
      </p:grpSp>
      <p:grpSp>
        <p:nvGrpSpPr>
          <p:cNvPr id="549" name="Google Shape;549;p11"/>
          <p:cNvGrpSpPr/>
          <p:nvPr/>
        </p:nvGrpSpPr>
        <p:grpSpPr>
          <a:xfrm>
            <a:off x="1198319" y="5143500"/>
            <a:ext cx="14962129" cy="439255"/>
            <a:chOff x="0" y="0"/>
            <a:chExt cx="19949506" cy="585674"/>
          </a:xfrm>
        </p:grpSpPr>
        <p:sp>
          <p:nvSpPr>
            <p:cNvPr id="550" name="Google Shape;550;p11"/>
            <p:cNvSpPr/>
            <p:nvPr/>
          </p:nvSpPr>
          <p:spPr>
            <a:xfrm>
              <a:off x="0" y="0"/>
              <a:ext cx="19949506" cy="585674"/>
            </a:xfrm>
            <a:custGeom>
              <a:rect b="b" l="l" r="r" t="t"/>
              <a:pathLst>
                <a:path extrusionOk="0" h="585674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13658" l="0" r="0" t="-613658"/>
              </a:stretch>
            </a:blipFill>
            <a:ln>
              <a:noFill/>
            </a:ln>
          </p:spPr>
        </p:sp>
        <p:sp>
          <p:nvSpPr>
            <p:cNvPr id="551" name="Google Shape;551;p11"/>
            <p:cNvSpPr txBox="1"/>
            <p:nvPr/>
          </p:nvSpPr>
          <p:spPr>
            <a:xfrm>
              <a:off x="0" y="9525"/>
              <a:ext cx="19949503" cy="5761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1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OpenAI. About OpenAI. https://openai.com/about/</a:t>
              </a:r>
              <a:endParaRPr/>
            </a:p>
          </p:txBody>
        </p:sp>
      </p:grpSp>
      <p:grpSp>
        <p:nvGrpSpPr>
          <p:cNvPr id="552" name="Google Shape;552;p11"/>
          <p:cNvGrpSpPr/>
          <p:nvPr/>
        </p:nvGrpSpPr>
        <p:grpSpPr>
          <a:xfrm>
            <a:off x="1372676" y="5929941"/>
            <a:ext cx="14962129" cy="439255"/>
            <a:chOff x="0" y="0"/>
            <a:chExt cx="19949506" cy="585674"/>
          </a:xfrm>
        </p:grpSpPr>
        <p:sp>
          <p:nvSpPr>
            <p:cNvPr id="553" name="Google Shape;553;p11"/>
            <p:cNvSpPr/>
            <p:nvPr/>
          </p:nvSpPr>
          <p:spPr>
            <a:xfrm>
              <a:off x="0" y="0"/>
              <a:ext cx="19949506" cy="585674"/>
            </a:xfrm>
            <a:custGeom>
              <a:rect b="b" l="l" r="r" t="t"/>
              <a:pathLst>
                <a:path extrusionOk="0" h="585674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13658" l="0" r="0" t="-613658"/>
              </a:stretch>
            </a:blipFill>
            <a:ln>
              <a:noFill/>
            </a:ln>
          </p:spPr>
        </p:sp>
        <p:sp>
          <p:nvSpPr>
            <p:cNvPr id="554" name="Google Shape;554;p11"/>
            <p:cNvSpPr txBox="1"/>
            <p:nvPr/>
          </p:nvSpPr>
          <p:spPr>
            <a:xfrm>
              <a:off x="0" y="9525"/>
              <a:ext cx="19949503" cy="5761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16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OpenAI. GPT-4 / GPT-4o research and product posts. https://openai.com/index/</a:t>
              </a:r>
              <a:endParaRPr/>
            </a:p>
          </p:txBody>
        </p:sp>
      </p:grpSp>
      <p:grpSp>
        <p:nvGrpSpPr>
          <p:cNvPr id="555" name="Google Shape;555;p11"/>
          <p:cNvGrpSpPr/>
          <p:nvPr/>
        </p:nvGrpSpPr>
        <p:grpSpPr>
          <a:xfrm>
            <a:off x="1372676" y="6726098"/>
            <a:ext cx="14962129" cy="439256"/>
            <a:chOff x="0" y="0"/>
            <a:chExt cx="19949506" cy="585674"/>
          </a:xfrm>
        </p:grpSpPr>
        <p:sp>
          <p:nvSpPr>
            <p:cNvPr id="556" name="Google Shape;556;p11"/>
            <p:cNvSpPr/>
            <p:nvPr/>
          </p:nvSpPr>
          <p:spPr>
            <a:xfrm>
              <a:off x="0" y="0"/>
              <a:ext cx="19949506" cy="585674"/>
            </a:xfrm>
            <a:custGeom>
              <a:rect b="b" l="l" r="r" t="t"/>
              <a:pathLst>
                <a:path extrusionOk="0" h="585674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13658" l="0" r="0" t="-613658"/>
              </a:stretch>
            </a:blipFill>
            <a:ln>
              <a:noFill/>
            </a:ln>
          </p:spPr>
        </p:sp>
        <p:sp>
          <p:nvSpPr>
            <p:cNvPr id="557" name="Google Shape;557;p11"/>
            <p:cNvSpPr txBox="1"/>
            <p:nvPr/>
          </p:nvSpPr>
          <p:spPr>
            <a:xfrm>
              <a:off x="0" y="9525"/>
              <a:ext cx="19949503" cy="576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1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Vaswani et al. (2017). Attention Is All You Need. NeurIPS.</a:t>
              </a:r>
              <a:endParaRPr/>
            </a:p>
          </p:txBody>
        </p:sp>
      </p:grpSp>
      <p:grpSp>
        <p:nvGrpSpPr>
          <p:cNvPr id="558" name="Google Shape;558;p11"/>
          <p:cNvGrpSpPr/>
          <p:nvPr/>
        </p:nvGrpSpPr>
        <p:grpSpPr>
          <a:xfrm>
            <a:off x="1372676" y="8510568"/>
            <a:ext cx="9883245" cy="384353"/>
            <a:chOff x="0" y="0"/>
            <a:chExt cx="13177660" cy="512470"/>
          </a:xfrm>
        </p:grpSpPr>
        <p:sp>
          <p:nvSpPr>
            <p:cNvPr id="559" name="Google Shape;559;p11"/>
            <p:cNvSpPr/>
            <p:nvPr/>
          </p:nvSpPr>
          <p:spPr>
            <a:xfrm>
              <a:off x="0" y="0"/>
              <a:ext cx="13177655" cy="512464"/>
            </a:xfrm>
            <a:custGeom>
              <a:rect b="b" l="l" r="r" t="t"/>
              <a:pathLst>
                <a:path extrusionOk="0" h="512464" w="13177655">
                  <a:moveTo>
                    <a:pt x="0" y="0"/>
                  </a:moveTo>
                  <a:lnTo>
                    <a:pt x="13177655" y="0"/>
                  </a:lnTo>
                  <a:lnTo>
                    <a:pt x="13177655" y="512464"/>
                  </a:lnTo>
                  <a:lnTo>
                    <a:pt x="0" y="51246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51002" l="0" r="0" t="-451002"/>
              </a:stretch>
            </a:blipFill>
            <a:ln>
              <a:noFill/>
            </a:ln>
          </p:spPr>
        </p:sp>
        <p:sp>
          <p:nvSpPr>
            <p:cNvPr id="560" name="Google Shape;560;p11"/>
            <p:cNvSpPr txBox="1"/>
            <p:nvPr/>
          </p:nvSpPr>
          <p:spPr>
            <a:xfrm>
              <a:off x="0" y="0"/>
              <a:ext cx="13177660" cy="512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651" u="none" cap="none" strike="noStrike">
                  <a:solidFill>
                    <a:srgbClr val="586174"/>
                  </a:solidFill>
                  <a:latin typeface="Arial"/>
                  <a:ea typeface="Arial"/>
                  <a:cs typeface="Arial"/>
                  <a:sym typeface="Arial"/>
                </a:rPr>
                <a:t>Presentation structure adapted from the two provided model decks.</a:t>
              </a:r>
              <a:endParaRPr/>
            </a:p>
          </p:txBody>
        </p:sp>
      </p:grpSp>
      <p:grpSp>
        <p:nvGrpSpPr>
          <p:cNvPr id="561" name="Google Shape;561;p11"/>
          <p:cNvGrpSpPr/>
          <p:nvPr/>
        </p:nvGrpSpPr>
        <p:grpSpPr>
          <a:xfrm>
            <a:off x="16952500" y="9629013"/>
            <a:ext cx="343168" cy="309134"/>
            <a:chOff x="0" y="-9525"/>
            <a:chExt cx="457557" cy="412179"/>
          </a:xfrm>
        </p:grpSpPr>
        <p:sp>
          <p:nvSpPr>
            <p:cNvPr id="562" name="Google Shape;562;p11"/>
            <p:cNvSpPr/>
            <p:nvPr/>
          </p:nvSpPr>
          <p:spPr>
            <a:xfrm>
              <a:off x="0" y="0"/>
              <a:ext cx="457557" cy="402651"/>
            </a:xfrm>
            <a:custGeom>
              <a:rect b="b" l="l" r="r" t="t"/>
              <a:pathLst>
                <a:path extrusionOk="0" h="402651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02651"/>
                  </a:lnTo>
                  <a:lnTo>
                    <a:pt x="0" y="40265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62908" r="-62908" t="0"/>
              </a:stretch>
            </a:blipFill>
            <a:ln>
              <a:noFill/>
            </a:ln>
          </p:spPr>
        </p:sp>
        <p:sp>
          <p:nvSpPr>
            <p:cNvPr id="563" name="Google Shape;563;p11"/>
            <p:cNvSpPr txBox="1"/>
            <p:nvPr/>
          </p:nvSpPr>
          <p:spPr>
            <a:xfrm>
              <a:off x="0" y="-9525"/>
              <a:ext cx="457556" cy="412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5" u="none" cap="none" strike="noStrike">
                  <a:solidFill>
                    <a:srgbClr val="778195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</p:grpSp>
      <p:sp>
        <p:nvSpPr>
          <p:cNvPr id="564" name="Google Shape;564;p11"/>
          <p:cNvSpPr txBox="1"/>
          <p:nvPr/>
        </p:nvSpPr>
        <p:spPr>
          <a:xfrm>
            <a:off x="587573" y="9422797"/>
            <a:ext cx="5699270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Names : Emmanuel ABABIO, Robert Thompson, Olis Bahari</a:t>
            </a:r>
            <a:endParaRPr/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B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2"/>
          <p:cNvSpPr/>
          <p:nvPr/>
        </p:nvSpPr>
        <p:spPr>
          <a:xfrm>
            <a:off x="0" y="116491"/>
            <a:ext cx="18286713" cy="10169793"/>
          </a:xfrm>
          <a:custGeom>
            <a:rect b="b" l="l" r="r" t="t"/>
            <a:pathLst>
              <a:path extrusionOk="0" h="766682" w="1378602">
                <a:moveTo>
                  <a:pt x="0" y="0"/>
                </a:moveTo>
                <a:lnTo>
                  <a:pt x="1378602" y="0"/>
                </a:lnTo>
                <a:lnTo>
                  <a:pt x="1378602" y="766682"/>
                </a:lnTo>
                <a:lnTo>
                  <a:pt x="0" y="766682"/>
                </a:lnTo>
                <a:close/>
              </a:path>
            </a:pathLst>
          </a:custGeom>
          <a:solidFill>
            <a:srgbClr val="FFF2B8">
              <a:alpha val="35686"/>
            </a:srgbClr>
          </a:solidFill>
          <a:ln>
            <a:noFill/>
          </a:ln>
        </p:spPr>
      </p:sp>
      <p:sp>
        <p:nvSpPr>
          <p:cNvPr id="570" name="Google Shape;570;p12"/>
          <p:cNvSpPr/>
          <p:nvPr/>
        </p:nvSpPr>
        <p:spPr>
          <a:xfrm>
            <a:off x="17354769" y="9530544"/>
            <a:ext cx="499491" cy="499491"/>
          </a:xfrm>
          <a:custGeom>
            <a:rect b="b" l="l" r="r" t="t"/>
            <a:pathLst>
              <a:path extrusionOk="0" h="665988" w="665988">
                <a:moveTo>
                  <a:pt x="0" y="0"/>
                </a:moveTo>
                <a:lnTo>
                  <a:pt x="665988" y="0"/>
                </a:lnTo>
                <a:lnTo>
                  <a:pt x="665988" y="665988"/>
                </a:lnTo>
                <a:lnTo>
                  <a:pt x="0" y="665988"/>
                </a:lnTo>
                <a:close/>
              </a:path>
            </a:pathLst>
          </a:custGeom>
          <a:solidFill>
            <a:srgbClr val="DFF7EF">
              <a:alpha val="35686"/>
            </a:srgbClr>
          </a:solidFill>
          <a:ln>
            <a:noFill/>
          </a:ln>
        </p:spPr>
      </p:sp>
      <p:grpSp>
        <p:nvGrpSpPr>
          <p:cNvPr id="571" name="Google Shape;571;p12"/>
          <p:cNvGrpSpPr/>
          <p:nvPr/>
        </p:nvGrpSpPr>
        <p:grpSpPr>
          <a:xfrm>
            <a:off x="1874979" y="2479961"/>
            <a:ext cx="13040392" cy="3040543"/>
            <a:chOff x="0" y="-9525"/>
            <a:chExt cx="17387189" cy="4054058"/>
          </a:xfrm>
        </p:grpSpPr>
        <p:sp>
          <p:nvSpPr>
            <p:cNvPr id="572" name="Google Shape;572;p12"/>
            <p:cNvSpPr/>
            <p:nvPr/>
          </p:nvSpPr>
          <p:spPr>
            <a:xfrm>
              <a:off x="0" y="0"/>
              <a:ext cx="17387184" cy="4044533"/>
            </a:xfrm>
            <a:custGeom>
              <a:rect b="b" l="l" r="r" t="t"/>
              <a:pathLst>
                <a:path extrusionOk="0" h="4044533" w="17387184">
                  <a:moveTo>
                    <a:pt x="0" y="0"/>
                  </a:moveTo>
                  <a:lnTo>
                    <a:pt x="17387184" y="0"/>
                  </a:lnTo>
                  <a:lnTo>
                    <a:pt x="17387184" y="4044533"/>
                  </a:lnTo>
                  <a:lnTo>
                    <a:pt x="0" y="404453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6731" l="0" r="0" t="-74264"/>
              </a:stretch>
            </a:blipFill>
            <a:ln>
              <a:noFill/>
            </a:ln>
          </p:spPr>
        </p:sp>
        <p:sp>
          <p:nvSpPr>
            <p:cNvPr id="573" name="Google Shape;573;p12"/>
            <p:cNvSpPr txBox="1"/>
            <p:nvPr/>
          </p:nvSpPr>
          <p:spPr>
            <a:xfrm>
              <a:off x="0" y="-9525"/>
              <a:ext cx="17387189" cy="4054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203" u="none" cap="none" strike="noStrike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Thank you For your Time </a:t>
              </a:r>
              <a:endParaRPr/>
            </a:p>
          </p:txBody>
        </p:sp>
      </p:grpSp>
      <p:grpSp>
        <p:nvGrpSpPr>
          <p:cNvPr id="574" name="Google Shape;574;p12"/>
          <p:cNvGrpSpPr/>
          <p:nvPr/>
        </p:nvGrpSpPr>
        <p:grpSpPr>
          <a:xfrm>
            <a:off x="16952500" y="9629013"/>
            <a:ext cx="343168" cy="309134"/>
            <a:chOff x="0" y="-9525"/>
            <a:chExt cx="457557" cy="412179"/>
          </a:xfrm>
        </p:grpSpPr>
        <p:sp>
          <p:nvSpPr>
            <p:cNvPr id="575" name="Google Shape;575;p12"/>
            <p:cNvSpPr/>
            <p:nvPr/>
          </p:nvSpPr>
          <p:spPr>
            <a:xfrm>
              <a:off x="0" y="0"/>
              <a:ext cx="457557" cy="402651"/>
            </a:xfrm>
            <a:custGeom>
              <a:rect b="b" l="l" r="r" t="t"/>
              <a:pathLst>
                <a:path extrusionOk="0" h="402651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402651"/>
                  </a:lnTo>
                  <a:lnTo>
                    <a:pt x="0" y="40265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62908" r="-62908" t="0"/>
              </a:stretch>
            </a:blipFill>
            <a:ln>
              <a:noFill/>
            </a:ln>
          </p:spPr>
        </p:sp>
        <p:sp>
          <p:nvSpPr>
            <p:cNvPr id="576" name="Google Shape;576;p12"/>
            <p:cNvSpPr txBox="1"/>
            <p:nvPr/>
          </p:nvSpPr>
          <p:spPr>
            <a:xfrm>
              <a:off x="0" y="-9525"/>
              <a:ext cx="457556" cy="412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5" u="none" cap="none" strike="noStrike">
                  <a:solidFill>
                    <a:srgbClr val="778195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pic>
        <p:nvPicPr>
          <p:cNvPr id="577" name="Google Shape;57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0375" y="822641"/>
            <a:ext cx="82296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